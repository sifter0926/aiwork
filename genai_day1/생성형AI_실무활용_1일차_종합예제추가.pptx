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46.xml" ContentType="application/vnd.openxmlformats-officedocument.presentationml.notesSlide+xml"/>
  <Override PartName="/ppt/slides/slide46.xml" ContentType="application/vnd.openxmlformats-officedocument.presentationml.slide+xml"/>
  <Override PartName="/ppt/notesSlides/notesSlide47.xml" ContentType="application/vnd.openxmlformats-officedocument.presentationml.notesSlide+xml"/>
  <Override PartName="/ppt/slides/slide47.xml" ContentType="application/vnd.openxmlformats-officedocument.presentationml.slide+xml"/>
  <Override PartName="/ppt/notesSlides/notesSlide48.xml" ContentType="application/vnd.openxmlformats-officedocument.presentationml.notesSlide+xml"/>
  <Override PartName="/ppt/slides/slide48.xml" ContentType="application/vnd.openxmlformats-officedocument.presentationml.slide+xml"/>
  <Override PartName="/ppt/notesSlides/notesSlide49.xml" ContentType="application/vnd.openxmlformats-officedocument.presentationml.notesSlide+xml"/>
  <Override PartName="/ppt/slides/slide49.xml" ContentType="application/vnd.openxmlformats-officedocument.presentationml.slide+xml"/>
  <Override PartName="/ppt/notesSlides/notesSlide50.xml" ContentType="application/vnd.openxmlformats-officedocument.presentationml.notesSlide+xml"/>
  <Override PartName="/ppt/slides/slide50.xml" ContentType="application/vnd.openxmlformats-officedocument.presentationml.slide+xml"/>
  <Override PartName="/ppt/notesSlides/notesSlide51.xml" ContentType="application/vnd.openxmlformats-officedocument.presentationml.notesSlide+xml"/>
  <Override PartName="/ppt/slides/slide51.xml" ContentType="application/vnd.openxmlformats-officedocument.presentationml.slide+xml"/>
  <Override PartName="/ppt/notesSlides/notesSlide52.xml" ContentType="application/vnd.openxmlformats-officedocument.presentationml.notesSlide+xml"/>
  <Override PartName="/ppt/slides/slide52.xml" ContentType="application/vnd.openxmlformats-officedocument.presentationml.slide+xml"/>
  <Override PartName="/ppt/notesSlides/notesSlide53.xml" ContentType="application/vnd.openxmlformats-officedocument.presentationml.notesSlide+xml"/>
  <Override PartName="/ppt/slides/slide53.xml" ContentType="application/vnd.openxmlformats-officedocument.presentationml.slide+xml"/>
  <Override PartName="/ppt/notesSlides/notesSlide54.xml" ContentType="application/vnd.openxmlformats-officedocument.presentationml.notesSlide+xml"/>
  <Override PartName="/ppt/slides/slide54.xml" ContentType="application/vnd.openxmlformats-officedocument.presentationml.slide+xml"/>
  <Override PartName="/ppt/notesSlides/notesSlide55.xml" ContentType="application/vnd.openxmlformats-officedocument.presentationml.notesSlide+xml"/>
  <Override PartName="/ppt/slides/slide55.xml" ContentType="application/vnd.openxmlformats-officedocument.presentationml.slide+xml"/>
  <Override PartName="/ppt/charts/chart1.xml" ContentType="application/vnd.openxmlformats-officedocument.drawingml.chart+xml"/>
  <Override PartName="/ppt/notesSlides/notesSlide56.xml" ContentType="application/vnd.openxmlformats-officedocument.presentationml.notesSlide+xml"/>
  <Override PartName="/ppt/slides/slide56.xml" ContentType="application/vnd.openxmlformats-officedocument.presentationml.slide+xml"/>
  <Override PartName="/ppt/charts/chart2.xml" ContentType="application/vnd.openxmlformats-officedocument.drawingml.chart+xml"/>
  <Override PartName="/ppt/notesSlides/notesSlide57.xml" ContentType="application/vnd.openxmlformats-officedocument.presentationml.notesSlide+xml"/>
  <Override PartName="/ppt/slides/slide57.xml" ContentType="application/vnd.openxmlformats-officedocument.presentationml.slide+xml"/>
  <Override PartName="/ppt/notesSlides/notesSlide58.xml" ContentType="application/vnd.openxmlformats-officedocument.presentationml.notesSlide+xml"/>
  <Override PartName="/ppt/slides/slide58.xml" ContentType="application/vnd.openxmlformats-officedocument.presentationml.slide+xml"/>
  <Override PartName="/ppt/notesSlides/notesSlide59.xml" ContentType="application/vnd.openxmlformats-officedocument.presentationml.notesSlide+xml"/>
  <Override PartName="/ppt/slides/slide59.xml" ContentType="application/vnd.openxmlformats-officedocument.presentationml.slide+xml"/>
  <Override PartName="/ppt/charts/chart3.xml" ContentType="application/vnd.openxmlformats-officedocument.drawingml.chart+xml"/>
  <Override PartName="/ppt/notesSlides/notesSlide60.xml" ContentType="application/vnd.openxmlformats-officedocument.presentationml.notesSlide+xml"/>
  <Override PartName="/ppt/slides/slide60.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04D"/>
                </a:solidFill>
                <a:latin typeface="Arial"/>
              </a:defRPr>
            </a:pPr>
            <a:r>
              <a:rPr sz="1300" b="0" i="0" u="none" strike="noStrike">
                <a:solidFill>
                  <a:srgbClr val="12304D"/>
                </a:solidFill>
                <a:latin typeface="Arial"/>
              </a:rPr>
              <a:t>최고기온과 아이스음료 판매량 (9월, 30일)</a:t>
            </a:r>
          </a:p>
        </c:rich>
      </c:tx>
      <c:layout/>
      <c:overlay val="0"/>
    </c:title>
    <c:autoTitleDeleted val="0"/>
    <c:plotArea>
      <c:layout/>
      <c:scatterChart>
        <c:scatterStyle val="lineMarker"/>
        <c:varyColors val="0"/>
        <c:ser>
          <c:idx val="0"/>
          <c:order val="0"/>
          <c:tx>
            <c:strRef>
              <c:f>Sheet1!$B$1</c:f>
              <c:strCache>
                <c:ptCount val="1"/>
                <c:pt idx="0">
                  <c:v>아이스음료(잔)</c:v>
                </c:pt>
              </c:strCache>
            </c:strRef>
          </c:tx>
          <c:spPr>
            <a:solidFill>
              <a:srgbClr val="1F6F78"/>
            </a:solidFill>
            <a:ln>
              <a:noFill/>
            </a:ln>
            <a:effectLst/>
          </c:spPr>
          <c:marker>
            <c:symbol val="circle"/>
            <c:size val="8"/>
            <c:spPr>
              <a:solidFill>
                <a:srgbClr val="1F6F78"/>
              </a:solidFill>
              <a:ln w="9525" cap="flat">
                <a:solidFill>
                  <a:srgbClr val="1F6F78"/>
                </a:solidFill>
                <a:prstDash val="solid"/>
                <a:round/>
              </a:ln>
              <a:effectLst/>
            </c:spPr>
          </c:marker>
          <c:trendline>
            <c:spPr>
              <a:ln w="22225" cap="rnd">
                <a:solidFill>
                  <a:srgbClr val="A64F16"/>
                </a:solidFill>
                <a:prstDash val="dash"/>
              </a:ln>
            </c:spPr>
            <c:trendlineType val="linear"/>
            <c:dispRSqr val="1"/>
            <c:dispEq val="1"/>
            <c:trendlineLbl>
              <c:layout>
                <c:manualLayout>
                  <c:x val="-0.02"/>
                  <c:y val="0.42"/>
                </c:manualLayout>
              </c:layout>
              <c:numFmt formatCode="0.00" sourceLinked="0"/>
              <c:txPr>
                <a:bodyPr/>
                <a:lstStyle/>
                <a:p>
                  <a:pPr>
                    <a:defRPr sz="1100" b="1">
                      <a:solidFill>
                        <a:srgbClr val="A64F16"/>
                      </a:solidFill>
                      <a:latin typeface="Arial"/>
                    </a:defRPr>
                  </a:pPr>
                  <a:endParaRPr lang="ko-KR"/>
                </a:p>
              </c:txPr>
            </c:trendlineLbl>
          </c:trendline>
          <c:xVal>
            <c:numRef>
              <c:f>Sheet1!$A$2:$A$31</c:f>
              <c:numCache>
                <c:formatCode>General</c:formatCode>
                <c:ptCount val="30"/>
                <c:pt idx="0">
                  <c:v>31.5</c:v>
                </c:pt>
                <c:pt idx="1">
                  <c:v>31.4</c:v>
                </c:pt>
                <c:pt idx="2">
                  <c:v>31.2</c:v>
                </c:pt>
                <c:pt idx="3">
                  <c:v>28.2</c:v>
                </c:pt>
                <c:pt idx="4">
                  <c:v>30.8</c:v>
                </c:pt>
                <c:pt idx="5">
                  <c:v>28.3</c:v>
                </c:pt>
                <c:pt idx="6">
                  <c:v>30.1</c:v>
                </c:pt>
                <c:pt idx="7">
                  <c:v>28.2</c:v>
                </c:pt>
                <c:pt idx="8">
                  <c:v>28.8</c:v>
                </c:pt>
                <c:pt idx="9">
                  <c:v>29.3</c:v>
                </c:pt>
                <c:pt idx="10">
                  <c:v>29.6</c:v>
                </c:pt>
                <c:pt idx="11">
                  <c:v>30.3</c:v>
                </c:pt>
                <c:pt idx="12">
                  <c:v>28.2</c:v>
                </c:pt>
                <c:pt idx="13">
                  <c:v>28.3</c:v>
                </c:pt>
                <c:pt idx="14">
                  <c:v>26.9</c:v>
                </c:pt>
                <c:pt idx="15">
                  <c:v>29.1</c:v>
                </c:pt>
                <c:pt idx="16">
                  <c:v>28.5</c:v>
                </c:pt>
                <c:pt idx="17">
                  <c:v>30.9</c:v>
                </c:pt>
                <c:pt idx="18">
                  <c:v>27.3</c:v>
                </c:pt>
                <c:pt idx="19">
                  <c:v>25.8</c:v>
                </c:pt>
                <c:pt idx="20">
                  <c:v>26.9</c:v>
                </c:pt>
                <c:pt idx="21">
                  <c:v>24.4</c:v>
                </c:pt>
                <c:pt idx="22">
                  <c:v>28.4</c:v>
                </c:pt>
                <c:pt idx="23">
                  <c:v>28</c:v>
                </c:pt>
                <c:pt idx="24">
                  <c:v>28</c:v>
                </c:pt>
                <c:pt idx="25">
                  <c:v>25.2</c:v>
                </c:pt>
                <c:pt idx="26">
                  <c:v>24.7</c:v>
                </c:pt>
                <c:pt idx="27">
                  <c:v>23.5</c:v>
                </c:pt>
                <c:pt idx="28">
                  <c:v>25.4</c:v>
                </c:pt>
                <c:pt idx="29">
                  <c:v>27</c:v>
                </c:pt>
              </c:numCache>
            </c:numRef>
          </c:xVal>
          <c:yVal>
            <c:numRef>
              <c:f>Sheet1!$B$2:$B$31</c:f>
              <c:numCache>
                <c:formatCode>General</c:formatCode>
                <c:ptCount val="30"/>
                <c:pt idx="0">
                  <c:v>255</c:v>
                </c:pt>
                <c:pt idx="1">
                  <c:v>256</c:v>
                </c:pt>
                <c:pt idx="2">
                  <c:v>269</c:v>
                </c:pt>
                <c:pt idx="3">
                  <c:v>206</c:v>
                </c:pt>
                <c:pt idx="4">
                  <c:v>266</c:v>
                </c:pt>
                <c:pt idx="5">
                  <c:v>196</c:v>
                </c:pt>
                <c:pt idx="6">
                  <c:v>241</c:v>
                </c:pt>
                <c:pt idx="7">
                  <c:v>206</c:v>
                </c:pt>
                <c:pt idx="8">
                  <c:v>216</c:v>
                </c:pt>
                <c:pt idx="9">
                  <c:v>241</c:v>
                </c:pt>
                <c:pt idx="10">
                  <c:v>225</c:v>
                </c:pt>
                <c:pt idx="11">
                  <c:v>261</c:v>
                </c:pt>
                <c:pt idx="12">
                  <c:v>255</c:v>
                </c:pt>
                <c:pt idx="13">
                  <c:v>193</c:v>
                </c:pt>
                <c:pt idx="14">
                  <c:v>209</c:v>
                </c:pt>
                <c:pt idx="15">
                  <c:v>235</c:v>
                </c:pt>
                <c:pt idx="16">
                  <c:v>175</c:v>
                </c:pt>
                <c:pt idx="17">
                  <c:v>257</c:v>
                </c:pt>
                <c:pt idx="18">
                  <c:v>222</c:v>
                </c:pt>
                <c:pt idx="19">
                  <c:v>184</c:v>
                </c:pt>
                <c:pt idx="20">
                  <c:v>197</c:v>
                </c:pt>
                <c:pt idx="21">
                  <c:v>166</c:v>
                </c:pt>
                <c:pt idx="22">
                  <c:v>217</c:v>
                </c:pt>
                <c:pt idx="23">
                  <c:v>205</c:v>
                </c:pt>
                <c:pt idx="24">
                  <c:v>219</c:v>
                </c:pt>
                <c:pt idx="25">
                  <c:v>202</c:v>
                </c:pt>
                <c:pt idx="26">
                  <c:v>161</c:v>
                </c:pt>
                <c:pt idx="27">
                  <c:v>126</c:v>
                </c:pt>
                <c:pt idx="28">
                  <c:v>144</c:v>
                </c:pt>
                <c:pt idx="29">
                  <c:v>200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3"/>
          <c:min val="22"/>
        </c:scaling>
        <c:delete val="0"/>
        <c:axPos val="b"/>
        <c:title>
          <c:tx>
            <c:rich>
              <a:bodyPr/>
              <a:lstStyle/>
              <a:p>
                <a:pPr>
                  <a:defRPr sz="1100" b="0" i="0" u="none" strike="noStrike">
                    <a:solidFill>
                      <a:srgbClr val="5E6977"/>
                    </a:solidFill>
                    <a:latin typeface="Arial"/>
                  </a:defRPr>
                </a:pPr>
                <a:r>
                  <a:rPr sz="1100" b="0" i="0" u="none" strike="noStrike">
                    <a:solidFill>
                      <a:srgbClr val="5E6977"/>
                    </a:solidFill>
                    <a:latin typeface="Arial"/>
                  </a:rPr>
                  <a:t>최고기온(℃)</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E6977"/>
                </a:solidFill>
                <a:latin typeface="Arial"/>
              </a:defRPr>
            </a:pPr>
            <a:endParaRPr lang="en-US"/>
          </a:p>
        </c:txPr>
        <c:crossAx val="2094734552"/>
        <c:crosses val="autoZero"/>
        <c:auto val="1"/>
        <c:lblAlgn val="ctr"/>
        <c:noMultiLvlLbl val="1"/>
      </c:valAx>
      <c:valAx>
        <c:axId val="2094734552"/>
        <c:scaling>
          <c:orientation val="minMax"/>
          <c:max val="300"/>
          <c:min val="100"/>
        </c:scaling>
        <c:delete val="0"/>
        <c:axPos val="l"/>
        <c:majorGridlines>
          <c:spPr>
            <a:ln w="6350" cap="flat">
              <a:solidFill>
                <a:srgbClr val="E1E4E8"/>
              </a:solidFill>
              <a:prstDash val="solid"/>
              <a:round/>
            </a:ln>
          </c:spPr>
        </c:majorGridlines>
        <c:title>
          <c:tx>
            <c:rich>
              <a:bodyPr/>
              <a:lstStyle/>
              <a:p>
                <a:pPr>
                  <a:defRPr sz="1100" b="0" i="0" u="none" strike="noStrike">
                    <a:solidFill>
                      <a:srgbClr val="5E6977"/>
                    </a:solidFill>
                    <a:latin typeface="Arial"/>
                  </a:defRPr>
                </a:pPr>
                <a:r>
                  <a:rPr sz="1100" b="0" i="0" u="none" strike="noStrike">
                    <a:solidFill>
                      <a:srgbClr val="5E6977"/>
                    </a:solidFill>
                    <a:latin typeface="Arial"/>
                  </a:rPr>
                  <a:t>아이스음료(잔)</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E6977"/>
                </a:solidFill>
                <a:latin typeface="Arial"/>
              </a:defRPr>
            </a:pPr>
            <a:endParaRPr lang="en-US"/>
          </a:p>
        </c:txPr>
        <c:crossAx val="2094734554"/>
        <c:crosses val="autoZero"/>
        <c:crossBetween val="midCat"/>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04D"/>
                </a:solidFill>
                <a:latin typeface="Arial"/>
              </a:defRPr>
            </a:pPr>
            <a:r>
              <a:rPr sz="1300" b="0" i="0" u="none" strike="noStrike">
                <a:solidFill>
                  <a:srgbClr val="12304D"/>
                </a:solidFill>
                <a:latin typeface="Arial"/>
              </a:rPr>
              <a:t>9월 일별 아이스음료 판매량과 최고기온</a:t>
            </a:r>
          </a:p>
        </c:rich>
      </c:tx>
      <c:layout/>
      <c:overlay val="0"/>
    </c:title>
    <c:autoTitleDeleted val="0"/>
    <c:plotArea>
      <c:layout/>
      <c:barChart>
        <c:barDir val="col"/>
        <c:grouping val="clustered"/>
        <c:varyColors val="0"/>
        <c:ser>
          <c:idx val="0"/>
          <c:order val="0"/>
          <c:tx>
            <c:strRef>
              <c:f>Sheet1!$B$1</c:f>
              <c:strCache>
                <c:ptCount val="1"/>
                <c:pt idx="0">
                  <c:v>아이스음료(잔)</c:v>
                </c:pt>
              </c:strCache>
            </c:strRef>
          </c:tx>
          <c:spPr>
            <a:solidFill>
              <a:srgbClr val="9FC3C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Sheet1!$B$2:$B$31</c:f>
              <c:numCache>
                <c:formatCode>General</c:formatCode>
                <c:ptCount val="30"/>
                <c:pt idx="0">
                  <c:v>255</c:v>
                </c:pt>
                <c:pt idx="1">
                  <c:v>256</c:v>
                </c:pt>
                <c:pt idx="2">
                  <c:v>269</c:v>
                </c:pt>
                <c:pt idx="3">
                  <c:v>206</c:v>
                </c:pt>
                <c:pt idx="4">
                  <c:v>266</c:v>
                </c:pt>
                <c:pt idx="5">
                  <c:v>196</c:v>
                </c:pt>
                <c:pt idx="6">
                  <c:v>241</c:v>
                </c:pt>
                <c:pt idx="7">
                  <c:v>206</c:v>
                </c:pt>
                <c:pt idx="8">
                  <c:v>216</c:v>
                </c:pt>
                <c:pt idx="9">
                  <c:v>241</c:v>
                </c:pt>
                <c:pt idx="10">
                  <c:v>225</c:v>
                </c:pt>
                <c:pt idx="11">
                  <c:v>261</c:v>
                </c:pt>
                <c:pt idx="12">
                  <c:v>255</c:v>
                </c:pt>
                <c:pt idx="13">
                  <c:v>193</c:v>
                </c:pt>
                <c:pt idx="14">
                  <c:v>209</c:v>
                </c:pt>
                <c:pt idx="15">
                  <c:v>235</c:v>
                </c:pt>
                <c:pt idx="16">
                  <c:v>175</c:v>
                </c:pt>
                <c:pt idx="17">
                  <c:v>257</c:v>
                </c:pt>
                <c:pt idx="18">
                  <c:v>222</c:v>
                </c:pt>
                <c:pt idx="19">
                  <c:v>184</c:v>
                </c:pt>
                <c:pt idx="20">
                  <c:v>197</c:v>
                </c:pt>
                <c:pt idx="21">
                  <c:v>166</c:v>
                </c:pt>
                <c:pt idx="22">
                  <c:v>217</c:v>
                </c:pt>
                <c:pt idx="23">
                  <c:v>205</c:v>
                </c:pt>
                <c:pt idx="24">
                  <c:v>219</c:v>
                </c:pt>
                <c:pt idx="25">
                  <c:v>202</c:v>
                </c:pt>
                <c:pt idx="26">
                  <c:v>161</c:v>
                </c:pt>
                <c:pt idx="27">
                  <c:v>126</c:v>
                </c:pt>
                <c:pt idx="28">
                  <c:v>144</c:v>
                </c:pt>
                <c:pt idx="29">
                  <c:v>200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lineChart>
        <c:varyColors val="0"/>
        <c:ser>
          <c:idx val="1"/>
          <c:order val="1"/>
          <c:tx>
            <c:strRef>
              <c:f>Sheet1!$C$1</c:f>
              <c:strCache>
                <c:ptCount val="1"/>
                <c:pt idx="0">
                  <c:v>최고기온(℃)</c:v>
                </c:pt>
              </c:strCache>
            </c:strRef>
          </c:tx>
          <c:spPr>
            <a:solidFill>
              <a:srgbClr val="A64F16"/>
            </a:solidFill>
            <a:ln w="25400" cap="flat">
              <a:solidFill>
                <a:srgbClr val="A64F1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4F16"/>
              </a:solidFill>
              <a:ln w="9525" cap="flat">
                <a:solidFill>
                  <a:srgbClr val="A64F16"/>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Sheet1!$C$2:$C$31</c:f>
              <c:numCache>
                <c:formatCode>General</c:formatCode>
                <c:ptCount val="30"/>
                <c:pt idx="0">
                  <c:v>31.5</c:v>
                </c:pt>
                <c:pt idx="1">
                  <c:v>31.4</c:v>
                </c:pt>
                <c:pt idx="2">
                  <c:v>31.2</c:v>
                </c:pt>
                <c:pt idx="3">
                  <c:v>28.2</c:v>
                </c:pt>
                <c:pt idx="4">
                  <c:v>30.8</c:v>
                </c:pt>
                <c:pt idx="5">
                  <c:v>28.3</c:v>
                </c:pt>
                <c:pt idx="6">
                  <c:v>30.1</c:v>
                </c:pt>
                <c:pt idx="7">
                  <c:v>28.2</c:v>
                </c:pt>
                <c:pt idx="8">
                  <c:v>28.8</c:v>
                </c:pt>
                <c:pt idx="9">
                  <c:v>29.3</c:v>
                </c:pt>
                <c:pt idx="10">
                  <c:v>29.6</c:v>
                </c:pt>
                <c:pt idx="11">
                  <c:v>30.3</c:v>
                </c:pt>
                <c:pt idx="12">
                  <c:v>28.2</c:v>
                </c:pt>
                <c:pt idx="13">
                  <c:v>28.3</c:v>
                </c:pt>
                <c:pt idx="14">
                  <c:v>26.9</c:v>
                </c:pt>
                <c:pt idx="15">
                  <c:v>29.1</c:v>
                </c:pt>
                <c:pt idx="16">
                  <c:v>28.5</c:v>
                </c:pt>
                <c:pt idx="17">
                  <c:v>30.9</c:v>
                </c:pt>
                <c:pt idx="18">
                  <c:v>27.3</c:v>
                </c:pt>
                <c:pt idx="19">
                  <c:v>25.8</c:v>
                </c:pt>
                <c:pt idx="20">
                  <c:v>26.9</c:v>
                </c:pt>
                <c:pt idx="21">
                  <c:v>24.4</c:v>
                </c:pt>
                <c:pt idx="22">
                  <c:v>28.4</c:v>
                </c:pt>
                <c:pt idx="23">
                  <c:v>28</c:v>
                </c:pt>
                <c:pt idx="24">
                  <c:v>28</c:v>
                </c:pt>
                <c:pt idx="25">
                  <c:v>25.2</c:v>
                </c:pt>
                <c:pt idx="26">
                  <c:v>24.7</c:v>
                </c:pt>
                <c:pt idx="27">
                  <c:v>23.5</c:v>
                </c:pt>
                <c:pt idx="28">
                  <c:v>25.4</c:v>
                </c:pt>
                <c:pt idx="29">
                  <c:v>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E6977"/>
                </a:solidFill>
                <a:latin typeface="Arial"/>
              </a:defRPr>
            </a:pPr>
            <a:endParaRPr lang="en-US"/>
          </a:p>
        </c:txPr>
        <c:crossAx val="2094734552"/>
        <c:crosses val="autoZero"/>
        <c:auto val="1"/>
        <c:lblAlgn val="ctr"/>
        <c:noMultiLvlLbl val="1"/>
      </c:catAx>
      <c:valAx>
        <c:axId val="2094734552"/>
        <c:scaling>
          <c:orientation val="minMax"/>
          <c:max val="300"/>
          <c:min val="0"/>
        </c:scaling>
        <c:delete val="0"/>
        <c:axPos val="l"/>
        <c:majorGridlines>
          <c:spPr>
            <a:ln w="6350" cap="flat">
              <a:solidFill>
                <a:srgbClr val="E1E4E8"/>
              </a:solidFill>
              <a:prstDash val="solid"/>
              <a:round/>
            </a:ln>
          </c:spPr>
        </c:majorGridlines>
        <c:title>
          <c:tx>
            <c:rich>
              <a:bodyPr/>
              <a:lstStyle/>
              <a:p>
                <a:pPr>
                  <a:defRPr sz="1000" b="0" i="0" u="none" strike="noStrike">
                    <a:solidFill>
                      <a:srgbClr val="5E6977"/>
                    </a:solidFill>
                    <a:latin typeface="Arial"/>
                  </a:defRPr>
                </a:pPr>
                <a:r>
                  <a:rPr sz="1000" b="0" i="0" u="none" strike="noStrike">
                    <a:solidFill>
                      <a:srgbClr val="5E6977"/>
                    </a:solidFill>
                    <a:latin typeface="Arial"/>
                  </a:rPr>
                  <a:t>잔</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977"/>
                </a:solidFill>
                <a:latin typeface="Arial"/>
              </a:defRPr>
            </a:pPr>
            <a:endParaRPr lang="en-US"/>
          </a:p>
        </c:txPr>
        <c:crossAx val="2094734554"/>
        <c:crosses val="autoZero"/>
        <c:crossBetween val="between"/>
      </c:valAx>
      <c:valAx>
        <c:axId val="2094734553"/>
        <c:scaling>
          <c:orientation val="minMax"/>
          <c:max val="35"/>
          <c:min val="15"/>
        </c:scaling>
        <c:delete val="0"/>
        <c:axPos val="r"/>
        <c:title>
          <c:tx>
            <c:rich>
              <a:bodyPr/>
              <a:lstStyle/>
              <a:p>
                <a:pPr>
                  <a:defRPr sz="1000" b="0" i="0" u="none" strike="noStrike">
                    <a:solidFill>
                      <a:srgbClr val="5E6977"/>
                    </a:solidFill>
                    <a:latin typeface="Arial"/>
                  </a:defRPr>
                </a:pPr>
                <a:r>
                  <a:rPr sz="1000" b="0" i="0" u="none" strike="noStrike">
                    <a:solidFill>
                      <a:srgbClr val="5E6977"/>
                    </a:solidFill>
                    <a:latin typeface="Arial"/>
                  </a:rPr>
                  <a: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977"/>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000">
              <a:solidFill>
                <a:srgbClr val="5E6977"/>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2304D"/>
                </a:solidFill>
                <a:latin typeface="Arial"/>
              </a:defRPr>
            </a:pPr>
            <a:r>
              <a:rPr sz="1100" b="0" i="0" u="none" strike="noStrike">
                <a:solidFill>
                  <a:srgbClr val="12304D"/>
                </a:solidFill>
                <a:latin typeface="Arial"/>
              </a:rPr>
              <a:t>최고기온–아이스음료 산점도와 추세선</a:t>
            </a:r>
          </a:p>
        </c:rich>
      </c:tx>
      <c:layout/>
      <c:overlay val="0"/>
    </c:title>
    <c:autoTitleDeleted val="0"/>
    <c:plotArea>
      <c:layout/>
      <c:scatterChart>
        <c:scatterStyle val="lineMarker"/>
        <c:varyColors val="0"/>
        <c:ser>
          <c:idx val="0"/>
          <c:order val="0"/>
          <c:tx>
            <c:strRef>
              <c:f>Sheet1!$B$1</c:f>
              <c:strCache>
                <c:ptCount val="1"/>
                <c:pt idx="0">
                  <c:v>아이스음료(잔)</c:v>
                </c:pt>
              </c:strCache>
            </c:strRef>
          </c:tx>
          <c:spPr>
            <a:solidFill>
              <a:srgbClr val="1F6F78"/>
            </a:solidFill>
            <a:ln>
              <a:noFill/>
            </a:ln>
            <a:effectLst/>
          </c:spPr>
          <c:marker>
            <c:symbol val="circle"/>
            <c:size val="6"/>
            <c:spPr>
              <a:solidFill>
                <a:srgbClr val="1F6F78"/>
              </a:solidFill>
              <a:ln w="9525" cap="flat">
                <a:solidFill>
                  <a:srgbClr val="1F6F78"/>
                </a:solidFill>
                <a:prstDash val="solid"/>
                <a:round/>
              </a:ln>
              <a:effectLst/>
            </c:spPr>
          </c:marker>
          <c:trendline>
            <c:spPr>
              <a:ln w="22225" cap="rnd">
                <a:solidFill>
                  <a:srgbClr val="A64F16"/>
                </a:solidFill>
                <a:prstDash val="dash"/>
              </a:ln>
            </c:spPr>
            <c:trendlineType val="linear"/>
            <c:dispRSqr val="0"/>
            <c:dispEq val="0"/>
          </c:trendline>
          <c:xVal>
            <c:numRef>
              <c:f>Sheet1!$A$2:$A$31</c:f>
              <c:numCache>
                <c:formatCode>General</c:formatCode>
                <c:ptCount val="30"/>
                <c:pt idx="0">
                  <c:v>31.5</c:v>
                </c:pt>
                <c:pt idx="1">
                  <c:v>31.4</c:v>
                </c:pt>
                <c:pt idx="2">
                  <c:v>31.2</c:v>
                </c:pt>
                <c:pt idx="3">
                  <c:v>28.2</c:v>
                </c:pt>
                <c:pt idx="4">
                  <c:v>30.8</c:v>
                </c:pt>
                <c:pt idx="5">
                  <c:v>28.3</c:v>
                </c:pt>
                <c:pt idx="6">
                  <c:v>30.1</c:v>
                </c:pt>
                <c:pt idx="7">
                  <c:v>28.2</c:v>
                </c:pt>
                <c:pt idx="8">
                  <c:v>28.8</c:v>
                </c:pt>
                <c:pt idx="9">
                  <c:v>29.3</c:v>
                </c:pt>
                <c:pt idx="10">
                  <c:v>29.6</c:v>
                </c:pt>
                <c:pt idx="11">
                  <c:v>30.3</c:v>
                </c:pt>
                <c:pt idx="12">
                  <c:v>28.2</c:v>
                </c:pt>
                <c:pt idx="13">
                  <c:v>28.3</c:v>
                </c:pt>
                <c:pt idx="14">
                  <c:v>26.9</c:v>
                </c:pt>
                <c:pt idx="15">
                  <c:v>29.1</c:v>
                </c:pt>
                <c:pt idx="16">
                  <c:v>28.5</c:v>
                </c:pt>
                <c:pt idx="17">
                  <c:v>30.9</c:v>
                </c:pt>
                <c:pt idx="18">
                  <c:v>27.3</c:v>
                </c:pt>
                <c:pt idx="19">
                  <c:v>25.8</c:v>
                </c:pt>
                <c:pt idx="20">
                  <c:v>26.9</c:v>
                </c:pt>
                <c:pt idx="21">
                  <c:v>24.4</c:v>
                </c:pt>
                <c:pt idx="22">
                  <c:v>28.4</c:v>
                </c:pt>
                <c:pt idx="23">
                  <c:v>28</c:v>
                </c:pt>
                <c:pt idx="24">
                  <c:v>28</c:v>
                </c:pt>
                <c:pt idx="25">
                  <c:v>25.2</c:v>
                </c:pt>
                <c:pt idx="26">
                  <c:v>24.7</c:v>
                </c:pt>
                <c:pt idx="27">
                  <c:v>23.5</c:v>
                </c:pt>
                <c:pt idx="28">
                  <c:v>25.4</c:v>
                </c:pt>
                <c:pt idx="29">
                  <c:v>27</c:v>
                </c:pt>
              </c:numCache>
            </c:numRef>
          </c:xVal>
          <c:yVal>
            <c:numRef>
              <c:f>Sheet1!$B$2:$B$31</c:f>
              <c:numCache>
                <c:formatCode>General</c:formatCode>
                <c:ptCount val="30"/>
                <c:pt idx="0">
                  <c:v>255</c:v>
                </c:pt>
                <c:pt idx="1">
                  <c:v>256</c:v>
                </c:pt>
                <c:pt idx="2">
                  <c:v>269</c:v>
                </c:pt>
                <c:pt idx="3">
                  <c:v>206</c:v>
                </c:pt>
                <c:pt idx="4">
                  <c:v>266</c:v>
                </c:pt>
                <c:pt idx="5">
                  <c:v>196</c:v>
                </c:pt>
                <c:pt idx="6">
                  <c:v>241</c:v>
                </c:pt>
                <c:pt idx="7">
                  <c:v>206</c:v>
                </c:pt>
                <c:pt idx="8">
                  <c:v>216</c:v>
                </c:pt>
                <c:pt idx="9">
                  <c:v>241</c:v>
                </c:pt>
                <c:pt idx="10">
                  <c:v>225</c:v>
                </c:pt>
                <c:pt idx="11">
                  <c:v>261</c:v>
                </c:pt>
                <c:pt idx="12">
                  <c:v>255</c:v>
                </c:pt>
                <c:pt idx="13">
                  <c:v>193</c:v>
                </c:pt>
                <c:pt idx="14">
                  <c:v>209</c:v>
                </c:pt>
                <c:pt idx="15">
                  <c:v>235</c:v>
                </c:pt>
                <c:pt idx="16">
                  <c:v>175</c:v>
                </c:pt>
                <c:pt idx="17">
                  <c:v>257</c:v>
                </c:pt>
                <c:pt idx="18">
                  <c:v>222</c:v>
                </c:pt>
                <c:pt idx="19">
                  <c:v>184</c:v>
                </c:pt>
                <c:pt idx="20">
                  <c:v>197</c:v>
                </c:pt>
                <c:pt idx="21">
                  <c:v>166</c:v>
                </c:pt>
                <c:pt idx="22">
                  <c:v>217</c:v>
                </c:pt>
                <c:pt idx="23">
                  <c:v>205</c:v>
                </c:pt>
                <c:pt idx="24">
                  <c:v>219</c:v>
                </c:pt>
                <c:pt idx="25">
                  <c:v>202</c:v>
                </c:pt>
                <c:pt idx="26">
                  <c:v>161</c:v>
                </c:pt>
                <c:pt idx="27">
                  <c:v>126</c:v>
                </c:pt>
                <c:pt idx="28">
                  <c:v>144</c:v>
                </c:pt>
                <c:pt idx="29">
                  <c:v>200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3"/>
          <c:min val="22"/>
        </c:scaling>
        <c:delete val="0"/>
        <c:axPos val="b"/>
        <c:title>
          <c:tx>
            <c:rich>
              <a:bodyPr/>
              <a:lstStyle/>
              <a:p>
                <a:pPr>
                  <a:defRPr sz="900" b="0" i="0" u="none" strike="noStrike">
                    <a:solidFill>
                      <a:srgbClr val="5E6977"/>
                    </a:solidFill>
                    <a:latin typeface="Arial"/>
                  </a:defRPr>
                </a:pPr>
                <a:r>
                  <a:rPr sz="900" b="0" i="0" u="none" strike="noStrike">
                    <a:solidFill>
                      <a:srgbClr val="5E6977"/>
                    </a:solidFill>
                    <a:latin typeface="Arial"/>
                  </a:rPr>
                  <a:t>최고기온(℃)</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5E6977"/>
                </a:solidFill>
                <a:latin typeface="Arial"/>
              </a:defRPr>
            </a:pPr>
            <a:endParaRPr lang="en-US"/>
          </a:p>
        </c:txPr>
        <c:crossAx val="2094734552"/>
        <c:crosses val="autoZero"/>
        <c:auto val="1"/>
        <c:lblAlgn val="ctr"/>
        <c:noMultiLvlLbl val="1"/>
      </c:valAx>
      <c:valAx>
        <c:axId val="2094734552"/>
        <c:scaling>
          <c:orientation val="minMax"/>
          <c:max val="300"/>
          <c:min val="100"/>
        </c:scaling>
        <c:delete val="0"/>
        <c:axPos val="l"/>
        <c:majorGridlines>
          <c:spPr>
            <a:ln w="6350" cap="flat">
              <a:solidFill>
                <a:srgbClr val="E1E4E8"/>
              </a:solidFill>
              <a:prstDash val="solid"/>
              <a:round/>
            </a:ln>
          </c:spPr>
        </c:majorGridlines>
        <c:title>
          <c:tx>
            <c:rich>
              <a:bodyPr/>
              <a:lstStyle/>
              <a:p>
                <a:pPr>
                  <a:defRPr sz="900" b="0" i="0" u="none" strike="noStrike">
                    <a:solidFill>
                      <a:srgbClr val="5E6977"/>
                    </a:solidFill>
                    <a:latin typeface="Arial"/>
                  </a:defRPr>
                </a:pPr>
                <a:r>
                  <a:rPr sz="900" b="0" i="0" u="none" strike="noStrike">
                    <a:solidFill>
                      <a:srgbClr val="5E6977"/>
                    </a:solidFill>
                    <a:latin typeface="Arial"/>
                  </a:rPr>
                  <a:t>아이스음료(잔)</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5E6977"/>
                </a:solidFill>
                <a:latin typeface="Arial"/>
              </a:defRPr>
            </a:pPr>
            <a:endParaRPr lang="en-US"/>
          </a:p>
        </c:txPr>
        <c:crossAx val="2094734554"/>
        <c:crosses val="autoZero"/>
        <c:crossBetween val="midCat"/>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과정 첫날입니다. 1교시는 입학식·오리엔테이션(사전평가 포함)이고, 2~8교시는 생성형 AI를 직접 써 보는 실습 중심 수업입니다. 훈련생 모두 실습용 생성형 AI 계정(ChatGPT, Gemini, Claude 등 중 하나)에 로그인할 수 있는지 2교시 시작 전에 확인해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교시당 50분, 쉬는 시간 10분 기준입니다. 2~8교시 내용은 교과목 ‘생성형 AI 해양산업업무 활용’의 세 단원(생성형 AI와 프롬프트 활용 / 생성형 AI 기반 업무 수행 / AI 결과검증과 윤리·정보보안)에서 핵심을 뽑아 하루 실습으로 구성했습니다. 실습 결과물은 각자 한 문서(메모장, 워드, 구글 문서 등)에 계속 모아 두게 하면 8교시 종합 실습에서 그대로 쓸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배분(예시): 환영·강사 소개 5분 → 과정 소개 10분 → 훈련 생활 안내 10분 → 사전평가 20분 → 자가진단 5분. 사전평가가 길어지면 자가진단은 쉬는 시간 직후로 미뤄도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교과 흐름: ① 산업과 데이터를 이해 → ② 생성형 AI로 업무 효율화 → ③ Python으로 데이터 처리·자동화 → ④ SQL로 데이터 관리·조회 → ⑤ 분석·시각화·KPI 대시보드 → ⑥ 관심 분야(생성형 AI 활용, 예측모델, 업무자동화, 대시보드, RAG 질의응답)를 골라 팀 프로젝트로 포트폴리오 완성. 오늘 2~8교시는 02번 교과 ‘생성형 AI 해양산업업무 활용’의 핵심을 실습 중심으로 먼저 경험합니다.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안의 내용은 기관 사정에 맞게 채워 주세요(출결 시스템 이름, 와이파이 정보 등). 수료 기준과 훈련장려금 지급 기준(출석률 등)은 기관 학습안내서·수령서의 문구를 그대로 안내하는 것이 안전합니다. 학습안내 수령서 서명도 이 시간에 받습니다.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모르는 문제는 비워 두지 말고 가장 가까운 답을 고르게 하되, ‘찍은 문제’는 번호 옆에 ? 표시를 하도록 하면 수준 파악에 도움이 됩니다. 평가 후 정답표(교사용)로 채점하고, 영역별 점수로 상·중·하를 판정해 자가진단지의 ‘훈련생 수준’ 칸에 기록합니다.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배분(예시): 개념 10분 → 잘하는 일·주의할 일 8분 → 도구 소개 7분 → 실습 1 (25분). 도입 질문: “생성형 AI를 써 본 적 있는 사람? 어디에 써 봤나요?” 손을 들게 해서 수준을 가볍게 파악합니다.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바깥에서 안쪽으로 설명합니다. 인공지능은 가장 넓은 개념이고, 머신러닝은 사람이 규칙을 일일이 정하지 않고 데이터로 학습하는 방법, 딥러닝은 그중 인공신경망을 깊게 쌓은 방법, 생성형 AI는 딥러닝으로 새로운 결과물을 만들어 내는 기술입니다. 생활 속 예시를 물어보세요: 내비게이션 길 찾기·추천 영상(AI·머신러닝), 휴대폰 얼굴 잠금(딥러닝), ChatGPT·이미지 생성(생성형 AI). 기존 AI가 ‘분류·예측’을 잘한다면 생성형 AI는 ‘새로 만들기’를 잘한다는 차이를 강조하고 다음 장으로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메시지는 마지막 줄입니다. 생성형 AI는 ‘아는 것을 꺼내는 검색기’가 아니라 ‘그럴듯한 말을 만들어 내는 생성기’라는 점을 처음부터 잡아 주면, 7교시 ‘결과 검증’과 자연스럽게 연결됩니다. 이미지 생성 AI, 코드 생성 AI도 같은 원리(학습한 패턴으로 새 결과물 생성)라고 덧붙입니다.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‘신입사원 비유’: 생성형 AI는 일은 빠르고 글도 잘 쓰지만, 가끔 모르는 걸 아는 척하는 신입사원입니다. 일을 맡기되, 결과는 반드시 선배(나)가 검토해야 합니다. 오른쪽 다섯 가지는 7교시에서 자세히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실습에서 쓸 서비스를 하나로 정해 주면(예: 기관에서 권장하는 서비스) 진행이 훨씬 수월합니다. 회사마다 업무용으로 허용하는 AI가 다르다는 점도 언급해 주세요. 각 서비스의 최신 기능·요금은 수업 전에 한 번 확인해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접속·로그인 5분 → 작성 10분 → 3~4명이 AI가 다듬은 자기소개를 직접 발표(10분). 자연스럽게 ‘자기소개 시간’을 겸합니다. 로그인이 안 되는 훈련생은 옆 사람과 짝을 지어 진행하세요. 확인 포인트: AI가 메모에 없는 경력·성격을 덧붙이는 경우가 많습니다. 이것이 ‘환각’의 첫 경험이라고 짚어 주세요. 실습 문서(메모장·워드 등)는 오늘 모든 실습 결과를 모으는 곳입니다.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배분(예시): 5요소 10분 → 비교 예시 7분 → 대화로 다듬기 8분 → 실습 2 (25분).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가지를 매번 다 쓸 필요는 없습니다. 결과가 마음에 들지 않을 때 빠진 요소가 무엇인지 점검하는 체크리스트로 쓰면 됩니다. 특히 ‘맥락’과 ‘형식’만 넣어도 결과가 크게 좋아진다는 점을 강조해 주세요. 필요하면 ‘예시(이런 식으로 써 줘)’를 여섯 번째 요소로 덧붙여도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프롬프트를 강사 화면에서 실제로 입력해 결과를 나란히 보여 주세요(시연 5분). 훈련생에게 오른쪽 프롬프트에서 역할·작업·맥락·형식·조건이 각각 어디인지 찾게 하면 앞 슬라이드 복습이 됩니다. 역할=총무팀 직원, 작업=안내 메일, 맥락=영업팀 8명·일시·장소·안건, 형식=제목 1줄+본문 5줄, 조건=정중한 존댓말.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생성형 AI는 같은 대화창 안의 앞 내용을 기억하고 이어서 답합니다. 그래서 처음부터 완벽한 프롬프트를 쓰려고 애쓰기보다 ‘초안 → 피드백 → 수정’을 반복하는 편이 빠릅니다. 마지막 ‘거꾸로 묻게 하기’는 무엇을 써야 할지 막막할 때 특히 유용합니다. 주제가 바뀌면 새 대화창을 여는 습관도 알려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1단계 3분 → 2단계 10분 → 3단계 5분 → 짝 비교·공유 7분. 2단계 프롬프트 예시(막히는 훈련생용): “너는 회사 총무팀 직원이야. 전 직원 30명에게 보낼 하반기 워크숍 안내문을 써 줘. 일시는 11월 7일(금) 13:00~18:00, 장소는 ○○연수원, 내용은 팀 빌딩과 하반기 목표 공유야. 복장은 편하게, 참석 여부는 10월 31일까지 회신해 달라고 해 줘. 제목과 본문으로 나누고, 정중하지만 딱딱하지 않게 써 줘.” 1단계 결과에 날짜·장소를 AI가 마음대로 지어 넣었는지 확인하게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배분(예시): 문서 4종 10분 → 메일 템플릿 시연 10분 → 실습 3 (30분).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카드의 회색 글씨가 프롬프트에 꼭 넣어야 할 ‘재료’입니다. 재료가 빠지면 AI는 빈칸을 그럴듯한 내용으로 채웁니다(실습 2 1단계에서 이미 경험). 보고서 초안은 내일 이후 엑셀·데이터 실습과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예: [부서]=영업팀, [받는 사람]=거래처 A사 구매담당 이○○ 과장님, [목적]=납품 일정 변경 안내, 내용=① 기존 11월 3일 → 11월 5일 ② 사유: 원자재 입고 지연 ③ 추가 비용 없음, 회신=변경 일정 가능 여부를 10월 24일까지. 템플릿 마지막 줄 ‘없는 내용은 지어내지 마’가 환각을 줄이는 습관이라는 점을 강조해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메모를 화면에 띄우거나 메신저·공유 문서로 미리 나눠 주세요(타이핑 시간 절약). 함정: 최주임의 ‘배송업체 견적 비교’에는 기한이 없습니다. AI가 기한을 지어 넣었다면 좋은 토론 거리입니다. 또 ‘다음 주 화요일’을 AI가 날짜로 바꿨다면 맞는지(10/21) 확인하게 하세요. 진행: 요청 ① 12분 → 요청 ② 8분 → 확인·공유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배분(예시): 요약 패턴 10분 → 번역·정보검색 10분 → 실습 4 (30분). 실습 4에 쓸 기사는 훈련생이 직접 고르게 하되, 고르기 어려워하면 강사가 미리 준비한 보도자료 2~3개 링크를 나눠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같은 기사 하나로 세 패턴을 차례로 보여 주세요. 특히 ‘정보 뽑기’는 5교시 실습과 6교시 엑셀 실습에서 이어 씁니다. 긴 PDF·파일을 올려 요약하는 기능이 있는 서비스도 있지만, 회사 문서를 올릴 때는 7교시에서 배울 보안 수칙을 먼저 지켜야 한다는 점을 미리 언급합니다.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번역 팁: 중요한 계약서·공문은 AI 번역을 초안으로만 쓰고 반드시 사람이 검토합니다. 역번역(번역문을 다시 한국어로 번역해 원래 뜻과 비교)도 간단한 점검 방법입니다. 정보검색 팁: AI가 제시한 링크가 실제로 없거나 내용이 다른 경우도 있으니 꼭 열어 보게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3에서 ‘원문 문장’ 열을 함께 달라고 하는 것이 핵심입니다. 숫자의 근거를 바로 대조할 수 있어서 검증이 쉬워집니다(7교시 예고). 진행: STEP 1 5분 → STEP 2~4 15분 → STEP 5와 발표 10분. 2~3명에게 “AI가 숫자를 틀리게 옮긴 곳이 있었나요?”를 물어 공유합니다.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배분(예시): 활용 4가지 8분 → 수식 질문 시연 12분 → 실습 5 (30분). 실습 5는 엑셀(또는 구글 스프레드시트)과 생성형 AI 창을 나란히 띄워 놓고 진행합니다. 엑셀이 없는 PC는 구글 스프레드시트를 쓰면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줄은 보안과 정확성 두 가지 이유입니다. 고객·매출 원본 데이터를 통째로 붙여 넣지 않아도 되고, 열 위치(A열, B열…)를 정확히 알려 줄수록 AI가 맞는 수식을 줍니다. 엑셀이나 구글 스프레드시트 안에 AI 기능이 들어간 버전도 있다는 점을 덧붙여도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화면에서 직접 물어보고, AI가 준 수식을 엑셀에 붙여 넣어 결과가 맞는지 보여 주세요. AI가 SUMIFS 등 다른 함수를 제안할 수도 있는데 결과가 같으면 괜찮다고 알려 줍니다. “수식이 맞는지는 직접 계산 한두 개로 확인한다”는 습관이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정답(검산용) · 금액: 45,000 / 96,000 / 64,000 / 80,000 / 75,000 / 50,000. 지역별 합계: 부산 159,000, 서울 171,000, 대구 80,000. 품목별 수량: 노트 80, 볼펜 200, 파일 65 → 1위 볼펜. 빨리 끝난 훈련생에게는 추가 과제: “지역별 금액 합계를 막대 차트로 만드는 방법을 AI에게 묻고 실제로 만들어 보기”, “피벗테이블로 같은 결과 만들기”. 이 표는 8교시 종합 실습에서 다시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배분(예시): 환각 6분 → 검증 체크리스트 6분 → 정보보안 8분 → 저작권·편향 5분 → 실습 6 (25분). 오늘 실습 1~5에서 AI가 지어낸 내용을 발견한 경험을 2~3명에게 먼저 물어보고 시작하면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사례: 2023년 미국에서 한 변호사가 ChatGPT가 만들어 낸 존재하지 않는 판례들을 법원 서류에 인용했다가 제재를 받은 일이 있었습니다. 업무에서 환각을 그대로 쓰면 회사의 신뢰 문제로 이어진다는 점을 강조해 주세요. 사례를 소개하기 전에 관련 보도를 한 번 확인해 두면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가지를 매번 모두 확인하기 어렵다면, 최소한 ‘수치’와 ‘출처’는 반드시 확인하도록 지도해 주세요. 다른 AI 서비스에 같은 질문을 해서 답을 비교하는 것도 간단한 교차 검증 방법입니다. 단, 두 AI가 같은 답을 해도 둘 다 틀릴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많은 서비스가 설정에 따라 입력 내용을 서비스 개선(학습)에 쓸 수 있습니다. 실제 회사에서는 업무용으로 허가된 AI만 쓰고, 사내 지침을 먼저 확인하도록 안내하세요. 예시의 이름·번호는 실습용 가상 정보입니다.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편향 예시 활동(2분): “간호사와 엔지니어가 등장하는 짧은 이야기를 써 줘”라고 요청한 뒤 등장인물의 성별을 확인해 보게 하세요. 저작권은 나라·서비스마다 기준이 다르고 계속 바뀌는 영역이므로 ‘회사 규정과 이용약관을 확인한다’를 원칙으로 안내합니다.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미션 A 정답: ①과 ③이 틀림. ① AVERAGE는 평균(합계는 SUM), ③ WHO 본부는 스위스 제네바. ②는 맞음(1TB = 1,000GB, 컴퓨터 계산 방식으로는 1,024GB). ④는 맞음. 미션 B 예시: “[고객명] 님([연락처], [주소])께서 [주문일] 주문하신 상품(주문번호 [주문번호])이…” 이름·연락처·주소·주문번호 네 가지를 모두 가렸는지 확인합니다. 답장을 받은 뒤 [ ] 자리에 실제 정보를 다시 넣는 일은 사람이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배분(예시): 미션 안내 5분 → 개인(또는 2인 1조) 작업 30분 → 발표 10분 → 하루 정리 5분. 실습 5의 엑셀 결과를 그대로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보고서에 들어갈 수치(검산용): 총 금액 410,000원 · 지역별 서울 171,000 / 부산 159,000 / 대구 80,000 · 품목별 수량 볼펜 200 / 노트 80 / 파일 65. ‘시사점’은 AI가 그럴듯하게 지어내기 쉬운 부분이므로 데이터로 말할 수 있는 것만 쓰게 지도해 주세요(예: 볼펜 수량이 가장 많지만 금액은 노트·파일과 비교 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보고서 프롬프트 예시(막히는 훈련생용): “너는 문구 유통회사 영업지원팀 직원이야. 아래 10월 주문 실적으로 팀장님께 드릴 1쪽 요약 보고서를 써 줘. 총 금액 410,000원, 지역별 금액 서울 171,000원·부산 159,000원·대구 80,000원, 품목별 수량 볼펜 200개·노트 80개·파일 65개. 형식은 제목, 요약 3줄, 지역별 표, 품목별 표, 시사점 3가지. 주어진 숫자 외의 수치는 만들지 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점검표는 화면에 띄워 두고 짝끼리 결과물을 바꿔 체크하게 합니다(5분). 발표(10분)에서는 결과물보다 ‘어떤 프롬프트가 잘 통했는지’, ‘AI가 틀린 곳을 어떻게 찾았는지’를 말하게 하면 배움이 공유됩니다. 결과물은 첫날 포트폴리오 자료로 보관하게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훈련생 실습(문구 주문 데이터)과 다른 상황으로 만든 강사 시연용 예시입니다. 먼저 이 데이터를 엑셀에 넣고 수식으로 합계를 구하는 과정을 보여 준 뒤, 다음 장의 프롬프트로 넘어갑니다. 지점별 금액: 해운대 930,000 / 서면 925,000 / 광안리 470,000. 메뉴별: 아메리카노 300개·1,200,000 / 라떼 150개·675,000 / 케이크 75개·450,000.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수치는 엑셀 결과에서 직접 옮겨 넣고(AI에게 합계 계산을 맡기지 않음), 비중만 AI가 계산하게 한 뒤 엑셀로 검산합니다. 지점: 해운대 930,000÷2,325,000=40.0%, 서면 39.8%, 광안리 20.2% / 메뉴: 아메리카노 51.6%, 라떼 29.0%, 케이크 19.4%. 데이터에 없는 ‘주말 예상’, ‘전주 대비’ 같은 문장은 AI가 자주 덧붙이는 환각이므로 지우는 과정을 보여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검산 포인트: 지점 합 930,000+925,000+470,000=2,325,000 / 메뉴 금액 합 1,200,000+675,000+450,000=2,325,000 / 수량 합 300+150+75=525 / 아메리카노 수량 비중 300÷525=57.1%, 케이크 75÷525=14.3%. 시사점 ③의 ‘추가 데이터 필요’처럼 데이터의 한계를 스스로 밝히는 문장이 좋은 보고서의 조건이라는 점을 강조해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비교 포인트: 메일은 정중한 존댓말과 첨부 안내, 회신 여지를 담았고, 지점장 공지는 각 지점이 자기 숫자를 바로 볼 수 있게 지점별 금액을 한 줄에 모았습니다. 받는 사람이 바뀌면 같은 데이터라도 강조점이 달라진다는 점을 짚어 주세요. 세 문서의 수치(2,325,000원, 930,000원, 51.6%)가 모두 일치하는지 함께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질문(1분): “오늘 써 본 프롬프트 중 내일 바로 다시 쓰고 싶은 것 하나는?” 실습 문서를 저장해 두라고 안내합니다. [다음 수업 주제]는 시간표에 맞게 채워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퇴실 체크를 잊지 않도록 안내하고, 사전평가·자가진단지를 모두 걷었는지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8교시 종합 실습을 마친 뒤 이어서 하는 심화 예제입니다. 6교시(엑셀 수식)와 7교시(검증), 8교시(보고서)를 데이터 분석으로 확장합니다. 계산은 엑셀이, 문장 초안은 AI가, 해석과 검증은 사람이 한다는 역할 분담을 다시 강조해 주세요. 실습 파일: cafe_daily_202609.xlsx(데이터 시트만 있는 실습용 / 정답 시트 포함 강사용).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순서를 먼저 보여 주고 시작합니다. STEP 1~4는 엑셀로 직접 하고, STEP 5에서만 생성형 AI를 씁니다. AI에게 원본 데이터를 통째로 주지 않고 엑셀로 구한 결과 수치만 준다는 점(7교시 보안)을 미리 예고해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엑셀의 열 문자(A~I)를 함께 보여 주는 이유는 이후 수식에서 D열(최고기온), G열(아이스음료)처럼 열 위치로 말하기 때문입니다. 주말은 1/0 숫자로 바꿔 두어야 회귀분석에 넣을 수 있다는 점(더미 변수)을 짧게 언급해 주세요. 30행 전체는 실습 파일에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상관분석은 방향과 강도만, 회귀분석은 ‘얼마나’와 ‘예측’까지 알려 준다고 구분합니다. r 기준(0.3/0.7)은 분야마다 다른 실무용 어림값이라고 덧붙여 주세요. 오른쪽 예시로 상관과 인과를 구분하는 습관을 먼저 잡아 두면 마지막 검증 단계에서 다시 활용할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분석 도구는 기본으로 꺼져 있어 첫 시간에 대부분 막힙니다. 화면을 공유하며 함께 켜 주세요. 분석 도구 결과는 값으로 붙여 넣어지므로 데이터를 고치면 다시 실행해야 하고, 함수는 자동으로 다시 계산된다는 차이를 짚어 주세요. 웹용 엑셀에는 분석 도구가 없으므로 함수로 진행합니다.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CORREL의 두 범위는 순서를 바꿔도 결과가 같습니다(회귀의 SLOPE와 다른 점). 분석 도구의 입력 범위에는 숫자 열만 넣어야 하므로 날짜·요일(A~B)은 빼고, 주말(C)도 0/1이라 상관표에서는 제외했습니다. 출력된 상관표는 아래쪽 삼각형만 채워지는 것이 정상입니다. 6교시처럼 AI에게는 열 위치만 알려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진한 주황(0.7 이상)과 진한 파랑(−0.7 이하)부터 읽게 합니다. 핵심 발견: 기온–아이스음료 0.88, 강수량–방문객수 −0.64, 그리고 기온–방문객수 0.18처럼 ‘관계가 거의 없다’는 것도 중요한 결과입니다. 따뜻한음료와 기온은 −0.53으로 반대 방향이라는 점도 함께 찾아보게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SLOPE·INTERCEPT·RSQ·FORECAST.LINEAR는 모두 (y, x) 순서입니다. 순서를 바꾸면 기온을 아이스음료로 설명하는 엉뚱한 식이 나온다는 점을 실제로 바꿔 보여 주면 효과적입니다. FORECAST.LINEAR가 없는 구버전은 FORECAST를 씁니다. 회귀 분석 도구 결과는 다음 장에서 읽습니다.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엑셀 출력표에는 숫자가 많지만 보고서에 필요한 것은 결정계수, 계수, P-값 세 가지입니다. P-값은 엑셀에서 1.17E-10처럼 지수로 표시되므로 ‘0.05보다 아주 작다’고 읽으면 됩니다. 절편 −209.6은 ‘0℃면 −210잔’이라는 뜻이 되어 말이 안 되는데, 이것이 범위 밖 예측이 위험한 이유입니다.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다중회귀는 X축 범위에 여러 열을 한 번에 넣으면 되는데, 열이 서로 붙어 있어야 합니다(그래서 주말·최고기온·강수량을 C~E에 배치). 함수로는 =LINEST(F2:F31,C2:E31,TRUE,TRUE)로 같은 계수를 구할 수 있지만 결과가 역순으로 나와 헷갈리므로 분석 도구를 권합니다. 상관분석의 기온–방문객 0.18과 이 결과가 서로 맞는다는 점을 연결해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엑셀 추세선의 수식과 R²는 회귀분석 도구 결과와 완전히 같으므로, 서로 검산하는 용도로도 쓸 수 있습니다. 분산형 차트는 왼쪽 열이 X축이 되므로 D열(기온)이 G열보다 앞에 있어야 합니다. 축 제목에 단위(℃, 잔)를 꼭 넣게 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단위가 다른 두 값(잔, ℃)을 한 차트에 넣을 때는 보조 축을 씁니다. 날씨가 서늘해지는 9월 말로 갈수록 막대가 낮아지는 흐름을 함께 읽어 보세요. 평일·주말 평균 방문객(239명/301명)은 AVERAGEIF(C2:C31,0,F2:F31)처럼 구해 막대 차트로 비교할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3교시의 5요소(역할·작업·맥락·형식·조건)가 모두 들어 있는지 학생들이 찾아보게 하세요. 특히 조건의 ‘주어진 숫자 외의 수치는 만들지 마’, ‘상관관계를 원인처럼 쓰지 마’가 다음 장 검증에서 걸러야 할 오류를 미리 막는 장치입니다. 요청 2의 근거 표시는 7교시 검증 프롬프트를 응용한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생성형 AI가 자주 만드는 오류 유형입니다. 392잔은 회귀식에 40℃를 넣으면 계산은 맞지만, 관측하지 않은 범위라 믿을 수 없다는 점이 핵심입니다. 7교시 검증 체크리스트(사실·수치·출처·날짜·맥락) 중 ‘수치’와 ‘맥락’ 항목에 해당한다고 연결해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검증을 거친 최종본입니다. 모든 수치가 엑셀 결과(상관표·회귀 출력·추세선)와 일치하는지 표의 ‘엑셀 근거’ 열로 대조할 수 있게 했습니다. 8교시 예시 답안처럼 마지막에 ‘한계’를 스스로 밝히는 문장이 좋은 분석 보고서의 조건이라는 점을 강조하고, 이 보고서를 8교시처럼 메일·공지로 바꾸는 것을 과제로 내도 좋습니다. 평일 평균 239.2명, 주말 평균 300.9명.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37841"/>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2304D"/>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12304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37841"/>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2304D"/>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12304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slideLayout" Target="../slideLayouts/slideLayout2.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4D"/>
        </a:solidFill>
      </p:bgPr>
    </p:bg>
    <p:spTree>
      <p:nvGrpSpPr>
        <p:cNvPr id="1" name=""/>
        <p:cNvGrpSpPr/>
        <p:nvPr/>
      </p:nvGrpSpPr>
      <p:grpSpPr>
        <a:xfrm>
          <a:off x="0" y="0"/>
          <a:ext cx="0" cy="0"/>
          <a:chOff x="0" y="0"/>
          <a:chExt cx="0" cy="0"/>
        </a:xfrm>
      </p:grpSpPr>
      <p:pic>
        <p:nvPicPr>
          <p:cNvPr id="2" name="Image 0" descr="AI와 대화하는 말풍선 일러스트">    </p:cNvPr>
          <p:cNvPicPr>
            <a:picLocks noChangeAspect="1"/>
          </p:cNvPicPr>
          <p:nvPr/>
        </p:nvPicPr>
        <p:blipFill>
          <a:blip r:embed="rId1"/>
          <a:srcRect l="0" r="0" t="0" b="0"/>
          <a:stretch/>
        </p:blipFill>
        <p:spPr>
          <a:xfrm>
            <a:off x="7366000" y="1905000"/>
            <a:ext cx="3937000" cy="2921000"/>
          </a:xfrm>
          <a:prstGeom prst="rect">
            <a:avLst/>
          </a:prstGeom>
        </p:spPr>
      </p:pic>
      <p:sp>
        <p:nvSpPr>
          <p:cNvPr id="3" name="Text 0"/>
          <p:cNvSpPr/>
          <p:nvPr/>
        </p:nvSpPr>
        <p:spPr>
          <a:xfrm>
            <a:off x="812800" y="812800"/>
            <a:ext cx="6540500" cy="5588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F2A65A"/>
                </a:solidFill>
                <a:latin typeface="Arial" pitchFamily="34" charset="0"/>
                <a:ea typeface="Arial" pitchFamily="34" charset="-122"/>
                <a:cs typeface="Arial" pitchFamily="34" charset="-120"/>
              </a:rPr>
              <a:t>[AI Worker] Python･AI 기반 데이터 분석 및</a:t>
            </a:r>
            <a:endParaRPr lang="en-US" sz="1400" dirty="0"/>
          </a:p>
          <a:p>
            <a:pPr algn="l" indent="0" marL="0">
              <a:lnSpc>
                <a:spcPts val="2100"/>
              </a:lnSpc>
              <a:buNone/>
            </a:pPr>
            <a:r>
              <a:rPr lang="en-US" sz="1400" b="1" dirty="0">
                <a:solidFill>
                  <a:srgbClr val="F2A65A"/>
                </a:solidFill>
                <a:latin typeface="Arial" pitchFamily="34" charset="0"/>
                <a:ea typeface="Arial" pitchFamily="34" charset="-122"/>
                <a:cs typeface="Arial" pitchFamily="34" charset="-120"/>
              </a:rPr>
              <a:t>업무자동화 서비스 구현</a:t>
            </a:r>
            <a:endParaRPr lang="en-US" sz="1400" dirty="0"/>
          </a:p>
        </p:txBody>
      </p:sp>
      <p:sp>
        <p:nvSpPr>
          <p:cNvPr id="4" name="Text 1"/>
          <p:cNvSpPr/>
          <p:nvPr>
            <p:ph type="title"/>
          </p:nvPr>
        </p:nvSpPr>
        <p:spPr>
          <a:xfrm>
            <a:off x="812800" y="1600200"/>
            <a:ext cx="6540500" cy="17018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5F4EF"/>
                </a:solidFill>
                <a:latin typeface="Arial" pitchFamily="34" charset="0"/>
                <a:ea typeface="Arial" pitchFamily="34" charset="-122"/>
                <a:cs typeface="Arial" pitchFamily="34" charset="-120"/>
              </a:rPr>
              <a:t>생성형 AI</a:t>
            </a:r>
            <a:endParaRPr lang="en-US" sz="6000" dirty="0"/>
          </a:p>
          <a:p>
            <a:pPr algn="l" indent="0" marL="0">
              <a:lnSpc>
                <a:spcPts val="6600"/>
              </a:lnSpc>
              <a:buNone/>
            </a:pPr>
            <a:r>
              <a:rPr lang="en-US" sz="6000" b="1" i="0" dirty="0">
                <a:solidFill>
                  <a:srgbClr val="F5F4EF"/>
                </a:solidFill>
                <a:latin typeface="Arial" pitchFamily="34" charset="0"/>
                <a:ea typeface="Arial" pitchFamily="34" charset="-122"/>
                <a:cs typeface="Arial" pitchFamily="34" charset="-120"/>
              </a:rPr>
              <a:t>실무 활용</a:t>
            </a:r>
            <a:endParaRPr lang="en-US" sz="6000" dirty="0"/>
          </a:p>
        </p:txBody>
      </p:sp>
      <p:sp>
        <p:nvSpPr>
          <p:cNvPr id="5" name="Text 2"/>
          <p:cNvSpPr/>
          <p:nvPr/>
        </p:nvSpPr>
        <p:spPr>
          <a:xfrm>
            <a:off x="812800" y="3530600"/>
            <a:ext cx="65405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FD0DE"/>
                </a:solidFill>
                <a:latin typeface="Arial" pitchFamily="34" charset="0"/>
                <a:ea typeface="Arial" pitchFamily="34" charset="-122"/>
                <a:cs typeface="Arial" pitchFamily="34" charset="-120"/>
              </a:rPr>
              <a:t>1일차 · 입학식과 생성형 AI 실습</a:t>
            </a:r>
            <a:endParaRPr lang="en-US" sz="2000" dirty="0"/>
          </a:p>
        </p:txBody>
      </p:sp>
      <p:sp>
        <p:nvSpPr>
          <p:cNvPr id="6" name="Text 3"/>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0DE"/>
                </a:solidFill>
                <a:latin typeface="Arial" pitchFamily="34" charset="0"/>
                <a:ea typeface="Arial" pitchFamily="34" charset="-122"/>
                <a:cs typeface="Arial" pitchFamily="34" charset="-120"/>
              </a:rPr>
              <a:t>2026.10.19.　|　훈련교사 김재범　|　부산IT교육센터</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1일차 진행 순서 · 8교시</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오늘의 시간표</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71861"/>
          <a:ext cx="10553700" cy="3233440"/>
        </p:xfrm>
        <a:graphic>
          <a:graphicData uri="http://schemas.openxmlformats.org/drawingml/2006/table">
            <a:tbl>
              <a:tblPr/>
              <a:tblGrid>
                <a:gridCol w="1055370"/>
                <a:gridCol w="3166110"/>
                <a:gridCol w="6332220"/>
              </a:tblGrid>
              <a:tr h="359271">
                <a:tc>
                  <a:txBody>
                    <a:bodyPr/>
                    <a:lstStyle/>
                    <a:p>
                      <a:pPr algn="ctr" indent="0" marL="0">
                        <a:lnSpc>
                          <a:spcPts val="1820"/>
                        </a:lnSpc>
                        <a:buNone/>
                      </a:pPr>
                      <a:r>
                        <a:rPr lang="en-US" sz="1300" b="1" dirty="0">
                          <a:solidFill>
                            <a:srgbClr val="F5F4EF"/>
                          </a:solidFill>
                          <a:latin typeface="Arial" pitchFamily="34" charset="0"/>
                          <a:ea typeface="Arial" pitchFamily="34" charset="-122"/>
                          <a:cs typeface="Arial" pitchFamily="34" charset="-120"/>
                        </a:rPr>
                        <a:t>교시</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indent="0" marL="0">
                        <a:lnSpc>
                          <a:spcPts val="1820"/>
                        </a:lnSpc>
                        <a:buNone/>
                      </a:pPr>
                      <a:r>
                        <a:rPr lang="en-US" sz="1300" b="1" dirty="0">
                          <a:solidFill>
                            <a:srgbClr val="F5F4EF"/>
                          </a:solidFill>
                          <a:latin typeface="Arial" pitchFamily="34" charset="0"/>
                          <a:ea typeface="Arial" pitchFamily="34" charset="-122"/>
                          <a:cs typeface="Arial" pitchFamily="34" charset="-120"/>
                        </a:rPr>
                        <a:t>주제</a:t>
                      </a:r>
                      <a:endParaRPr lang="en-US" sz="1300" dirty="0">
                        <a:latin typeface="Arial" charset="0"/>
                        <a:ea typeface="Arial" charset="0"/>
                        <a:cs typeface="Arial" charset="0"/>
                      </a:endParaRPr>
                    </a:p>
                  </a:txBody>
                  <a:tcPr marL="57785" marR="57785" marT="57785" marB="57785"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indent="0" marL="0">
                        <a:lnSpc>
                          <a:spcPts val="1820"/>
                        </a:lnSpc>
                        <a:buNone/>
                      </a:pPr>
                      <a:r>
                        <a:rPr lang="en-US" sz="1300" b="1" dirty="0">
                          <a:solidFill>
                            <a:srgbClr val="F5F4EF"/>
                          </a:solidFill>
                          <a:latin typeface="Arial" pitchFamily="34" charset="0"/>
                          <a:ea typeface="Arial" pitchFamily="34" charset="-122"/>
                          <a:cs typeface="Arial" pitchFamily="34" charset="-120"/>
                        </a:rPr>
                        <a:t>실습</a:t>
                      </a:r>
                      <a:endParaRPr lang="en-US" sz="1300" dirty="0">
                        <a:latin typeface="Arial" charset="0"/>
                        <a:ea typeface="Arial" charset="0"/>
                        <a:cs typeface="Arial" charset="0"/>
                      </a:endParaRPr>
                    </a:p>
                  </a:txBody>
                  <a:tcPr marL="57785" marR="57785" marT="57785" marB="57785"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r>
              <a:tr h="359271">
                <a:tc>
                  <a:txBody>
                    <a:bodyPr/>
                    <a:lstStyle/>
                    <a:p>
                      <a:pPr algn="ctr" indent="0" marL="0">
                        <a:lnSpc>
                          <a:spcPts val="1820"/>
                        </a:lnSpc>
                        <a:buNone/>
                      </a:pPr>
                      <a:r>
                        <a:rPr lang="en-US" sz="1300" dirty="0">
                          <a:solidFill>
                            <a:srgbClr val="12304D"/>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304D"/>
                          </a:solidFill>
                          <a:latin typeface="Arial" pitchFamily="34" charset="0"/>
                          <a:ea typeface="Arial" pitchFamily="34" charset="-122"/>
                          <a:cs typeface="Arial" pitchFamily="34" charset="-120"/>
                        </a:rPr>
                        <a:t>입학식 · 오리엔테이션</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304D"/>
                          </a:solidFill>
                          <a:latin typeface="Arial" pitchFamily="34" charset="0"/>
                          <a:ea typeface="Arial" pitchFamily="34" charset="-122"/>
                          <a:cs typeface="Arial" pitchFamily="34" charset="-120"/>
                        </a:rPr>
                        <a:t>사전평가 · 자가진단</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algn="ctr" indent="0" marL="0">
                        <a:lnSpc>
                          <a:spcPts val="1820"/>
                        </a:lnSpc>
                        <a:buNone/>
                      </a:pPr>
                      <a:r>
                        <a:rPr lang="en-US" sz="1300" dirty="0">
                          <a:solidFill>
                            <a:srgbClr val="12304D"/>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820"/>
                        </a:lnSpc>
                        <a:buNone/>
                      </a:pPr>
                      <a:r>
                        <a:rPr lang="en-US" sz="1300" dirty="0">
                          <a:solidFill>
                            <a:srgbClr val="12304D"/>
                          </a:solidFill>
                          <a:latin typeface="Arial" pitchFamily="34" charset="0"/>
                          <a:ea typeface="Arial" pitchFamily="34" charset="-122"/>
                          <a:cs typeface="Arial" pitchFamily="34" charset="-120"/>
                        </a:rPr>
                        <a:t>생성형 AI 이해</a:t>
                      </a:r>
                      <a:endParaRPr lang="en-US" sz="1300" dirty="0">
                        <a:latin typeface="Arial" charset="0"/>
                        <a:ea typeface="Arial" charset="0"/>
                        <a:cs typeface="Arial" charset="0"/>
                      </a:endParaRPr>
                    </a:p>
                  </a:txBody>
                  <a:tcPr marL="57785" marR="57785" marT="57785" marB="57785"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820"/>
                        </a:lnSpc>
                        <a:buNone/>
                      </a:pPr>
                      <a:r>
                        <a:rPr lang="en-US" sz="1300" dirty="0">
                          <a:solidFill>
                            <a:srgbClr val="12304D"/>
                          </a:solidFill>
                          <a:latin typeface="Arial" pitchFamily="34" charset="0"/>
                          <a:ea typeface="Arial" pitchFamily="34" charset="-122"/>
                          <a:cs typeface="Arial" pitchFamily="34" charset="-120"/>
                        </a:rPr>
                        <a:t>실습 1 · 첫 대화: 자기소개 다듬기</a:t>
                      </a:r>
                      <a:endParaRPr lang="en-US" sz="1300" dirty="0">
                        <a:latin typeface="Arial" charset="0"/>
                        <a:ea typeface="Arial" charset="0"/>
                        <a:cs typeface="Arial" charset="0"/>
                      </a:endParaRPr>
                    </a:p>
                  </a:txBody>
                  <a:tcPr marL="57785" marR="57785" marT="57785" marB="57785"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r h="359271">
                <a:tc>
                  <a:txBody>
                    <a:bodyPr/>
                    <a:lstStyle/>
                    <a:p>
                      <a:pPr algn="ctr" indent="0" marL="0">
                        <a:lnSpc>
                          <a:spcPts val="1820"/>
                        </a:lnSpc>
                        <a:buNone/>
                      </a:pPr>
                      <a:r>
                        <a:rPr lang="en-US" sz="1300" dirty="0">
                          <a:solidFill>
                            <a:srgbClr val="12304D"/>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304D"/>
                          </a:solidFill>
                          <a:latin typeface="Arial" pitchFamily="34" charset="0"/>
                          <a:ea typeface="Arial" pitchFamily="34" charset="-122"/>
                          <a:cs typeface="Arial" pitchFamily="34" charset="-120"/>
                        </a:rPr>
                        <a:t>프롬프트 작성법</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304D"/>
                          </a:solidFill>
                          <a:latin typeface="Arial" pitchFamily="34" charset="0"/>
                          <a:ea typeface="Arial" pitchFamily="34" charset="-122"/>
                          <a:cs typeface="Arial" pitchFamily="34" charset="-120"/>
                        </a:rPr>
                        <a:t>실습 2 · 같은 요청을 3단계로 개선하기</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algn="ctr" indent="0" marL="0">
                        <a:lnSpc>
                          <a:spcPts val="1820"/>
                        </a:lnSpc>
                        <a:buNone/>
                      </a:pPr>
                      <a:r>
                        <a:rPr lang="en-US" sz="1300" dirty="0">
                          <a:solidFill>
                            <a:srgbClr val="12304D"/>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820"/>
                        </a:lnSpc>
                        <a:buNone/>
                      </a:pPr>
                      <a:r>
                        <a:rPr lang="en-US" sz="1300" dirty="0">
                          <a:solidFill>
                            <a:srgbClr val="12304D"/>
                          </a:solidFill>
                          <a:latin typeface="Arial" pitchFamily="34" charset="0"/>
                          <a:ea typeface="Arial" pitchFamily="34" charset="-122"/>
                          <a:cs typeface="Arial" pitchFamily="34" charset="-120"/>
                        </a:rPr>
                        <a:t>업무 문서 작성</a:t>
                      </a:r>
                      <a:endParaRPr lang="en-US" sz="1300" dirty="0">
                        <a:latin typeface="Arial" charset="0"/>
                        <a:ea typeface="Arial" charset="0"/>
                        <a:cs typeface="Arial" charset="0"/>
                      </a:endParaRPr>
                    </a:p>
                  </a:txBody>
                  <a:tcPr marL="57785" marR="57785" marT="57785" marB="57785"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820"/>
                        </a:lnSpc>
                        <a:buNone/>
                      </a:pPr>
                      <a:r>
                        <a:rPr lang="en-US" sz="1300" dirty="0">
                          <a:solidFill>
                            <a:srgbClr val="12304D"/>
                          </a:solidFill>
                          <a:latin typeface="Arial" pitchFamily="34" charset="0"/>
                          <a:ea typeface="Arial" pitchFamily="34" charset="-122"/>
                          <a:cs typeface="Arial" pitchFamily="34" charset="-120"/>
                        </a:rPr>
                        <a:t>실습 3 · 메모를 회의록으로 정리하기</a:t>
                      </a:r>
                      <a:endParaRPr lang="en-US" sz="1300" dirty="0">
                        <a:latin typeface="Arial" charset="0"/>
                        <a:ea typeface="Arial" charset="0"/>
                        <a:cs typeface="Arial" charset="0"/>
                      </a:endParaRPr>
                    </a:p>
                  </a:txBody>
                  <a:tcPr marL="57785" marR="57785" marT="57785" marB="57785"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r h="359271">
                <a:tc>
                  <a:txBody>
                    <a:bodyPr/>
                    <a:lstStyle/>
                    <a:p>
                      <a:pPr algn="ctr" indent="0" marL="0">
                        <a:lnSpc>
                          <a:spcPts val="1820"/>
                        </a:lnSpc>
                        <a:buNone/>
                      </a:pPr>
                      <a:r>
                        <a:rPr lang="en-US" sz="1300" dirty="0">
                          <a:solidFill>
                            <a:srgbClr val="12304D"/>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304D"/>
                          </a:solidFill>
                          <a:latin typeface="Arial" pitchFamily="34" charset="0"/>
                          <a:ea typeface="Arial" pitchFamily="34" charset="-122"/>
                          <a:cs typeface="Arial" pitchFamily="34" charset="-120"/>
                        </a:rPr>
                        <a:t>요약 · 번역 · 정보검색</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304D"/>
                          </a:solidFill>
                          <a:latin typeface="Arial" pitchFamily="34" charset="0"/>
                          <a:ea typeface="Arial" pitchFamily="34" charset="-122"/>
                          <a:cs typeface="Arial" pitchFamily="34" charset="-120"/>
                        </a:rPr>
                        <a:t>실습 4 · 기사 요약하고 표로 정리하기</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algn="ctr" indent="0" marL="0">
                        <a:lnSpc>
                          <a:spcPts val="1820"/>
                        </a:lnSpc>
                        <a:buNone/>
                      </a:pPr>
                      <a:r>
                        <a:rPr lang="en-US" sz="1300" dirty="0">
                          <a:solidFill>
                            <a:srgbClr val="12304D"/>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820"/>
                        </a:lnSpc>
                        <a:buNone/>
                      </a:pPr>
                      <a:r>
                        <a:rPr lang="en-US" sz="1300" dirty="0">
                          <a:solidFill>
                            <a:srgbClr val="12304D"/>
                          </a:solidFill>
                          <a:latin typeface="Arial" pitchFamily="34" charset="0"/>
                          <a:ea typeface="Arial" pitchFamily="34" charset="-122"/>
                          <a:cs typeface="Arial" pitchFamily="34" charset="-120"/>
                        </a:rPr>
                        <a:t>엑셀 · 데이터 정리</a:t>
                      </a:r>
                      <a:endParaRPr lang="en-US" sz="1300" dirty="0">
                        <a:latin typeface="Arial" charset="0"/>
                        <a:ea typeface="Arial" charset="0"/>
                        <a:cs typeface="Arial" charset="0"/>
                      </a:endParaRPr>
                    </a:p>
                  </a:txBody>
                  <a:tcPr marL="57785" marR="57785" marT="57785" marB="57785"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820"/>
                        </a:lnSpc>
                        <a:buNone/>
                      </a:pPr>
                      <a:r>
                        <a:rPr lang="en-US" sz="1300" dirty="0">
                          <a:solidFill>
                            <a:srgbClr val="12304D"/>
                          </a:solidFill>
                          <a:latin typeface="Arial" pitchFamily="34" charset="0"/>
                          <a:ea typeface="Arial" pitchFamily="34" charset="-122"/>
                          <a:cs typeface="Arial" pitchFamily="34" charset="-120"/>
                        </a:rPr>
                        <a:t>실습 5 · AI와 함께 엑셀 수식 만들기</a:t>
                      </a:r>
                      <a:endParaRPr lang="en-US" sz="1300" dirty="0">
                        <a:latin typeface="Arial" charset="0"/>
                        <a:ea typeface="Arial" charset="0"/>
                        <a:cs typeface="Arial" charset="0"/>
                      </a:endParaRPr>
                    </a:p>
                  </a:txBody>
                  <a:tcPr marL="57785" marR="57785" marT="57785" marB="57785"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r h="359271">
                <a:tc>
                  <a:txBody>
                    <a:bodyPr/>
                    <a:lstStyle/>
                    <a:p>
                      <a:pPr algn="ctr" indent="0" marL="0">
                        <a:lnSpc>
                          <a:spcPts val="1820"/>
                        </a:lnSpc>
                        <a:buNone/>
                      </a:pPr>
                      <a:r>
                        <a:rPr lang="en-US" sz="1300" dirty="0">
                          <a:solidFill>
                            <a:srgbClr val="12304D"/>
                          </a:solidFill>
                          <a:latin typeface="Arial" pitchFamily="34" charset="0"/>
                          <a:ea typeface="Arial" pitchFamily="34" charset="-122"/>
                          <a:cs typeface="Arial" pitchFamily="34" charset="-120"/>
                        </a:rPr>
                        <a:t>7</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304D"/>
                          </a:solidFill>
                          <a:latin typeface="Arial" pitchFamily="34" charset="0"/>
                          <a:ea typeface="Arial" pitchFamily="34" charset="-122"/>
                          <a:cs typeface="Arial" pitchFamily="34" charset="-120"/>
                        </a:rPr>
                        <a:t>결과 검증 · 윤리 · 보안</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2304D"/>
                          </a:solidFill>
                          <a:latin typeface="Arial" pitchFamily="34" charset="0"/>
                          <a:ea typeface="Arial" pitchFamily="34" charset="-122"/>
                          <a:cs typeface="Arial" pitchFamily="34" charset="-120"/>
                        </a:rPr>
                        <a:t>실습 6 · 오류 찾기, 개인정보 지우기</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271">
                <a:tc>
                  <a:txBody>
                    <a:bodyPr/>
                    <a:lstStyle/>
                    <a:p>
                      <a:pPr algn="ctr" indent="0" marL="0">
                        <a:lnSpc>
                          <a:spcPts val="1820"/>
                        </a:lnSpc>
                        <a:buNone/>
                      </a:pPr>
                      <a:r>
                        <a:rPr lang="en-US" sz="1300" dirty="0">
                          <a:solidFill>
                            <a:srgbClr val="12304D"/>
                          </a:solidFill>
                          <a:latin typeface="Arial" pitchFamily="34" charset="0"/>
                          <a:ea typeface="Arial" pitchFamily="34" charset="-122"/>
                          <a:cs typeface="Arial" pitchFamily="34" charset="-120"/>
                        </a:rPr>
                        <a:t>8</a:t>
                      </a:r>
                      <a:endParaRPr lang="en-US" sz="1300" dirty="0">
                        <a:latin typeface="Arial" charset="0"/>
                        <a:ea typeface="Arial" charset="0"/>
                        <a:cs typeface="Arial"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820"/>
                        </a:lnSpc>
                        <a:buNone/>
                      </a:pPr>
                      <a:r>
                        <a:rPr lang="en-US" sz="1300" dirty="0">
                          <a:solidFill>
                            <a:srgbClr val="12304D"/>
                          </a:solidFill>
                          <a:latin typeface="Arial" pitchFamily="34" charset="0"/>
                          <a:ea typeface="Arial" pitchFamily="34" charset="-122"/>
                          <a:cs typeface="Arial" pitchFamily="34" charset="-120"/>
                        </a:rPr>
                        <a:t>종합 실습</a:t>
                      </a:r>
                      <a:endParaRPr lang="en-US" sz="1300" dirty="0">
                        <a:latin typeface="Arial" charset="0"/>
                        <a:ea typeface="Arial" charset="0"/>
                        <a:cs typeface="Arial" charset="0"/>
                      </a:endParaRPr>
                    </a:p>
                  </a:txBody>
                  <a:tcPr marL="57785" marR="57785" marT="57785" marB="57785"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820"/>
                        </a:lnSpc>
                        <a:buNone/>
                      </a:pPr>
                      <a:r>
                        <a:rPr lang="en-US" sz="1300" dirty="0">
                          <a:solidFill>
                            <a:srgbClr val="12304D"/>
                          </a:solidFill>
                          <a:latin typeface="Arial" pitchFamily="34" charset="0"/>
                          <a:ea typeface="Arial" pitchFamily="34" charset="-122"/>
                          <a:cs typeface="Arial" pitchFamily="34" charset="-120"/>
                        </a:rPr>
                        <a:t>미니 프로젝트 · 업무 패키지 완성과 발표</a:t>
                      </a:r>
                      <a:endParaRPr lang="en-US" sz="1300" dirty="0">
                        <a:latin typeface="Arial" charset="0"/>
                        <a:ea typeface="Arial" charset="0"/>
                        <a:cs typeface="Arial" charset="0"/>
                      </a:endParaRPr>
                    </a:p>
                  </a:txBody>
                  <a:tcPr marL="57785" marR="57785" marT="57785" marB="57785"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04D"/>
        </a:solidFill>
      </p:bgPr>
    </p:bg>
    <p:spTree>
      <p:nvGrpSpPr>
        <p:cNvPr id="1" name=""/>
        <p:cNvGrpSpPr/>
        <p:nvPr/>
      </p:nvGrpSpPr>
      <p:grpSpPr>
        <a:xfrm>
          <a:off x="0" y="0"/>
          <a:ext cx="0" cy="0"/>
          <a:chOff x="0" y="0"/>
          <a:chExt cx="0" cy="0"/>
        </a:xfrm>
      </p:grpSpPr>
      <p:sp>
        <p:nvSpPr>
          <p:cNvPr id="2" name="Text 0"/>
          <p:cNvSpPr/>
          <p:nvPr/>
        </p:nvSpPr>
        <p:spPr>
          <a:xfrm>
            <a:off x="6800850" y="1270000"/>
            <a:ext cx="4578350" cy="2565400"/>
          </a:xfrm>
          <a:prstGeom prst="rect">
            <a:avLst/>
          </a:prstGeom>
          <a:noFill/>
          <a:ln/>
        </p:spPr>
        <p:txBody>
          <a:bodyPr wrap="square" lIns="0" tIns="0" rIns="0" bIns="0" rtlCol="0" anchor="t">
            <a:normAutofit/>
          </a:bodyPr>
          <a:lstStyle/>
          <a:p>
            <a:pPr algn="r" indent="0" marL="0">
              <a:lnSpc>
                <a:spcPts val="20000"/>
              </a:lnSpc>
              <a:buNone/>
            </a:pPr>
            <a:r>
              <a:rPr lang="en-US" sz="20000" b="1" dirty="0">
                <a:solidFill>
                  <a:srgbClr val="1C3F62"/>
                </a:solidFill>
                <a:latin typeface="Arial" pitchFamily="34" charset="0"/>
                <a:ea typeface="Arial" pitchFamily="34" charset="-122"/>
                <a:cs typeface="Arial" pitchFamily="34" charset="-120"/>
              </a:rPr>
              <a:t>01</a:t>
            </a:r>
            <a:endParaRPr lang="en-US" sz="20000" dirty="0"/>
          </a:p>
        </p:txBody>
      </p:sp>
      <p:sp>
        <p:nvSpPr>
          <p:cNvPr id="3" name="Text 1"/>
          <p:cNvSpPr/>
          <p:nvPr/>
        </p:nvSpPr>
        <p:spPr>
          <a:xfrm>
            <a:off x="812800" y="224799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A65A"/>
                </a:solidFill>
                <a:latin typeface="Arial" pitchFamily="34" charset="0"/>
                <a:ea typeface="Arial" pitchFamily="34" charset="-122"/>
                <a:cs typeface="Arial" pitchFamily="34" charset="-120"/>
              </a:rPr>
              <a:t>1교시 · 50분</a:t>
            </a:r>
            <a:endParaRPr lang="en-US" sz="1600" dirty="0"/>
          </a:p>
        </p:txBody>
      </p:sp>
      <p:sp>
        <p:nvSpPr>
          <p:cNvPr id="4" name="Text 2"/>
          <p:cNvSpPr/>
          <p:nvPr>
            <p:ph type="title"/>
          </p:nvPr>
        </p:nvSpPr>
        <p:spPr>
          <a:xfrm>
            <a:off x="812800" y="2761059"/>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4EF"/>
                </a:solidFill>
                <a:latin typeface="Arial" pitchFamily="34" charset="0"/>
                <a:ea typeface="Arial" pitchFamily="34" charset="-122"/>
                <a:cs typeface="Arial" pitchFamily="34" charset="-120"/>
              </a:rPr>
              <a:t>입학식 · 오리엔테이션</a:t>
            </a:r>
            <a:endParaRPr lang="en-US" sz="4800" dirty="0"/>
          </a:p>
        </p:txBody>
      </p:sp>
      <p:sp>
        <p:nvSpPr>
          <p:cNvPr id="5" name="Text 3"/>
          <p:cNvSpPr/>
          <p:nvPr/>
        </p:nvSpPr>
        <p:spPr>
          <a:xfrm>
            <a:off x="812800" y="366018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D0DE"/>
                </a:solidFill>
                <a:latin typeface="Arial" pitchFamily="34" charset="0"/>
                <a:ea typeface="Arial" pitchFamily="34" charset="-122"/>
                <a:cs typeface="Arial" pitchFamily="34" charset="-120"/>
              </a:rPr>
              <a:t>함께할 4개월, 무엇을 배우고 어떻게 생활하는지 알아봅니다</a:t>
            </a:r>
            <a:endParaRPr lang="en-US" sz="1800" dirty="0"/>
          </a:p>
        </p:txBody>
      </p:sp>
      <p:sp>
        <p:nvSpPr>
          <p:cNvPr id="6" name="Text 4"/>
          <p:cNvSpPr/>
          <p:nvPr/>
        </p:nvSpPr>
        <p:spPr>
          <a:xfrm>
            <a:off x="812800" y="4208760"/>
            <a:ext cx="1116211"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과정 소개</a:t>
            </a:r>
            <a:endParaRPr lang="en-US" sz="1400" dirty="0"/>
          </a:p>
        </p:txBody>
      </p:sp>
      <p:sp>
        <p:nvSpPr>
          <p:cNvPr id="7" name="Text 5"/>
          <p:cNvSpPr/>
          <p:nvPr/>
        </p:nvSpPr>
        <p:spPr>
          <a:xfrm>
            <a:off x="2030611" y="4208760"/>
            <a:ext cx="1521222"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훈련 생활 안내</a:t>
            </a:r>
            <a:endParaRPr lang="en-US" sz="1400" dirty="0"/>
          </a:p>
        </p:txBody>
      </p:sp>
      <p:sp>
        <p:nvSpPr>
          <p:cNvPr id="8" name="Text 6"/>
          <p:cNvSpPr/>
          <p:nvPr/>
        </p:nvSpPr>
        <p:spPr>
          <a:xfrm>
            <a:off x="3653433" y="4208760"/>
            <a:ext cx="1936055"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사전평가 · 자가진단</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과정 소개 · 2026.10.19.~2027.02.25.</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6개 교과로 현장 문제를 데이터와 AI로 풉니다</a:t>
            </a:r>
            <a:endParaRPr lang="en-US" sz="3200" dirty="0"/>
          </a:p>
        </p:txBody>
      </p:sp>
      <p:sp>
        <p:nvSpPr>
          <p:cNvPr id="4" name="Shape 2"/>
          <p:cNvSpPr/>
          <p:nvPr/>
        </p:nvSpPr>
        <p:spPr>
          <a:xfrm>
            <a:off x="815975" y="1887736"/>
            <a:ext cx="3397250" cy="1273572"/>
          </a:xfrm>
          <a:prstGeom prst="roundRect">
            <a:avLst>
              <a:gd name="adj" fmla="val 7728"/>
            </a:avLst>
          </a:prstGeom>
          <a:solidFill>
            <a:srgbClr val="FCFCFA"/>
          </a:solidFill>
          <a:ln w="6350">
            <a:solidFill>
              <a:srgbClr val="D9DDE1"/>
            </a:solidFill>
            <a:prstDash val="solid"/>
          </a:ln>
        </p:spPr>
      </p:sp>
      <p:sp>
        <p:nvSpPr>
          <p:cNvPr id="5" name="Text 3"/>
          <p:cNvSpPr/>
          <p:nvPr/>
        </p:nvSpPr>
        <p:spPr>
          <a:xfrm>
            <a:off x="1022350" y="2094111"/>
            <a:ext cx="307403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01 · 60시간</a:t>
            </a:r>
            <a:endParaRPr lang="en-US" sz="1400" dirty="0"/>
          </a:p>
        </p:txBody>
      </p:sp>
      <p:sp>
        <p:nvSpPr>
          <p:cNvPr id="6" name="Text 4"/>
          <p:cNvSpPr/>
          <p:nvPr/>
        </p:nvSpPr>
        <p:spPr>
          <a:xfrm>
            <a:off x="1022350" y="2393752"/>
            <a:ext cx="3074035" cy="58658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2304D"/>
                </a:solidFill>
                <a:latin typeface="Arial" pitchFamily="34" charset="0"/>
                <a:ea typeface="Arial" pitchFamily="34" charset="-122"/>
                <a:cs typeface="Arial" pitchFamily="34" charset="-120"/>
              </a:rPr>
              <a:t>해양산업 이해와</a:t>
            </a:r>
            <a:endParaRPr lang="en-US" sz="1700" dirty="0"/>
          </a:p>
          <a:p>
            <a:pPr algn="l" indent="0" marL="0">
              <a:lnSpc>
                <a:spcPts val="2210"/>
              </a:lnSpc>
              <a:buNone/>
            </a:pPr>
            <a:r>
              <a:rPr lang="en-US" sz="1700" b="1" dirty="0">
                <a:solidFill>
                  <a:srgbClr val="12304D"/>
                </a:solidFill>
                <a:latin typeface="Arial" pitchFamily="34" charset="0"/>
                <a:ea typeface="Arial" pitchFamily="34" charset="-122"/>
                <a:cs typeface="Arial" pitchFamily="34" charset="-120"/>
              </a:rPr>
              <a:t>데이터 리터러시</a:t>
            </a:r>
            <a:endParaRPr lang="en-US" sz="1700" dirty="0"/>
          </a:p>
        </p:txBody>
      </p:sp>
      <p:sp>
        <p:nvSpPr>
          <p:cNvPr id="7" name="Shape 5"/>
          <p:cNvSpPr/>
          <p:nvPr/>
        </p:nvSpPr>
        <p:spPr>
          <a:xfrm>
            <a:off x="4397375" y="1887736"/>
            <a:ext cx="3397250" cy="1273572"/>
          </a:xfrm>
          <a:prstGeom prst="roundRect">
            <a:avLst>
              <a:gd name="adj" fmla="val 7728"/>
            </a:avLst>
          </a:prstGeom>
          <a:solidFill>
            <a:srgbClr val="FCFCFA"/>
          </a:solidFill>
          <a:ln w="6350">
            <a:solidFill>
              <a:srgbClr val="D9DDE1"/>
            </a:solidFill>
            <a:prstDash val="solid"/>
          </a:ln>
        </p:spPr>
      </p:sp>
      <p:sp>
        <p:nvSpPr>
          <p:cNvPr id="8" name="Text 6"/>
          <p:cNvSpPr/>
          <p:nvPr/>
        </p:nvSpPr>
        <p:spPr>
          <a:xfrm>
            <a:off x="4603750" y="2094111"/>
            <a:ext cx="307403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02 · 40시간</a:t>
            </a:r>
            <a:endParaRPr lang="en-US" sz="1400" dirty="0"/>
          </a:p>
        </p:txBody>
      </p:sp>
      <p:sp>
        <p:nvSpPr>
          <p:cNvPr id="9" name="Text 7"/>
          <p:cNvSpPr/>
          <p:nvPr/>
        </p:nvSpPr>
        <p:spPr>
          <a:xfrm>
            <a:off x="4603750" y="2393752"/>
            <a:ext cx="3074035" cy="58658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2304D"/>
                </a:solidFill>
                <a:latin typeface="Arial" pitchFamily="34" charset="0"/>
                <a:ea typeface="Arial" pitchFamily="34" charset="-122"/>
                <a:cs typeface="Arial" pitchFamily="34" charset="-120"/>
              </a:rPr>
              <a:t>생성형 AI</a:t>
            </a:r>
            <a:endParaRPr lang="en-US" sz="1700" dirty="0"/>
          </a:p>
          <a:p>
            <a:pPr algn="l" indent="0" marL="0">
              <a:lnSpc>
                <a:spcPts val="2210"/>
              </a:lnSpc>
              <a:buNone/>
            </a:pPr>
            <a:r>
              <a:rPr lang="en-US" sz="1700" b="1" dirty="0">
                <a:solidFill>
                  <a:srgbClr val="12304D"/>
                </a:solidFill>
                <a:latin typeface="Arial" pitchFamily="34" charset="0"/>
                <a:ea typeface="Arial" pitchFamily="34" charset="-122"/>
                <a:cs typeface="Arial" pitchFamily="34" charset="-120"/>
              </a:rPr>
              <a:t>해양산업업무 활용</a:t>
            </a:r>
            <a:endParaRPr lang="en-US" sz="1700" dirty="0"/>
          </a:p>
        </p:txBody>
      </p:sp>
      <p:sp>
        <p:nvSpPr>
          <p:cNvPr id="10" name="Shape 8"/>
          <p:cNvSpPr/>
          <p:nvPr/>
        </p:nvSpPr>
        <p:spPr>
          <a:xfrm>
            <a:off x="7978775" y="1887736"/>
            <a:ext cx="3397250" cy="1273572"/>
          </a:xfrm>
          <a:prstGeom prst="roundRect">
            <a:avLst>
              <a:gd name="adj" fmla="val 7728"/>
            </a:avLst>
          </a:prstGeom>
          <a:solidFill>
            <a:srgbClr val="FCFCFA"/>
          </a:solidFill>
          <a:ln w="6350">
            <a:solidFill>
              <a:srgbClr val="D9DDE1"/>
            </a:solidFill>
            <a:prstDash val="solid"/>
          </a:ln>
        </p:spPr>
      </p:sp>
      <p:sp>
        <p:nvSpPr>
          <p:cNvPr id="11" name="Text 9"/>
          <p:cNvSpPr/>
          <p:nvPr/>
        </p:nvSpPr>
        <p:spPr>
          <a:xfrm>
            <a:off x="8185150" y="2094111"/>
            <a:ext cx="307403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03 · 90시간</a:t>
            </a:r>
            <a:endParaRPr lang="en-US" sz="1400" dirty="0"/>
          </a:p>
        </p:txBody>
      </p:sp>
      <p:sp>
        <p:nvSpPr>
          <p:cNvPr id="12" name="Text 10"/>
          <p:cNvSpPr/>
          <p:nvPr/>
        </p:nvSpPr>
        <p:spPr>
          <a:xfrm>
            <a:off x="8185150" y="2393752"/>
            <a:ext cx="3074035" cy="58658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2304D"/>
                </a:solidFill>
                <a:latin typeface="Arial" pitchFamily="34" charset="0"/>
                <a:ea typeface="Arial" pitchFamily="34" charset="-122"/>
                <a:cs typeface="Arial" pitchFamily="34" charset="-120"/>
              </a:rPr>
              <a:t>Python 데이터 처리와</a:t>
            </a:r>
            <a:endParaRPr lang="en-US" sz="1700" dirty="0"/>
          </a:p>
          <a:p>
            <a:pPr algn="l" indent="0" marL="0">
              <a:lnSpc>
                <a:spcPts val="2210"/>
              </a:lnSpc>
              <a:buNone/>
            </a:pPr>
            <a:r>
              <a:rPr lang="en-US" sz="1700" b="1" dirty="0">
                <a:solidFill>
                  <a:srgbClr val="12304D"/>
                </a:solidFill>
                <a:latin typeface="Arial" pitchFamily="34" charset="0"/>
                <a:ea typeface="Arial" pitchFamily="34" charset="-122"/>
                <a:cs typeface="Arial" pitchFamily="34" charset="-120"/>
              </a:rPr>
              <a:t>업무자동화</a:t>
            </a:r>
            <a:endParaRPr lang="en-US" sz="1700" dirty="0"/>
          </a:p>
        </p:txBody>
      </p:sp>
      <p:sp>
        <p:nvSpPr>
          <p:cNvPr id="13" name="Shape 11"/>
          <p:cNvSpPr/>
          <p:nvPr/>
        </p:nvSpPr>
        <p:spPr>
          <a:xfrm>
            <a:off x="815975" y="3345458"/>
            <a:ext cx="3397250" cy="1273572"/>
          </a:xfrm>
          <a:prstGeom prst="roundRect">
            <a:avLst>
              <a:gd name="adj" fmla="val 7728"/>
            </a:avLst>
          </a:prstGeom>
          <a:solidFill>
            <a:srgbClr val="FCFCFA"/>
          </a:solidFill>
          <a:ln w="6350">
            <a:solidFill>
              <a:srgbClr val="D9DDE1"/>
            </a:solidFill>
            <a:prstDash val="solid"/>
          </a:ln>
        </p:spPr>
      </p:sp>
      <p:sp>
        <p:nvSpPr>
          <p:cNvPr id="14" name="Text 12"/>
          <p:cNvSpPr/>
          <p:nvPr/>
        </p:nvSpPr>
        <p:spPr>
          <a:xfrm>
            <a:off x="1022350" y="3551833"/>
            <a:ext cx="307403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04 · 70시간</a:t>
            </a:r>
            <a:endParaRPr lang="en-US" sz="1400" dirty="0"/>
          </a:p>
        </p:txBody>
      </p:sp>
      <p:sp>
        <p:nvSpPr>
          <p:cNvPr id="15" name="Text 13"/>
          <p:cNvSpPr/>
          <p:nvPr/>
        </p:nvSpPr>
        <p:spPr>
          <a:xfrm>
            <a:off x="1022350" y="3851473"/>
            <a:ext cx="3074035" cy="58658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2304D"/>
                </a:solidFill>
                <a:latin typeface="Arial" pitchFamily="34" charset="0"/>
                <a:ea typeface="Arial" pitchFamily="34" charset="-122"/>
                <a:cs typeface="Arial" pitchFamily="34" charset="-120"/>
              </a:rPr>
              <a:t>데이터베이스와</a:t>
            </a:r>
            <a:endParaRPr lang="en-US" sz="1700" dirty="0"/>
          </a:p>
          <a:p>
            <a:pPr algn="l" indent="0" marL="0">
              <a:lnSpc>
                <a:spcPts val="2210"/>
              </a:lnSpc>
              <a:buNone/>
            </a:pPr>
            <a:r>
              <a:rPr lang="en-US" sz="1700" b="1" dirty="0">
                <a:solidFill>
                  <a:srgbClr val="12304D"/>
                </a:solidFill>
                <a:latin typeface="Arial" pitchFamily="34" charset="0"/>
                <a:ea typeface="Arial" pitchFamily="34" charset="-122"/>
                <a:cs typeface="Arial" pitchFamily="34" charset="-120"/>
              </a:rPr>
              <a:t>SQL 활용</a:t>
            </a:r>
            <a:endParaRPr lang="en-US" sz="1700" dirty="0"/>
          </a:p>
        </p:txBody>
      </p:sp>
      <p:sp>
        <p:nvSpPr>
          <p:cNvPr id="16" name="Shape 14"/>
          <p:cNvSpPr/>
          <p:nvPr/>
        </p:nvSpPr>
        <p:spPr>
          <a:xfrm>
            <a:off x="4397375" y="3345458"/>
            <a:ext cx="3397250" cy="1273572"/>
          </a:xfrm>
          <a:prstGeom prst="roundRect">
            <a:avLst>
              <a:gd name="adj" fmla="val 7728"/>
            </a:avLst>
          </a:prstGeom>
          <a:solidFill>
            <a:srgbClr val="FCFCFA"/>
          </a:solidFill>
          <a:ln w="6350">
            <a:solidFill>
              <a:srgbClr val="D9DDE1"/>
            </a:solidFill>
            <a:prstDash val="solid"/>
          </a:ln>
        </p:spPr>
      </p:sp>
      <p:sp>
        <p:nvSpPr>
          <p:cNvPr id="17" name="Text 15"/>
          <p:cNvSpPr/>
          <p:nvPr/>
        </p:nvSpPr>
        <p:spPr>
          <a:xfrm>
            <a:off x="4603750" y="3551833"/>
            <a:ext cx="307403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05 · 80시간</a:t>
            </a:r>
            <a:endParaRPr lang="en-US" sz="1400" dirty="0"/>
          </a:p>
        </p:txBody>
      </p:sp>
      <p:sp>
        <p:nvSpPr>
          <p:cNvPr id="18" name="Text 16"/>
          <p:cNvSpPr/>
          <p:nvPr/>
        </p:nvSpPr>
        <p:spPr>
          <a:xfrm>
            <a:off x="4603750" y="3851473"/>
            <a:ext cx="3074035" cy="58658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2304D"/>
                </a:solidFill>
                <a:latin typeface="Arial" pitchFamily="34" charset="0"/>
                <a:ea typeface="Arial" pitchFamily="34" charset="-122"/>
                <a:cs typeface="Arial" pitchFamily="34" charset="-120"/>
              </a:rPr>
              <a:t>데이터 분석 및</a:t>
            </a:r>
            <a:endParaRPr lang="en-US" sz="1700" dirty="0"/>
          </a:p>
          <a:p>
            <a:pPr algn="l" indent="0" marL="0">
              <a:lnSpc>
                <a:spcPts val="2210"/>
              </a:lnSpc>
              <a:buNone/>
            </a:pPr>
            <a:r>
              <a:rPr lang="en-US" sz="1700" b="1" dirty="0">
                <a:solidFill>
                  <a:srgbClr val="12304D"/>
                </a:solidFill>
                <a:latin typeface="Arial" pitchFamily="34" charset="0"/>
                <a:ea typeface="Arial" pitchFamily="34" charset="-122"/>
                <a:cs typeface="Arial" pitchFamily="34" charset="-120"/>
              </a:rPr>
              <a:t>시각화 대시보드</a:t>
            </a:r>
            <a:endParaRPr lang="en-US" sz="1700" dirty="0"/>
          </a:p>
        </p:txBody>
      </p:sp>
      <p:sp>
        <p:nvSpPr>
          <p:cNvPr id="19" name="Shape 17"/>
          <p:cNvSpPr/>
          <p:nvPr/>
        </p:nvSpPr>
        <p:spPr>
          <a:xfrm>
            <a:off x="7975600" y="3342283"/>
            <a:ext cx="3403600" cy="1279922"/>
          </a:xfrm>
          <a:prstGeom prst="roundRect">
            <a:avLst>
              <a:gd name="adj" fmla="val 7938"/>
            </a:avLst>
          </a:prstGeom>
          <a:solidFill>
            <a:srgbClr val="12304D"/>
          </a:solidFill>
          <a:ln/>
        </p:spPr>
      </p:sp>
      <p:sp>
        <p:nvSpPr>
          <p:cNvPr id="20" name="Text 18"/>
          <p:cNvSpPr/>
          <p:nvPr/>
        </p:nvSpPr>
        <p:spPr>
          <a:xfrm>
            <a:off x="8178800" y="3545483"/>
            <a:ext cx="308711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A65A"/>
                </a:solidFill>
                <a:latin typeface="Arial" pitchFamily="34" charset="0"/>
                <a:ea typeface="Arial" pitchFamily="34" charset="-122"/>
                <a:cs typeface="Arial" pitchFamily="34" charset="-120"/>
              </a:rPr>
              <a:t>06 · 160시간</a:t>
            </a:r>
            <a:endParaRPr lang="en-US" sz="1400" dirty="0"/>
          </a:p>
        </p:txBody>
      </p:sp>
      <p:sp>
        <p:nvSpPr>
          <p:cNvPr id="21" name="Text 19"/>
          <p:cNvSpPr/>
          <p:nvPr/>
        </p:nvSpPr>
        <p:spPr>
          <a:xfrm>
            <a:off x="8178800" y="3845123"/>
            <a:ext cx="3087116" cy="58658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5F4EF"/>
                </a:solidFill>
                <a:latin typeface="Arial" pitchFamily="34" charset="0"/>
                <a:ea typeface="Arial" pitchFamily="34" charset="-122"/>
                <a:cs typeface="Arial" pitchFamily="34" charset="-120"/>
              </a:rPr>
              <a:t>데이터 분석 및</a:t>
            </a:r>
            <a:endParaRPr lang="en-US" sz="1700" dirty="0"/>
          </a:p>
          <a:p>
            <a:pPr algn="l" indent="0" marL="0">
              <a:lnSpc>
                <a:spcPts val="2210"/>
              </a:lnSpc>
              <a:buNone/>
            </a:pPr>
            <a:r>
              <a:rPr lang="en-US" sz="1700" b="1" dirty="0">
                <a:solidFill>
                  <a:srgbClr val="F5F4EF"/>
                </a:solidFill>
                <a:latin typeface="Arial" pitchFamily="34" charset="0"/>
                <a:ea typeface="Arial" pitchFamily="34" charset="-122"/>
                <a:cs typeface="Arial" pitchFamily="34" charset="-120"/>
              </a:rPr>
              <a:t>AI 서비스 실전 프로젝트</a:t>
            </a:r>
            <a:endParaRPr lang="en-US" sz="1700" dirty="0"/>
          </a:p>
        </p:txBody>
      </p:sp>
      <p:sp>
        <p:nvSpPr>
          <p:cNvPr id="22" name="Text 20"/>
          <p:cNvSpPr/>
          <p:nvPr/>
        </p:nvSpPr>
        <p:spPr>
          <a:xfrm>
            <a:off x="812800" y="4901605"/>
            <a:ext cx="10883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7"/>
                </a:solidFill>
                <a:latin typeface="Arial" pitchFamily="34" charset="0"/>
                <a:ea typeface="Arial" pitchFamily="34" charset="-122"/>
                <a:cs typeface="Arial" pitchFamily="34" charset="-120"/>
              </a:rPr>
              <a:t>NCS 인공지능서비스구현 능력단위(구현요건분석 · 모델적용 · 애플리케이션 개발 · 테스트)와 연계하고, 취업특강 3회를 함께 진행합니다.</a:t>
            </a:r>
            <a:endParaRPr lang="en-US" sz="14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훈련 생활 안내</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꼭 알아야 할 네 가지</a:t>
            </a:r>
            <a:endParaRPr lang="en-US" sz="3200" dirty="0"/>
          </a:p>
        </p:txBody>
      </p:sp>
      <p:sp>
        <p:nvSpPr>
          <p:cNvPr id="4" name="Shape 2"/>
          <p:cNvSpPr/>
          <p:nvPr/>
        </p:nvSpPr>
        <p:spPr>
          <a:xfrm>
            <a:off x="815975" y="1913136"/>
            <a:ext cx="5187950" cy="1334691"/>
          </a:xfrm>
          <a:prstGeom prst="roundRect">
            <a:avLst>
              <a:gd name="adj" fmla="val 7374"/>
            </a:avLst>
          </a:prstGeom>
          <a:solidFill>
            <a:srgbClr val="FCFCFA"/>
          </a:solidFill>
          <a:ln w="6350">
            <a:solidFill>
              <a:srgbClr val="D9DDE1"/>
            </a:solidFill>
            <a:prstDash val="solid"/>
          </a:ln>
        </p:spPr>
      </p:sp>
      <p:pic>
        <p:nvPicPr>
          <p:cNvPr id="5" name="Image 0" descr="Clock">    </p:cNvPr>
          <p:cNvPicPr>
            <a:picLocks noChangeAspect="1"/>
          </p:cNvPicPr>
          <p:nvPr/>
        </p:nvPicPr>
        <p:blipFill>
          <a:blip r:embed="rId1"/>
          <a:srcRect l="0" r="0" t="0" b="0"/>
          <a:stretch/>
        </p:blipFill>
        <p:spPr>
          <a:xfrm>
            <a:off x="1047750" y="2144911"/>
            <a:ext cx="355600" cy="355600"/>
          </a:xfrm>
          <a:prstGeom prst="rect">
            <a:avLst/>
          </a:prstGeom>
        </p:spPr>
      </p:pic>
      <p:sp>
        <p:nvSpPr>
          <p:cNvPr id="6" name="Text 3"/>
          <p:cNvSpPr/>
          <p:nvPr/>
        </p:nvSpPr>
        <p:spPr>
          <a:xfrm>
            <a:off x="1555750" y="2144911"/>
            <a:ext cx="27979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출결</a:t>
            </a:r>
            <a:endParaRPr lang="en-US" sz="1800" dirty="0"/>
          </a:p>
        </p:txBody>
      </p:sp>
      <p:sp>
        <p:nvSpPr>
          <p:cNvPr id="7" name="Text 4"/>
          <p:cNvSpPr/>
          <p:nvPr/>
        </p:nvSpPr>
        <p:spPr>
          <a:xfrm>
            <a:off x="1555750" y="2482652"/>
            <a:ext cx="2797903"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7"/>
                </a:solidFill>
                <a:latin typeface="Arial" pitchFamily="34" charset="0"/>
                <a:ea typeface="Arial" pitchFamily="34" charset="-122"/>
                <a:cs typeface="Arial" pitchFamily="34" charset="-120"/>
              </a:rPr>
              <a:t>입실·퇴실 체크 방법: [출결 시스템]</a:t>
            </a:r>
            <a:endParaRPr lang="en-US" sz="1400" dirty="0"/>
          </a:p>
          <a:p>
            <a:pPr algn="l" indent="0" marL="0">
              <a:lnSpc>
                <a:spcPts val="2100"/>
              </a:lnSpc>
              <a:buNone/>
            </a:pPr>
            <a:r>
              <a:rPr lang="en-US" sz="1400" dirty="0">
                <a:solidFill>
                  <a:srgbClr val="3D4A57"/>
                </a:solidFill>
                <a:latin typeface="Arial" pitchFamily="34" charset="0"/>
                <a:ea typeface="Arial" pitchFamily="34" charset="-122"/>
                <a:cs typeface="Arial" pitchFamily="34" charset="-120"/>
              </a:rPr>
              <a:t>지각·조퇴·결석 기준과 사전 신고</a:t>
            </a:r>
            <a:endParaRPr lang="en-US" sz="1400" dirty="0"/>
          </a:p>
        </p:txBody>
      </p:sp>
      <p:sp>
        <p:nvSpPr>
          <p:cNvPr id="8" name="Shape 5"/>
          <p:cNvSpPr/>
          <p:nvPr/>
        </p:nvSpPr>
        <p:spPr>
          <a:xfrm>
            <a:off x="6188075" y="1913136"/>
            <a:ext cx="5187950" cy="1334691"/>
          </a:xfrm>
          <a:prstGeom prst="roundRect">
            <a:avLst>
              <a:gd name="adj" fmla="val 7374"/>
            </a:avLst>
          </a:prstGeom>
          <a:solidFill>
            <a:srgbClr val="FCFCFA"/>
          </a:solidFill>
          <a:ln w="6350">
            <a:solidFill>
              <a:srgbClr val="D9DDE1"/>
            </a:solidFill>
            <a:prstDash val="solid"/>
          </a:ln>
        </p:spPr>
      </p:sp>
      <p:pic>
        <p:nvPicPr>
          <p:cNvPr id="9" name="Image 1" descr="Code">    </p:cNvPr>
          <p:cNvPicPr>
            <a:picLocks noChangeAspect="1"/>
          </p:cNvPicPr>
          <p:nvPr/>
        </p:nvPicPr>
        <p:blipFill>
          <a:blip r:embed="rId2"/>
          <a:srcRect l="0" r="0" t="0" b="0"/>
          <a:stretch/>
        </p:blipFill>
        <p:spPr>
          <a:xfrm>
            <a:off x="6419850" y="2144911"/>
            <a:ext cx="355600" cy="355600"/>
          </a:xfrm>
          <a:prstGeom prst="rect">
            <a:avLst/>
          </a:prstGeom>
        </p:spPr>
      </p:pic>
      <p:sp>
        <p:nvSpPr>
          <p:cNvPr id="10" name="Text 6"/>
          <p:cNvSpPr/>
          <p:nvPr/>
        </p:nvSpPr>
        <p:spPr>
          <a:xfrm>
            <a:off x="6927850" y="2144911"/>
            <a:ext cx="287935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수업 참여</a:t>
            </a:r>
            <a:endParaRPr lang="en-US" sz="1800" dirty="0"/>
          </a:p>
        </p:txBody>
      </p:sp>
      <p:sp>
        <p:nvSpPr>
          <p:cNvPr id="11" name="Text 7"/>
          <p:cNvSpPr/>
          <p:nvPr/>
        </p:nvSpPr>
        <p:spPr>
          <a:xfrm>
            <a:off x="6927850" y="2482652"/>
            <a:ext cx="2879353"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7"/>
                </a:solidFill>
                <a:latin typeface="Arial" pitchFamily="34" charset="0"/>
                <a:ea typeface="Arial" pitchFamily="34" charset="-122"/>
                <a:cs typeface="Arial" pitchFamily="34" charset="-120"/>
              </a:rPr>
              <a:t>강의 + 실습을 함께하는 수업</a:t>
            </a:r>
            <a:endParaRPr lang="en-US" sz="1400" dirty="0"/>
          </a:p>
          <a:p>
            <a:pPr algn="l" indent="0" marL="0">
              <a:lnSpc>
                <a:spcPts val="2100"/>
              </a:lnSpc>
              <a:buNone/>
            </a:pPr>
            <a:r>
              <a:rPr lang="en-US" sz="1400" dirty="0">
                <a:solidFill>
                  <a:srgbClr val="3D4A57"/>
                </a:solidFill>
                <a:latin typeface="Arial" pitchFamily="34" charset="0"/>
                <a:ea typeface="Arial" pitchFamily="34" charset="-122"/>
                <a:cs typeface="Arial" pitchFamily="34" charset="-120"/>
              </a:rPr>
              <a:t>개인 계정·실습 환경은 첫 주에 준비</a:t>
            </a:r>
            <a:endParaRPr lang="en-US" sz="1400" dirty="0"/>
          </a:p>
        </p:txBody>
      </p:sp>
      <p:sp>
        <p:nvSpPr>
          <p:cNvPr id="12" name="Shape 8"/>
          <p:cNvSpPr/>
          <p:nvPr/>
        </p:nvSpPr>
        <p:spPr>
          <a:xfrm>
            <a:off x="815975" y="3431977"/>
            <a:ext cx="5187950" cy="1334691"/>
          </a:xfrm>
          <a:prstGeom prst="roundRect">
            <a:avLst>
              <a:gd name="adj" fmla="val 7374"/>
            </a:avLst>
          </a:prstGeom>
          <a:solidFill>
            <a:srgbClr val="FCFCFA"/>
          </a:solidFill>
          <a:ln w="6350">
            <a:solidFill>
              <a:srgbClr val="D9DDE1"/>
            </a:solidFill>
            <a:prstDash val="solid"/>
          </a:ln>
        </p:spPr>
      </p:sp>
      <p:pic>
        <p:nvPicPr>
          <p:cNvPr id="13" name="Image 2" descr="Home">    </p:cNvPr>
          <p:cNvPicPr>
            <a:picLocks noChangeAspect="1"/>
          </p:cNvPicPr>
          <p:nvPr/>
        </p:nvPicPr>
        <p:blipFill>
          <a:blip r:embed="rId3"/>
          <a:srcRect l="0" r="0" t="0" b="0"/>
          <a:stretch/>
        </p:blipFill>
        <p:spPr>
          <a:xfrm>
            <a:off x="1047750" y="3663752"/>
            <a:ext cx="355600" cy="355600"/>
          </a:xfrm>
          <a:prstGeom prst="rect">
            <a:avLst/>
          </a:prstGeom>
        </p:spPr>
      </p:pic>
      <p:sp>
        <p:nvSpPr>
          <p:cNvPr id="14" name="Text 9"/>
          <p:cNvSpPr/>
          <p:nvPr/>
        </p:nvSpPr>
        <p:spPr>
          <a:xfrm>
            <a:off x="1555750" y="3663752"/>
            <a:ext cx="25231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시설 이용</a:t>
            </a:r>
            <a:endParaRPr lang="en-US" sz="1800" dirty="0"/>
          </a:p>
        </p:txBody>
      </p:sp>
      <p:sp>
        <p:nvSpPr>
          <p:cNvPr id="15" name="Text 10"/>
          <p:cNvSpPr/>
          <p:nvPr/>
        </p:nvSpPr>
        <p:spPr>
          <a:xfrm>
            <a:off x="1555750" y="4001492"/>
            <a:ext cx="252310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7"/>
                </a:solidFill>
                <a:latin typeface="Arial" pitchFamily="34" charset="0"/>
                <a:ea typeface="Arial" pitchFamily="34" charset="-122"/>
                <a:cs typeface="Arial" pitchFamily="34" charset="-120"/>
              </a:rPr>
              <a:t>강의실·휴게실·와이파이: [안내]</a:t>
            </a:r>
            <a:endParaRPr lang="en-US" sz="1400" dirty="0"/>
          </a:p>
          <a:p>
            <a:pPr algn="l" indent="0" marL="0">
              <a:lnSpc>
                <a:spcPts val="2100"/>
              </a:lnSpc>
              <a:buNone/>
            </a:pPr>
            <a:r>
              <a:rPr lang="en-US" sz="1400" dirty="0">
                <a:solidFill>
                  <a:srgbClr val="3D4A57"/>
                </a:solidFill>
                <a:latin typeface="Arial" pitchFamily="34" charset="0"/>
                <a:ea typeface="Arial" pitchFamily="34" charset="-122"/>
                <a:cs typeface="Arial" pitchFamily="34" charset="-120"/>
              </a:rPr>
              <a:t>개인 PC·장비 사용 수칙</a:t>
            </a:r>
            <a:endParaRPr lang="en-US" sz="1400" dirty="0"/>
          </a:p>
        </p:txBody>
      </p:sp>
      <p:sp>
        <p:nvSpPr>
          <p:cNvPr id="16" name="Shape 11"/>
          <p:cNvSpPr/>
          <p:nvPr/>
        </p:nvSpPr>
        <p:spPr>
          <a:xfrm>
            <a:off x="6188075" y="3431977"/>
            <a:ext cx="5187950" cy="1334691"/>
          </a:xfrm>
          <a:prstGeom prst="roundRect">
            <a:avLst>
              <a:gd name="adj" fmla="val 7374"/>
            </a:avLst>
          </a:prstGeom>
          <a:solidFill>
            <a:srgbClr val="FCFCFA"/>
          </a:solidFill>
          <a:ln w="6350">
            <a:solidFill>
              <a:srgbClr val="D9DDE1"/>
            </a:solidFill>
            <a:prstDash val="solid"/>
          </a:ln>
        </p:spPr>
      </p:sp>
      <p:pic>
        <p:nvPicPr>
          <p:cNvPr id="17" name="Image 3" descr="Book">    </p:cNvPr>
          <p:cNvPicPr>
            <a:picLocks noChangeAspect="1"/>
          </p:cNvPicPr>
          <p:nvPr/>
        </p:nvPicPr>
        <p:blipFill>
          <a:blip r:embed="rId4"/>
          <a:srcRect l="0" r="0" t="0" b="0"/>
          <a:stretch/>
        </p:blipFill>
        <p:spPr>
          <a:xfrm>
            <a:off x="6419850" y="3663752"/>
            <a:ext cx="355600" cy="355600"/>
          </a:xfrm>
          <a:prstGeom prst="rect">
            <a:avLst/>
          </a:prstGeom>
        </p:spPr>
      </p:pic>
      <p:sp>
        <p:nvSpPr>
          <p:cNvPr id="18" name="Text 12"/>
          <p:cNvSpPr/>
          <p:nvPr/>
        </p:nvSpPr>
        <p:spPr>
          <a:xfrm>
            <a:off x="6927850" y="3663752"/>
            <a:ext cx="26352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각종 규정</a:t>
            </a:r>
            <a:endParaRPr lang="en-US" sz="1800" dirty="0"/>
          </a:p>
        </p:txBody>
      </p:sp>
      <p:sp>
        <p:nvSpPr>
          <p:cNvPr id="19" name="Text 13"/>
          <p:cNvSpPr/>
          <p:nvPr/>
        </p:nvSpPr>
        <p:spPr>
          <a:xfrm>
            <a:off x="6927850" y="4001492"/>
            <a:ext cx="263520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7"/>
                </a:solidFill>
                <a:latin typeface="Arial" pitchFamily="34" charset="0"/>
                <a:ea typeface="Arial" pitchFamily="34" charset="-122"/>
                <a:cs typeface="Arial" pitchFamily="34" charset="-120"/>
              </a:rPr>
              <a:t>수료 기준, 훈련장려금 지급 기준</a:t>
            </a:r>
            <a:endParaRPr lang="en-US" sz="1400" dirty="0"/>
          </a:p>
          <a:p>
            <a:pPr algn="l" indent="0" marL="0">
              <a:lnSpc>
                <a:spcPts val="2100"/>
              </a:lnSpc>
              <a:buNone/>
            </a:pPr>
            <a:r>
              <a:rPr lang="en-US" sz="1400" dirty="0">
                <a:solidFill>
                  <a:srgbClr val="3D4A57"/>
                </a:solidFill>
                <a:latin typeface="Arial" pitchFamily="34" charset="0"/>
                <a:ea typeface="Arial" pitchFamily="34" charset="-122"/>
                <a:cs typeface="Arial" pitchFamily="34" charset="-120"/>
              </a:rPr>
              <a:t>세부 내용은 학습안내서 참고</a:t>
            </a:r>
            <a:endParaRPr lang="en-US" sz="1400" dirty="0"/>
          </a:p>
        </p:txBody>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EE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사전평가 · 자가진단</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지금의 나를 알아보는 시간입니다</a:t>
            </a:r>
            <a:endParaRPr lang="en-US" sz="3200" dirty="0"/>
          </a:p>
        </p:txBody>
      </p:sp>
      <p:sp>
        <p:nvSpPr>
          <p:cNvPr id="4" name="Shape 2"/>
          <p:cNvSpPr/>
          <p:nvPr/>
        </p:nvSpPr>
        <p:spPr>
          <a:xfrm>
            <a:off x="812800" y="1909961"/>
            <a:ext cx="3403600" cy="2344341"/>
          </a:xfrm>
          <a:prstGeom prst="roundRect">
            <a:avLst>
              <a:gd name="adj" fmla="val 4334"/>
            </a:avLst>
          </a:prstGeom>
          <a:solidFill>
            <a:srgbClr val="FCFCFA"/>
          </a:solidFill>
          <a:ln/>
        </p:spPr>
      </p:sp>
      <p:sp>
        <p:nvSpPr>
          <p:cNvPr id="5" name="Text 3"/>
          <p:cNvSpPr/>
          <p:nvPr/>
        </p:nvSpPr>
        <p:spPr>
          <a:xfrm>
            <a:off x="1066800" y="2163961"/>
            <a:ext cx="298246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2304D"/>
                </a:solidFill>
                <a:latin typeface="Arial" pitchFamily="34" charset="0"/>
                <a:ea typeface="Arial" pitchFamily="34" charset="-122"/>
                <a:cs typeface="Arial" pitchFamily="34" charset="-120"/>
              </a:rPr>
              <a:t>20</a:t>
            </a:r>
            <a:r>
              <a:rPr lang="en-US" sz="4800" b="1" dirty="0">
                <a:solidFill>
                  <a:srgbClr val="A64F16"/>
                </a:solidFill>
                <a:latin typeface="Arial" pitchFamily="34" charset="0"/>
                <a:ea typeface="Arial" pitchFamily="34" charset="-122"/>
                <a:cs typeface="Arial" pitchFamily="34" charset="-120"/>
              </a:rPr>
              <a:t>문항</a:t>
            </a:r>
            <a:endParaRPr lang="en-US" sz="4800" dirty="0"/>
          </a:p>
        </p:txBody>
      </p:sp>
      <p:sp>
        <p:nvSpPr>
          <p:cNvPr id="6" name="Text 4"/>
          <p:cNvSpPr/>
          <p:nvPr/>
        </p:nvSpPr>
        <p:spPr>
          <a:xfrm>
            <a:off x="1066800" y="2849761"/>
            <a:ext cx="298246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사전능력 평가지</a:t>
            </a:r>
            <a:endParaRPr lang="en-US" sz="1800" dirty="0"/>
          </a:p>
        </p:txBody>
      </p:sp>
      <p:sp>
        <p:nvSpPr>
          <p:cNvPr id="7" name="Text 5"/>
          <p:cNvSpPr/>
          <p:nvPr/>
        </p:nvSpPr>
        <p:spPr>
          <a:xfrm>
            <a:off x="1066800" y="3200202"/>
            <a:ext cx="2982468"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7"/>
                </a:solidFill>
                <a:latin typeface="Arial" pitchFamily="34" charset="0"/>
                <a:ea typeface="Arial" pitchFamily="34" charset="-122"/>
                <a:cs typeface="Arial" pitchFamily="34" charset="-120"/>
              </a:rPr>
              <a:t>컴퓨터·데이터 상식, 생성형 AI, Python, SQL·데이터 분석</a:t>
            </a:r>
            <a:endParaRPr lang="en-US" sz="1400" dirty="0"/>
          </a:p>
          <a:p>
            <a:pPr algn="l" indent="0" marL="0">
              <a:lnSpc>
                <a:spcPts val="2100"/>
              </a:lnSpc>
              <a:buNone/>
            </a:pPr>
            <a:r>
              <a:rPr lang="en-US" sz="1400" dirty="0">
                <a:solidFill>
                  <a:srgbClr val="3D4A57"/>
                </a:solidFill>
                <a:latin typeface="Arial" pitchFamily="34" charset="0"/>
                <a:ea typeface="Arial" pitchFamily="34" charset="-122"/>
                <a:cs typeface="Arial" pitchFamily="34" charset="-120"/>
              </a:rPr>
              <a:t>4지선다 · 약 20분</a:t>
            </a:r>
            <a:endParaRPr lang="en-US" sz="1400" dirty="0"/>
          </a:p>
        </p:txBody>
      </p:sp>
      <p:sp>
        <p:nvSpPr>
          <p:cNvPr id="8" name="Shape 6"/>
          <p:cNvSpPr/>
          <p:nvPr/>
        </p:nvSpPr>
        <p:spPr>
          <a:xfrm>
            <a:off x="4394200" y="1909961"/>
            <a:ext cx="3403600" cy="2344341"/>
          </a:xfrm>
          <a:prstGeom prst="roundRect">
            <a:avLst>
              <a:gd name="adj" fmla="val 4334"/>
            </a:avLst>
          </a:prstGeom>
          <a:solidFill>
            <a:srgbClr val="FCFCFA"/>
          </a:solidFill>
          <a:ln/>
        </p:spPr>
      </p:sp>
      <p:sp>
        <p:nvSpPr>
          <p:cNvPr id="9" name="Text 7"/>
          <p:cNvSpPr/>
          <p:nvPr/>
        </p:nvSpPr>
        <p:spPr>
          <a:xfrm>
            <a:off x="4648200" y="2163961"/>
            <a:ext cx="298246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2304D"/>
                </a:solidFill>
                <a:latin typeface="Arial" pitchFamily="34" charset="0"/>
                <a:ea typeface="Arial" pitchFamily="34" charset="-122"/>
                <a:cs typeface="Arial" pitchFamily="34" charset="-120"/>
              </a:rPr>
              <a:t>10</a:t>
            </a:r>
            <a:r>
              <a:rPr lang="en-US" sz="4800" b="1" dirty="0">
                <a:solidFill>
                  <a:srgbClr val="A64F16"/>
                </a:solidFill>
                <a:latin typeface="Arial" pitchFamily="34" charset="0"/>
                <a:ea typeface="Arial" pitchFamily="34" charset="-122"/>
                <a:cs typeface="Arial" pitchFamily="34" charset="-120"/>
              </a:rPr>
              <a:t>문항</a:t>
            </a:r>
            <a:endParaRPr lang="en-US" sz="4800" dirty="0"/>
          </a:p>
        </p:txBody>
      </p:sp>
      <p:sp>
        <p:nvSpPr>
          <p:cNvPr id="10" name="Text 8"/>
          <p:cNvSpPr/>
          <p:nvPr/>
        </p:nvSpPr>
        <p:spPr>
          <a:xfrm>
            <a:off x="4648200" y="2849761"/>
            <a:ext cx="298246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훈련과정이해 자가진단</a:t>
            </a:r>
            <a:endParaRPr lang="en-US" sz="1800" dirty="0"/>
          </a:p>
        </p:txBody>
      </p:sp>
      <p:sp>
        <p:nvSpPr>
          <p:cNvPr id="11" name="Text 9"/>
          <p:cNvSpPr/>
          <p:nvPr/>
        </p:nvSpPr>
        <p:spPr>
          <a:xfrm>
            <a:off x="4648200" y="3200202"/>
            <a:ext cx="298246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7"/>
                </a:solidFill>
                <a:latin typeface="Arial" pitchFamily="34" charset="0"/>
                <a:ea typeface="Arial" pitchFamily="34" charset="-122"/>
                <a:cs typeface="Arial" pitchFamily="34" charset="-120"/>
              </a:rPr>
              <a:t>NCS 이해, 선수학습·경력, 교육의지</a:t>
            </a:r>
            <a:endParaRPr lang="en-US" sz="1400" dirty="0"/>
          </a:p>
          <a:p>
            <a:pPr algn="l" indent="0" marL="0">
              <a:lnSpc>
                <a:spcPts val="2100"/>
              </a:lnSpc>
              <a:buNone/>
            </a:pPr>
            <a:r>
              <a:rPr lang="en-US" sz="1400" dirty="0">
                <a:solidFill>
                  <a:srgbClr val="3D4A57"/>
                </a:solidFill>
                <a:latin typeface="Arial" pitchFamily="34" charset="0"/>
                <a:ea typeface="Arial" pitchFamily="34" charset="-122"/>
                <a:cs typeface="Arial" pitchFamily="34" charset="-120"/>
              </a:rPr>
              <a:t>1~5점 체크 · 약 3분</a:t>
            </a:r>
            <a:endParaRPr lang="en-US" sz="1400" dirty="0"/>
          </a:p>
        </p:txBody>
      </p:sp>
      <p:sp>
        <p:nvSpPr>
          <p:cNvPr id="12" name="Shape 10"/>
          <p:cNvSpPr/>
          <p:nvPr/>
        </p:nvSpPr>
        <p:spPr>
          <a:xfrm>
            <a:off x="7975600" y="1909961"/>
            <a:ext cx="3403600" cy="2344341"/>
          </a:xfrm>
          <a:prstGeom prst="roundRect">
            <a:avLst>
              <a:gd name="adj" fmla="val 4334"/>
            </a:avLst>
          </a:prstGeom>
          <a:solidFill>
            <a:srgbClr val="FCFCFA"/>
          </a:solidFill>
          <a:ln/>
        </p:spPr>
      </p:sp>
      <p:sp>
        <p:nvSpPr>
          <p:cNvPr id="13" name="Text 11"/>
          <p:cNvSpPr/>
          <p:nvPr/>
        </p:nvSpPr>
        <p:spPr>
          <a:xfrm>
            <a:off x="8229600" y="2163961"/>
            <a:ext cx="298246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2304D"/>
                </a:solidFill>
                <a:latin typeface="Arial" pitchFamily="34" charset="0"/>
                <a:ea typeface="Arial" pitchFamily="34" charset="-122"/>
                <a:cs typeface="Arial" pitchFamily="34" charset="-120"/>
              </a:rPr>
              <a:t>10</a:t>
            </a:r>
            <a:r>
              <a:rPr lang="en-US" sz="4800" b="1" dirty="0">
                <a:solidFill>
                  <a:srgbClr val="A64F16"/>
                </a:solidFill>
                <a:latin typeface="Arial" pitchFamily="34" charset="0"/>
                <a:ea typeface="Arial" pitchFamily="34" charset="-122"/>
                <a:cs typeface="Arial" pitchFamily="34" charset="-120"/>
              </a:rPr>
              <a:t>문항</a:t>
            </a:r>
            <a:endParaRPr lang="en-US" sz="4800" dirty="0"/>
          </a:p>
        </p:txBody>
      </p:sp>
      <p:sp>
        <p:nvSpPr>
          <p:cNvPr id="14" name="Text 12"/>
          <p:cNvSpPr/>
          <p:nvPr/>
        </p:nvSpPr>
        <p:spPr>
          <a:xfrm>
            <a:off x="8229600" y="2849761"/>
            <a:ext cx="298246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사전학습 자가진단</a:t>
            </a:r>
            <a:endParaRPr lang="en-US" sz="1800" dirty="0"/>
          </a:p>
        </p:txBody>
      </p:sp>
      <p:sp>
        <p:nvSpPr>
          <p:cNvPr id="15" name="Text 13"/>
          <p:cNvSpPr/>
          <p:nvPr/>
        </p:nvSpPr>
        <p:spPr>
          <a:xfrm>
            <a:off x="8229600" y="3200202"/>
            <a:ext cx="298246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D4A57"/>
                </a:solidFill>
                <a:latin typeface="Arial" pitchFamily="34" charset="0"/>
                <a:ea typeface="Arial" pitchFamily="34" charset="-122"/>
                <a:cs typeface="Arial" pitchFamily="34" charset="-120"/>
              </a:rPr>
              <a:t>교과목별 사전 지식 수준</a:t>
            </a:r>
            <a:endParaRPr lang="en-US" sz="1400" dirty="0"/>
          </a:p>
          <a:p>
            <a:pPr algn="l" indent="0" marL="0">
              <a:lnSpc>
                <a:spcPts val="2100"/>
              </a:lnSpc>
              <a:buNone/>
            </a:pPr>
            <a:r>
              <a:rPr lang="en-US" sz="1400" dirty="0">
                <a:solidFill>
                  <a:srgbClr val="3D4A57"/>
                </a:solidFill>
                <a:latin typeface="Arial" pitchFamily="34" charset="0"/>
                <a:ea typeface="Arial" pitchFamily="34" charset="-122"/>
                <a:cs typeface="Arial" pitchFamily="34" charset="-120"/>
              </a:rPr>
              <a:t>1~5점 체크 · 약 3분</a:t>
            </a:r>
            <a:endParaRPr lang="en-US" sz="1400" dirty="0"/>
          </a:p>
        </p:txBody>
      </p:sp>
      <p:sp>
        <p:nvSpPr>
          <p:cNvPr id="16" name="Text 14"/>
          <p:cNvSpPr/>
          <p:nvPr/>
        </p:nvSpPr>
        <p:spPr>
          <a:xfrm>
            <a:off x="812800" y="455910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304D"/>
                </a:solidFill>
                <a:latin typeface="Arial" pitchFamily="34" charset="0"/>
                <a:ea typeface="Arial" pitchFamily="34" charset="-122"/>
                <a:cs typeface="Arial" pitchFamily="34" charset="-120"/>
              </a:rPr>
              <a:t>점수는 성적이 아니라, 여러분 수준에 맞는 수업을 준비하기 위한 자료입니다.</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304D"/>
        </a:solidFill>
      </p:bgPr>
    </p:bg>
    <p:spTree>
      <p:nvGrpSpPr>
        <p:cNvPr id="1" name=""/>
        <p:cNvGrpSpPr/>
        <p:nvPr/>
      </p:nvGrpSpPr>
      <p:grpSpPr>
        <a:xfrm>
          <a:off x="0" y="0"/>
          <a:ext cx="0" cy="0"/>
          <a:chOff x="0" y="0"/>
          <a:chExt cx="0" cy="0"/>
        </a:xfrm>
      </p:grpSpPr>
      <p:sp>
        <p:nvSpPr>
          <p:cNvPr id="2" name="Text 0"/>
          <p:cNvSpPr/>
          <p:nvPr/>
        </p:nvSpPr>
        <p:spPr>
          <a:xfrm>
            <a:off x="6800850" y="1270000"/>
            <a:ext cx="4578350" cy="2565400"/>
          </a:xfrm>
          <a:prstGeom prst="rect">
            <a:avLst/>
          </a:prstGeom>
          <a:noFill/>
          <a:ln/>
        </p:spPr>
        <p:txBody>
          <a:bodyPr wrap="square" lIns="0" tIns="0" rIns="0" bIns="0" rtlCol="0" anchor="t">
            <a:normAutofit/>
          </a:bodyPr>
          <a:lstStyle/>
          <a:p>
            <a:pPr algn="r" indent="0" marL="0">
              <a:lnSpc>
                <a:spcPts val="20000"/>
              </a:lnSpc>
              <a:buNone/>
            </a:pPr>
            <a:r>
              <a:rPr lang="en-US" sz="20000" b="1" dirty="0">
                <a:solidFill>
                  <a:srgbClr val="1C3F62"/>
                </a:solidFill>
                <a:latin typeface="Arial" pitchFamily="34" charset="0"/>
                <a:ea typeface="Arial" pitchFamily="34" charset="-122"/>
                <a:cs typeface="Arial" pitchFamily="34" charset="-120"/>
              </a:rPr>
              <a:t>02</a:t>
            </a:r>
            <a:endParaRPr lang="en-US" sz="20000" dirty="0"/>
          </a:p>
        </p:txBody>
      </p:sp>
      <p:sp>
        <p:nvSpPr>
          <p:cNvPr id="3" name="Text 1"/>
          <p:cNvSpPr/>
          <p:nvPr/>
        </p:nvSpPr>
        <p:spPr>
          <a:xfrm>
            <a:off x="812800" y="224799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A65A"/>
                </a:solidFill>
                <a:latin typeface="Arial" pitchFamily="34" charset="0"/>
                <a:ea typeface="Arial" pitchFamily="34" charset="-122"/>
                <a:cs typeface="Arial" pitchFamily="34" charset="-120"/>
              </a:rPr>
              <a:t>2교시 · 50분</a:t>
            </a:r>
            <a:endParaRPr lang="en-US" sz="1600" dirty="0"/>
          </a:p>
        </p:txBody>
      </p:sp>
      <p:sp>
        <p:nvSpPr>
          <p:cNvPr id="4" name="Text 2"/>
          <p:cNvSpPr/>
          <p:nvPr>
            <p:ph type="title"/>
          </p:nvPr>
        </p:nvSpPr>
        <p:spPr>
          <a:xfrm>
            <a:off x="812800" y="2761059"/>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4EF"/>
                </a:solidFill>
                <a:latin typeface="Arial" pitchFamily="34" charset="0"/>
                <a:ea typeface="Arial" pitchFamily="34" charset="-122"/>
                <a:cs typeface="Arial" pitchFamily="34" charset="-120"/>
              </a:rPr>
              <a:t>생성형 AI 이해</a:t>
            </a:r>
            <a:endParaRPr lang="en-US" sz="4800" dirty="0"/>
          </a:p>
        </p:txBody>
      </p:sp>
      <p:sp>
        <p:nvSpPr>
          <p:cNvPr id="5" name="Text 3"/>
          <p:cNvSpPr/>
          <p:nvPr/>
        </p:nvSpPr>
        <p:spPr>
          <a:xfrm>
            <a:off x="812800" y="366018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D0DE"/>
                </a:solidFill>
                <a:latin typeface="Arial" pitchFamily="34" charset="0"/>
                <a:ea typeface="Arial" pitchFamily="34" charset="-122"/>
                <a:cs typeface="Arial" pitchFamily="34" charset="-120"/>
              </a:rPr>
              <a:t>무엇이고, 무엇을 잘하고, 무엇을 조심해야 할까요</a:t>
            </a:r>
            <a:endParaRPr lang="en-US" sz="1800" dirty="0"/>
          </a:p>
        </p:txBody>
      </p:sp>
      <p:sp>
        <p:nvSpPr>
          <p:cNvPr id="6" name="Text 4"/>
          <p:cNvSpPr/>
          <p:nvPr/>
        </p:nvSpPr>
        <p:spPr>
          <a:xfrm>
            <a:off x="812800" y="4208760"/>
            <a:ext cx="1284188"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생성형 AI란</a:t>
            </a:r>
            <a:endParaRPr lang="en-US" sz="1400" dirty="0"/>
          </a:p>
        </p:txBody>
      </p:sp>
      <p:sp>
        <p:nvSpPr>
          <p:cNvPr id="7" name="Text 5"/>
          <p:cNvSpPr/>
          <p:nvPr/>
        </p:nvSpPr>
        <p:spPr>
          <a:xfrm>
            <a:off x="2198588" y="4208760"/>
            <a:ext cx="2034877"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잘하는 일 · 주의할 일</a:t>
            </a:r>
            <a:endParaRPr lang="en-US" sz="1400" dirty="0"/>
          </a:p>
        </p:txBody>
      </p:sp>
      <p:sp>
        <p:nvSpPr>
          <p:cNvPr id="8" name="Text 6"/>
          <p:cNvSpPr/>
          <p:nvPr/>
        </p:nvSpPr>
        <p:spPr>
          <a:xfrm>
            <a:off x="4335066" y="4208760"/>
            <a:ext cx="1116211"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주요 도구</a:t>
            </a:r>
            <a:endParaRPr lang="en-US" sz="1400" dirty="0"/>
          </a:p>
        </p:txBody>
      </p:sp>
      <p:sp>
        <p:nvSpPr>
          <p:cNvPr id="9" name="Text 7"/>
          <p:cNvSpPr/>
          <p:nvPr/>
        </p:nvSpPr>
        <p:spPr>
          <a:xfrm>
            <a:off x="5552877" y="4208760"/>
            <a:ext cx="859532" cy="401241"/>
          </a:xfrm>
          <a:prstGeom prst="roundRect">
            <a:avLst>
              <a:gd name="adj" fmla="val 50000"/>
            </a:avLst>
          </a:prstGeom>
          <a:solidFill>
            <a:srgbClr val="1F6F7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실습 1</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AI란 무엇인가</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생성형 AI는 AI 안의 가장 새로운 영역입니다</a:t>
            </a:r>
            <a:endParaRPr lang="en-US" sz="3200" dirty="0"/>
          </a:p>
        </p:txBody>
      </p:sp>
      <p:sp>
        <p:nvSpPr>
          <p:cNvPr id="4" name="Shape 2"/>
          <p:cNvSpPr/>
          <p:nvPr/>
        </p:nvSpPr>
        <p:spPr>
          <a:xfrm>
            <a:off x="819150" y="1890911"/>
            <a:ext cx="4559300" cy="2542282"/>
          </a:xfrm>
          <a:prstGeom prst="roundRect">
            <a:avLst>
              <a:gd name="adj" fmla="val 5745"/>
            </a:avLst>
          </a:prstGeom>
          <a:solidFill>
            <a:srgbClr val="E8EEF2"/>
          </a:solidFill>
          <a:ln w="12700">
            <a:solidFill>
              <a:srgbClr val="BFD0DE"/>
            </a:solidFill>
            <a:prstDash val="solid"/>
          </a:ln>
        </p:spPr>
      </p:sp>
      <p:sp>
        <p:nvSpPr>
          <p:cNvPr id="5" name="Text 3"/>
          <p:cNvSpPr/>
          <p:nvPr/>
        </p:nvSpPr>
        <p:spPr>
          <a:xfrm>
            <a:off x="977900" y="2049661"/>
            <a:ext cx="436905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4D"/>
                </a:solidFill>
                <a:latin typeface="Arial" pitchFamily="34" charset="0"/>
                <a:ea typeface="Arial" pitchFamily="34" charset="-122"/>
                <a:cs typeface="Arial" pitchFamily="34" charset="-120"/>
              </a:rPr>
              <a:t>인공지능 (AI)</a:t>
            </a:r>
            <a:endParaRPr lang="en-US" sz="1400" dirty="0"/>
          </a:p>
        </p:txBody>
      </p:sp>
      <p:sp>
        <p:nvSpPr>
          <p:cNvPr id="6" name="Shape 4"/>
          <p:cNvSpPr/>
          <p:nvPr/>
        </p:nvSpPr>
        <p:spPr>
          <a:xfrm>
            <a:off x="977900" y="2374702"/>
            <a:ext cx="4241800" cy="1899741"/>
          </a:xfrm>
          <a:prstGeom prst="roundRect">
            <a:avLst>
              <a:gd name="adj" fmla="val 6685"/>
            </a:avLst>
          </a:prstGeom>
          <a:solidFill>
            <a:srgbClr val="D3E0EA"/>
          </a:solidFill>
          <a:ln/>
        </p:spPr>
      </p:sp>
      <p:sp>
        <p:nvSpPr>
          <p:cNvPr id="7" name="Text 5"/>
          <p:cNvSpPr/>
          <p:nvPr/>
        </p:nvSpPr>
        <p:spPr>
          <a:xfrm>
            <a:off x="1130300" y="2527102"/>
            <a:ext cx="405511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4D"/>
                </a:solidFill>
                <a:latin typeface="Arial" pitchFamily="34" charset="0"/>
                <a:ea typeface="Arial" pitchFamily="34" charset="-122"/>
                <a:cs typeface="Arial" pitchFamily="34" charset="-120"/>
              </a:rPr>
              <a:t>머신러닝</a:t>
            </a:r>
            <a:endParaRPr lang="en-US" sz="1400" dirty="0"/>
          </a:p>
        </p:txBody>
      </p:sp>
      <p:sp>
        <p:nvSpPr>
          <p:cNvPr id="8" name="Shape 6"/>
          <p:cNvSpPr/>
          <p:nvPr/>
        </p:nvSpPr>
        <p:spPr>
          <a:xfrm>
            <a:off x="1130300" y="2852142"/>
            <a:ext cx="3937000" cy="1269901"/>
          </a:xfrm>
          <a:prstGeom prst="roundRect">
            <a:avLst>
              <a:gd name="adj" fmla="val 8001"/>
            </a:avLst>
          </a:prstGeom>
          <a:solidFill>
            <a:srgbClr val="3A7CA5"/>
          </a:solidFill>
          <a:ln/>
        </p:spPr>
      </p:sp>
      <p:sp>
        <p:nvSpPr>
          <p:cNvPr id="9" name="Text 7"/>
          <p:cNvSpPr/>
          <p:nvPr/>
        </p:nvSpPr>
        <p:spPr>
          <a:xfrm>
            <a:off x="1282700" y="3004542"/>
            <a:ext cx="374116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4EF"/>
                </a:solidFill>
                <a:latin typeface="Arial" pitchFamily="34" charset="0"/>
                <a:ea typeface="Arial" pitchFamily="34" charset="-122"/>
                <a:cs typeface="Arial" pitchFamily="34" charset="-120"/>
              </a:rPr>
              <a:t>딥러닝</a:t>
            </a:r>
            <a:endParaRPr lang="en-US" sz="1400" dirty="0"/>
          </a:p>
        </p:txBody>
      </p:sp>
      <p:sp>
        <p:nvSpPr>
          <p:cNvPr id="10" name="Text 8"/>
          <p:cNvSpPr/>
          <p:nvPr/>
        </p:nvSpPr>
        <p:spPr>
          <a:xfrm>
            <a:off x="1282700" y="3329583"/>
            <a:ext cx="3632200" cy="640060"/>
          </a:xfrm>
          <a:prstGeom prst="roundRect">
            <a:avLst>
              <a:gd name="adj" fmla="val 11905"/>
            </a:avLst>
          </a:prstGeom>
          <a:solidFill>
            <a:srgbClr val="12304D"/>
          </a:solidFill>
          <a:ln/>
        </p:spPr>
        <p:txBody>
          <a:bodyPr wrap="square" lIns="155482" tIns="155482" rIns="155482" bIns="130082" rtlCol="0" anchor="t">
            <a:normAutofit/>
          </a:bodyPr>
          <a:lstStyle/>
          <a:p>
            <a:pPr algn="ctr" indent="0" marL="0">
              <a:lnSpc>
                <a:spcPts val="2240"/>
              </a:lnSpc>
              <a:buNone/>
            </a:pPr>
            <a:r>
              <a:rPr lang="en-US" sz="1600" b="1" dirty="0">
                <a:solidFill>
                  <a:srgbClr val="F2A65A"/>
                </a:solidFill>
                <a:latin typeface="Arial" pitchFamily="34" charset="0"/>
                <a:ea typeface="Arial" pitchFamily="34" charset="-122"/>
                <a:cs typeface="Arial" pitchFamily="34" charset="-120"/>
              </a:rPr>
              <a:t>생성형 AI</a:t>
            </a:r>
            <a:endParaRPr lang="en-US" sz="1600" dirty="0"/>
          </a:p>
        </p:txBody>
      </p:sp>
      <p:sp>
        <p:nvSpPr>
          <p:cNvPr id="11" name="Shape 9"/>
          <p:cNvSpPr/>
          <p:nvPr/>
        </p:nvSpPr>
        <p:spPr>
          <a:xfrm>
            <a:off x="5708650" y="1937841"/>
            <a:ext cx="0" cy="516830"/>
          </a:xfrm>
          <a:prstGeom prst="line">
            <a:avLst/>
          </a:prstGeom>
          <a:noFill/>
          <a:ln w="38100">
            <a:solidFill>
              <a:srgbClr val="BFD0DE"/>
            </a:solidFill>
            <a:prstDash val="solid"/>
          </a:ln>
        </p:spPr>
      </p:sp>
      <p:sp>
        <p:nvSpPr>
          <p:cNvPr id="12" name="Text 10"/>
          <p:cNvSpPr/>
          <p:nvPr/>
        </p:nvSpPr>
        <p:spPr>
          <a:xfrm>
            <a:off x="5880100" y="1937841"/>
            <a:ext cx="566407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304D"/>
                </a:solidFill>
                <a:latin typeface="Arial" pitchFamily="34" charset="0"/>
                <a:ea typeface="Arial" pitchFamily="34" charset="-122"/>
                <a:cs typeface="Arial" pitchFamily="34" charset="-120"/>
              </a:rPr>
              <a:t>인공지능</a:t>
            </a:r>
            <a:endParaRPr lang="en-US" sz="1600" dirty="0"/>
          </a:p>
        </p:txBody>
      </p:sp>
      <p:sp>
        <p:nvSpPr>
          <p:cNvPr id="13" name="Text 11"/>
          <p:cNvSpPr/>
          <p:nvPr/>
        </p:nvSpPr>
        <p:spPr>
          <a:xfrm>
            <a:off x="5880100" y="2207022"/>
            <a:ext cx="5664073"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사람처럼 판단하고 학습하는 컴퓨터 기술 전체</a:t>
            </a:r>
            <a:endParaRPr lang="en-US" sz="1300" dirty="0"/>
          </a:p>
        </p:txBody>
      </p:sp>
      <p:sp>
        <p:nvSpPr>
          <p:cNvPr id="14" name="Shape 12"/>
          <p:cNvSpPr/>
          <p:nvPr/>
        </p:nvSpPr>
        <p:spPr>
          <a:xfrm>
            <a:off x="5708650" y="2581672"/>
            <a:ext cx="0" cy="516830"/>
          </a:xfrm>
          <a:prstGeom prst="line">
            <a:avLst/>
          </a:prstGeom>
          <a:noFill/>
          <a:ln w="38100">
            <a:solidFill>
              <a:srgbClr val="8FB0C8"/>
            </a:solidFill>
            <a:prstDash val="solid"/>
          </a:ln>
        </p:spPr>
      </p:sp>
      <p:sp>
        <p:nvSpPr>
          <p:cNvPr id="15" name="Text 13"/>
          <p:cNvSpPr/>
          <p:nvPr/>
        </p:nvSpPr>
        <p:spPr>
          <a:xfrm>
            <a:off x="5880100" y="2581672"/>
            <a:ext cx="566407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304D"/>
                </a:solidFill>
                <a:latin typeface="Arial" pitchFamily="34" charset="0"/>
                <a:ea typeface="Arial" pitchFamily="34" charset="-122"/>
                <a:cs typeface="Arial" pitchFamily="34" charset="-120"/>
              </a:rPr>
              <a:t>머신러닝</a:t>
            </a:r>
            <a:endParaRPr lang="en-US" sz="1600" dirty="0"/>
          </a:p>
        </p:txBody>
      </p:sp>
      <p:sp>
        <p:nvSpPr>
          <p:cNvPr id="16" name="Text 14"/>
          <p:cNvSpPr/>
          <p:nvPr/>
        </p:nvSpPr>
        <p:spPr>
          <a:xfrm>
            <a:off x="5880100" y="2850852"/>
            <a:ext cx="5664073"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데이터에서 규칙을 스스로 찾아냄 · 예: 스팸 메일 분류</a:t>
            </a:r>
            <a:endParaRPr lang="en-US" sz="1300" dirty="0"/>
          </a:p>
        </p:txBody>
      </p:sp>
      <p:sp>
        <p:nvSpPr>
          <p:cNvPr id="17" name="Shape 15"/>
          <p:cNvSpPr/>
          <p:nvPr/>
        </p:nvSpPr>
        <p:spPr>
          <a:xfrm>
            <a:off x="5708650" y="3225502"/>
            <a:ext cx="0" cy="516830"/>
          </a:xfrm>
          <a:prstGeom prst="line">
            <a:avLst/>
          </a:prstGeom>
          <a:noFill/>
          <a:ln w="38100">
            <a:solidFill>
              <a:srgbClr val="3A7CA5"/>
            </a:solidFill>
            <a:prstDash val="solid"/>
          </a:ln>
        </p:spPr>
      </p:sp>
      <p:sp>
        <p:nvSpPr>
          <p:cNvPr id="18" name="Text 16"/>
          <p:cNvSpPr/>
          <p:nvPr/>
        </p:nvSpPr>
        <p:spPr>
          <a:xfrm>
            <a:off x="5880100" y="3225502"/>
            <a:ext cx="566407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304D"/>
                </a:solidFill>
                <a:latin typeface="Arial" pitchFamily="34" charset="0"/>
                <a:ea typeface="Arial" pitchFamily="34" charset="-122"/>
                <a:cs typeface="Arial" pitchFamily="34" charset="-120"/>
              </a:rPr>
              <a:t>딥러닝</a:t>
            </a:r>
            <a:endParaRPr lang="en-US" sz="1600" dirty="0"/>
          </a:p>
        </p:txBody>
      </p:sp>
      <p:sp>
        <p:nvSpPr>
          <p:cNvPr id="19" name="Text 17"/>
          <p:cNvSpPr/>
          <p:nvPr/>
        </p:nvSpPr>
        <p:spPr>
          <a:xfrm>
            <a:off x="5880100" y="3494683"/>
            <a:ext cx="5664073"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사람의 신경망을 본뜬 구조로 복잡한 패턴 학습 · 예: 얼굴 인식</a:t>
            </a:r>
            <a:endParaRPr lang="en-US" sz="1300" dirty="0"/>
          </a:p>
        </p:txBody>
      </p:sp>
      <p:sp>
        <p:nvSpPr>
          <p:cNvPr id="20" name="Shape 18"/>
          <p:cNvSpPr/>
          <p:nvPr/>
        </p:nvSpPr>
        <p:spPr>
          <a:xfrm>
            <a:off x="5708650" y="3869333"/>
            <a:ext cx="0" cy="516830"/>
          </a:xfrm>
          <a:prstGeom prst="line">
            <a:avLst/>
          </a:prstGeom>
          <a:noFill/>
          <a:ln w="38100">
            <a:solidFill>
              <a:srgbClr val="A64F16"/>
            </a:solidFill>
            <a:prstDash val="solid"/>
          </a:ln>
        </p:spPr>
      </p:sp>
      <p:sp>
        <p:nvSpPr>
          <p:cNvPr id="21" name="Text 19"/>
          <p:cNvSpPr/>
          <p:nvPr/>
        </p:nvSpPr>
        <p:spPr>
          <a:xfrm>
            <a:off x="5880100" y="3869333"/>
            <a:ext cx="566407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304D"/>
                </a:solidFill>
                <a:latin typeface="Arial" pitchFamily="34" charset="0"/>
                <a:ea typeface="Arial" pitchFamily="34" charset="-122"/>
                <a:cs typeface="Arial" pitchFamily="34" charset="-120"/>
              </a:rPr>
              <a:t>생성형 AI</a:t>
            </a:r>
            <a:endParaRPr lang="en-US" sz="1600" dirty="0"/>
          </a:p>
        </p:txBody>
      </p:sp>
      <p:sp>
        <p:nvSpPr>
          <p:cNvPr id="22" name="Text 20"/>
          <p:cNvSpPr/>
          <p:nvPr/>
        </p:nvSpPr>
        <p:spPr>
          <a:xfrm>
            <a:off x="5880100" y="4138513"/>
            <a:ext cx="5664073"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배운 패턴으로 새 글·그림·코드를 만듦 · 예: ChatGPT</a:t>
            </a:r>
            <a:endParaRPr lang="en-US" sz="13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생성형 AI란</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글, 그림, 코드를 새로 만들어 내는 AI입니다</a:t>
            </a:r>
            <a:endParaRPr lang="en-US" sz="3200" dirty="0"/>
          </a:p>
        </p:txBody>
      </p:sp>
      <p:sp>
        <p:nvSpPr>
          <p:cNvPr id="4" name="Shape 2"/>
          <p:cNvSpPr/>
          <p:nvPr/>
        </p:nvSpPr>
        <p:spPr>
          <a:xfrm>
            <a:off x="815975" y="1913136"/>
            <a:ext cx="5156200" cy="2203053"/>
          </a:xfrm>
          <a:prstGeom prst="roundRect">
            <a:avLst>
              <a:gd name="adj" fmla="val 4468"/>
            </a:avLst>
          </a:prstGeom>
          <a:solidFill>
            <a:srgbClr val="FCFCFA"/>
          </a:solidFill>
          <a:ln w="6350">
            <a:solidFill>
              <a:srgbClr val="D9DDE1"/>
            </a:solidFill>
            <a:prstDash val="solid"/>
          </a:ln>
        </p:spPr>
      </p:sp>
      <p:sp>
        <p:nvSpPr>
          <p:cNvPr id="5" name="Text 3"/>
          <p:cNvSpPr/>
          <p:nvPr/>
        </p:nvSpPr>
        <p:spPr>
          <a:xfrm>
            <a:off x="1073150" y="2170311"/>
            <a:ext cx="478110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LLM (대규모 언어 모델)</a:t>
            </a:r>
            <a:endParaRPr lang="en-US" sz="1800" dirty="0"/>
          </a:p>
        </p:txBody>
      </p:sp>
      <p:sp>
        <p:nvSpPr>
          <p:cNvPr id="6" name="Text 4"/>
          <p:cNvSpPr/>
          <p:nvPr/>
        </p:nvSpPr>
        <p:spPr>
          <a:xfrm>
            <a:off x="1073150" y="2546152"/>
            <a:ext cx="4781106"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3D4A57"/>
                </a:solidFill>
                <a:latin typeface="Arial" pitchFamily="34" charset="0"/>
                <a:ea typeface="Arial" pitchFamily="34" charset="-122"/>
                <a:cs typeface="Arial" pitchFamily="34" charset="-120"/>
              </a:rPr>
              <a:t>엄청난 양의 글을 학습해서</a:t>
            </a:r>
            <a:endParaRPr lang="en-US" sz="1400" dirty="0"/>
          </a:p>
          <a:p>
            <a:pPr algn="l" indent="0" marL="0">
              <a:lnSpc>
                <a:spcPts val="2240"/>
              </a:lnSpc>
              <a:buNone/>
            </a:pPr>
            <a:r>
              <a:rPr lang="en-US" sz="1400" dirty="0">
                <a:solidFill>
                  <a:srgbClr val="3D4A57"/>
                </a:solidFill>
                <a:latin typeface="Arial" pitchFamily="34" charset="0"/>
                <a:ea typeface="Arial" pitchFamily="34" charset="-122"/>
                <a:cs typeface="Arial" pitchFamily="34" charset="-120"/>
              </a:rPr>
              <a:t>‘다음에 올 가장 그럴듯한 말’을 이어 붙여</a:t>
            </a:r>
            <a:endParaRPr lang="en-US" sz="1400" dirty="0"/>
          </a:p>
          <a:p>
            <a:pPr algn="l" indent="0" marL="0">
              <a:lnSpc>
                <a:spcPts val="2240"/>
              </a:lnSpc>
              <a:buNone/>
            </a:pPr>
            <a:r>
              <a:rPr lang="en-US" sz="1400" dirty="0">
                <a:solidFill>
                  <a:srgbClr val="3D4A57"/>
                </a:solidFill>
                <a:latin typeface="Arial" pitchFamily="34" charset="0"/>
                <a:ea typeface="Arial" pitchFamily="34" charset="-122"/>
                <a:cs typeface="Arial" pitchFamily="34" charset="-120"/>
              </a:rPr>
              <a:t>문장을 만들어 냅니다.</a:t>
            </a:r>
            <a:endParaRPr lang="en-US" sz="1400" dirty="0"/>
          </a:p>
        </p:txBody>
      </p:sp>
      <p:sp>
        <p:nvSpPr>
          <p:cNvPr id="7" name="Shape 5"/>
          <p:cNvSpPr/>
          <p:nvPr/>
        </p:nvSpPr>
        <p:spPr>
          <a:xfrm>
            <a:off x="6229350" y="1909961"/>
            <a:ext cx="5149850" cy="2209403"/>
          </a:xfrm>
          <a:prstGeom prst="roundRect">
            <a:avLst>
              <a:gd name="adj" fmla="val 4599"/>
            </a:avLst>
          </a:prstGeom>
          <a:solidFill>
            <a:srgbClr val="12304D"/>
          </a:solidFill>
          <a:ln/>
        </p:spPr>
      </p:sp>
      <p:sp>
        <p:nvSpPr>
          <p:cNvPr id="8" name="Text 6"/>
          <p:cNvSpPr/>
          <p:nvPr/>
        </p:nvSpPr>
        <p:spPr>
          <a:xfrm>
            <a:off x="6483350" y="2163961"/>
            <a:ext cx="478110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65A"/>
                </a:solidFill>
                <a:latin typeface="Arial" pitchFamily="34" charset="0"/>
                <a:ea typeface="Arial" pitchFamily="34" charset="-122"/>
                <a:cs typeface="Arial" pitchFamily="34" charset="-120"/>
              </a:rPr>
              <a:t>예: 다음 말 이어 붙이기</a:t>
            </a:r>
            <a:endParaRPr lang="en-US" sz="1800" dirty="0"/>
          </a:p>
        </p:txBody>
      </p:sp>
      <p:sp>
        <p:nvSpPr>
          <p:cNvPr id="9" name="Text 7"/>
          <p:cNvSpPr/>
          <p:nvPr/>
        </p:nvSpPr>
        <p:spPr>
          <a:xfrm>
            <a:off x="6483350" y="2565202"/>
            <a:ext cx="4781106" cy="1325563"/>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F5F4EF"/>
                </a:solidFill>
                <a:latin typeface="Arial" pitchFamily="34" charset="0"/>
                <a:ea typeface="Arial" pitchFamily="34" charset="-122"/>
                <a:cs typeface="Arial" pitchFamily="34" charset="-120"/>
              </a:rPr>
              <a:t>“오늘 회의에서 결정된 내용을”</a:t>
            </a:r>
            <a:endParaRPr lang="en-US" sz="1600" dirty="0"/>
          </a:p>
          <a:p>
            <a:pPr algn="l" indent="0" marL="0">
              <a:lnSpc>
                <a:spcPts val="2560"/>
              </a:lnSpc>
              <a:buNone/>
            </a:pPr>
            <a:r>
              <a:rPr lang="en-US" sz="1600" dirty="0">
                <a:solidFill>
                  <a:srgbClr val="F5F4EF"/>
                </a:solidFill>
                <a:latin typeface="Arial" pitchFamily="34" charset="0"/>
                <a:ea typeface="Arial" pitchFamily="34" charset="-122"/>
                <a:cs typeface="Arial" pitchFamily="34" charset="-120"/>
              </a:rPr>
              <a:t>→ 정리하면 </a:t>
            </a:r>
            <a:r>
              <a:rPr lang="en-US" sz="1600" dirty="0">
                <a:solidFill>
                  <a:srgbClr val="F2A65A"/>
                </a:solidFill>
                <a:latin typeface="Arial" pitchFamily="34" charset="0"/>
                <a:ea typeface="Arial" pitchFamily="34" charset="-122"/>
                <a:cs typeface="Arial" pitchFamily="34" charset="-120"/>
              </a:rPr>
              <a:t>(가장 그럴듯함)</a:t>
            </a:r>
            <a:endParaRPr lang="en-US" sz="1600" dirty="0"/>
          </a:p>
          <a:p>
            <a:pPr algn="l" indent="0" marL="0">
              <a:lnSpc>
                <a:spcPts val="2560"/>
              </a:lnSpc>
              <a:buNone/>
            </a:pPr>
            <a:r>
              <a:rPr lang="en-US" sz="1600" dirty="0">
                <a:solidFill>
                  <a:srgbClr val="F5F4EF"/>
                </a:solidFill>
                <a:latin typeface="Arial" pitchFamily="34" charset="0"/>
                <a:ea typeface="Arial" pitchFamily="34" charset="-122"/>
                <a:cs typeface="Arial" pitchFamily="34" charset="-120"/>
              </a:rPr>
              <a:t>→ 바탕으로 </a:t>
            </a:r>
            <a:r>
              <a:rPr lang="en-US" sz="1600" dirty="0">
                <a:solidFill>
                  <a:srgbClr val="BFD0DE"/>
                </a:solidFill>
                <a:latin typeface="Arial" pitchFamily="34" charset="0"/>
                <a:ea typeface="Arial" pitchFamily="34" charset="-122"/>
                <a:cs typeface="Arial" pitchFamily="34" charset="-120"/>
              </a:rPr>
              <a:t>(그다음)</a:t>
            </a:r>
            <a:endParaRPr lang="en-US" sz="1600" dirty="0"/>
          </a:p>
          <a:p>
            <a:pPr algn="l" indent="0" marL="0">
              <a:lnSpc>
                <a:spcPts val="2560"/>
              </a:lnSpc>
              <a:buNone/>
            </a:pPr>
            <a:r>
              <a:rPr lang="en-US" sz="1600" dirty="0">
                <a:solidFill>
                  <a:srgbClr val="F5F4EF"/>
                </a:solidFill>
                <a:latin typeface="Arial" pitchFamily="34" charset="0"/>
                <a:ea typeface="Arial" pitchFamily="34" charset="-122"/>
                <a:cs typeface="Arial" pitchFamily="34" charset="-120"/>
              </a:rPr>
              <a:t>→ 바나나 </a:t>
            </a:r>
            <a:r>
              <a:rPr lang="en-US" sz="1600" dirty="0">
                <a:solidFill>
                  <a:srgbClr val="BFD0DE"/>
                </a:solidFill>
                <a:latin typeface="Arial" pitchFamily="34" charset="0"/>
                <a:ea typeface="Arial" pitchFamily="34" charset="-122"/>
                <a:cs typeface="Arial" pitchFamily="34" charset="-120"/>
              </a:rPr>
              <a:t>(거의 없음)</a:t>
            </a:r>
            <a:endParaRPr lang="en-US" sz="1600" dirty="0"/>
          </a:p>
        </p:txBody>
      </p:sp>
      <p:sp>
        <p:nvSpPr>
          <p:cNvPr id="10" name="Text 8"/>
          <p:cNvSpPr/>
          <p:nvPr/>
        </p:nvSpPr>
        <p:spPr>
          <a:xfrm>
            <a:off x="812800" y="4424164"/>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304D"/>
                </a:solidFill>
                <a:latin typeface="Arial" pitchFamily="34" charset="0"/>
                <a:ea typeface="Arial" pitchFamily="34" charset="-122"/>
                <a:cs typeface="Arial" pitchFamily="34" charset="-120"/>
              </a:rPr>
              <a:t>그래서 말은 매끄럽지만, 내용이 항상 사실인 것은 아닙니다.</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 · LLM: Large Language Model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잘하는 일 · 주의할 일</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초안은 AI에게, 판단과 확인은 사람이</a:t>
            </a:r>
            <a:endParaRPr lang="en-US" sz="3200" dirty="0"/>
          </a:p>
        </p:txBody>
      </p:sp>
      <p:sp>
        <p:nvSpPr>
          <p:cNvPr id="4" name="Shape 2"/>
          <p:cNvSpPr/>
          <p:nvPr/>
        </p:nvSpPr>
        <p:spPr>
          <a:xfrm>
            <a:off x="815975" y="1913136"/>
            <a:ext cx="5175250" cy="2635250"/>
          </a:xfrm>
          <a:prstGeom prst="roundRect">
            <a:avLst>
              <a:gd name="adj" fmla="val 3735"/>
            </a:avLst>
          </a:prstGeom>
          <a:solidFill>
            <a:srgbClr val="FCFCFA"/>
          </a:solidFill>
          <a:ln w="6350">
            <a:solidFill>
              <a:srgbClr val="D9DDE1"/>
            </a:solidFill>
            <a:prstDash val="solid"/>
          </a:ln>
        </p:spPr>
      </p:sp>
      <p:pic>
        <p:nvPicPr>
          <p:cNvPr id="5" name="Image 0" descr="ThumbsUp">    </p:cNvPr>
          <p:cNvPicPr>
            <a:picLocks noChangeAspect="1"/>
          </p:cNvPicPr>
          <p:nvPr/>
        </p:nvPicPr>
        <p:blipFill>
          <a:blip r:embed="rId1"/>
          <a:srcRect l="0" r="0" t="0" b="0"/>
          <a:stretch/>
        </p:blipFill>
        <p:spPr>
          <a:xfrm>
            <a:off x="1073150" y="2170311"/>
            <a:ext cx="304800" cy="304800"/>
          </a:xfrm>
          <a:prstGeom prst="rect">
            <a:avLst/>
          </a:prstGeom>
        </p:spPr>
      </p:pic>
      <p:sp>
        <p:nvSpPr>
          <p:cNvPr id="6" name="Text 3"/>
          <p:cNvSpPr/>
          <p:nvPr/>
        </p:nvSpPr>
        <p:spPr>
          <a:xfrm>
            <a:off x="1479550" y="2177951"/>
            <a:ext cx="1238726"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304D"/>
                </a:solidFill>
                <a:latin typeface="Arial" pitchFamily="34" charset="0"/>
                <a:ea typeface="Arial" pitchFamily="34" charset="-122"/>
                <a:cs typeface="Arial" pitchFamily="34" charset="-120"/>
              </a:rPr>
              <a:t>잘하는 일</a:t>
            </a:r>
            <a:endParaRPr lang="en-US" sz="1900" dirty="0"/>
          </a:p>
        </p:txBody>
      </p:sp>
      <p:sp>
        <p:nvSpPr>
          <p:cNvPr id="7" name="Text 4"/>
          <p:cNvSpPr/>
          <p:nvPr/>
        </p:nvSpPr>
        <p:spPr>
          <a:xfrm>
            <a:off x="1156970" y="2576711"/>
            <a:ext cx="4709287" cy="1739900"/>
          </a:xfrm>
          <a:prstGeom prst="rect">
            <a:avLst/>
          </a:prstGeom>
          <a:noFill/>
          <a:ln/>
        </p:spPr>
        <p:txBody>
          <a:bodyPr wrap="square" lIns="0" tIns="0" rIns="0" bIns="0" rtlCol="0" anchor="t">
            <a:normAutofit/>
          </a:bodyPr>
          <a:lstStyle/>
          <a:p>
            <a:pPr algn="l" marL="170180" indent="-170180">
              <a:lnSpc>
                <a:spcPts val="2700"/>
              </a:lnSpc>
              <a:buSzPct val="100000"/>
              <a:buChar char="•"/>
            </a:pPr>
            <a:r>
              <a:rPr lang="en-US" sz="1500" dirty="0">
                <a:solidFill>
                  <a:srgbClr val="3D4A57"/>
                </a:solidFill>
                <a:latin typeface="Arial" pitchFamily="34" charset="0"/>
                <a:ea typeface="Arial" pitchFamily="34" charset="-122"/>
                <a:cs typeface="Arial" pitchFamily="34" charset="-120"/>
              </a:rPr>
              <a:t>메일·보고서·공지문 초안 작성</a:t>
            </a:r>
            <a:endParaRPr lang="en-US" sz="1500" dirty="0"/>
          </a:p>
          <a:p>
            <a:pPr algn="l" marL="170180" indent="-170180">
              <a:lnSpc>
                <a:spcPts val="2700"/>
              </a:lnSpc>
              <a:buSzPct val="100000"/>
              <a:buChar char="•"/>
            </a:pPr>
            <a:r>
              <a:rPr lang="en-US" sz="1500" dirty="0">
                <a:solidFill>
                  <a:srgbClr val="3D4A57"/>
                </a:solidFill>
                <a:latin typeface="Arial" pitchFamily="34" charset="0"/>
                <a:ea typeface="Arial" pitchFamily="34" charset="-122"/>
                <a:cs typeface="Arial" pitchFamily="34" charset="-120"/>
              </a:rPr>
              <a:t>긴 글 요약, 핵심 뽑기</a:t>
            </a:r>
            <a:endParaRPr lang="en-US" sz="1500" dirty="0"/>
          </a:p>
          <a:p>
            <a:pPr algn="l" marL="170180" indent="-170180">
              <a:lnSpc>
                <a:spcPts val="2700"/>
              </a:lnSpc>
              <a:buSzPct val="100000"/>
              <a:buChar char="•"/>
            </a:pPr>
            <a:r>
              <a:rPr lang="en-US" sz="1500" dirty="0">
                <a:solidFill>
                  <a:srgbClr val="3D4A57"/>
                </a:solidFill>
                <a:latin typeface="Arial" pitchFamily="34" charset="0"/>
                <a:ea typeface="Arial" pitchFamily="34" charset="-122"/>
                <a:cs typeface="Arial" pitchFamily="34" charset="-120"/>
              </a:rPr>
              <a:t>번역, 어조 바꾸기</a:t>
            </a:r>
            <a:endParaRPr lang="en-US" sz="1500" dirty="0"/>
          </a:p>
          <a:p>
            <a:pPr algn="l" marL="170180" indent="-170180">
              <a:lnSpc>
                <a:spcPts val="2700"/>
              </a:lnSpc>
              <a:buSzPct val="100000"/>
              <a:buChar char="•"/>
            </a:pPr>
            <a:r>
              <a:rPr lang="en-US" sz="1500" dirty="0">
                <a:solidFill>
                  <a:srgbClr val="3D4A57"/>
                </a:solidFill>
                <a:latin typeface="Arial" pitchFamily="34" charset="0"/>
                <a:ea typeface="Arial" pitchFamily="34" charset="-122"/>
                <a:cs typeface="Arial" pitchFamily="34" charset="-120"/>
              </a:rPr>
              <a:t>아이디어 내기, 목록 만들기</a:t>
            </a:r>
            <a:endParaRPr lang="en-US" sz="1500" dirty="0"/>
          </a:p>
          <a:p>
            <a:pPr algn="l" marL="170180" indent="-170180">
              <a:lnSpc>
                <a:spcPts val="2700"/>
              </a:lnSpc>
              <a:buSzPct val="100000"/>
              <a:buChar char="•"/>
            </a:pPr>
            <a:r>
              <a:rPr lang="en-US" sz="1500" dirty="0">
                <a:solidFill>
                  <a:srgbClr val="3D4A57"/>
                </a:solidFill>
                <a:latin typeface="Arial" pitchFamily="34" charset="0"/>
                <a:ea typeface="Arial" pitchFamily="34" charset="-122"/>
                <a:cs typeface="Arial" pitchFamily="34" charset="-120"/>
              </a:rPr>
              <a:t>엑셀 수식·코드 설명과 작성 도움</a:t>
            </a:r>
            <a:endParaRPr lang="en-US" sz="1500" dirty="0"/>
          </a:p>
        </p:txBody>
      </p:sp>
      <p:sp>
        <p:nvSpPr>
          <p:cNvPr id="8" name="Shape 5"/>
          <p:cNvSpPr/>
          <p:nvPr/>
        </p:nvSpPr>
        <p:spPr>
          <a:xfrm>
            <a:off x="6200775" y="1913136"/>
            <a:ext cx="5175250" cy="2635250"/>
          </a:xfrm>
          <a:prstGeom prst="roundRect">
            <a:avLst>
              <a:gd name="adj" fmla="val 3735"/>
            </a:avLst>
          </a:prstGeom>
          <a:solidFill>
            <a:srgbClr val="FCFCFA"/>
          </a:solidFill>
          <a:ln w="6350">
            <a:solidFill>
              <a:srgbClr val="D9DDE1"/>
            </a:solidFill>
            <a:prstDash val="solid"/>
          </a:ln>
        </p:spPr>
      </p:sp>
      <p:pic>
        <p:nvPicPr>
          <p:cNvPr id="9" name="Image 1" descr="Warning">    </p:cNvPr>
          <p:cNvPicPr>
            <a:picLocks noChangeAspect="1"/>
          </p:cNvPicPr>
          <p:nvPr/>
        </p:nvPicPr>
        <p:blipFill>
          <a:blip r:embed="rId2"/>
          <a:srcRect l="0" r="0" t="0" b="0"/>
          <a:stretch/>
        </p:blipFill>
        <p:spPr>
          <a:xfrm>
            <a:off x="6457950" y="2170311"/>
            <a:ext cx="304800" cy="304800"/>
          </a:xfrm>
          <a:prstGeom prst="rect">
            <a:avLst/>
          </a:prstGeom>
        </p:spPr>
      </p:pic>
      <p:sp>
        <p:nvSpPr>
          <p:cNvPr id="10" name="Text 6"/>
          <p:cNvSpPr/>
          <p:nvPr/>
        </p:nvSpPr>
        <p:spPr>
          <a:xfrm>
            <a:off x="6864350" y="2177951"/>
            <a:ext cx="1238726"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304D"/>
                </a:solidFill>
                <a:latin typeface="Arial" pitchFamily="34" charset="0"/>
                <a:ea typeface="Arial" pitchFamily="34" charset="-122"/>
                <a:cs typeface="Arial" pitchFamily="34" charset="-120"/>
              </a:rPr>
              <a:t>주의할 일</a:t>
            </a:r>
            <a:endParaRPr lang="en-US" sz="1900" dirty="0"/>
          </a:p>
        </p:txBody>
      </p:sp>
      <p:sp>
        <p:nvSpPr>
          <p:cNvPr id="11" name="Text 7"/>
          <p:cNvSpPr/>
          <p:nvPr/>
        </p:nvSpPr>
        <p:spPr>
          <a:xfrm>
            <a:off x="6541770" y="2576711"/>
            <a:ext cx="4709287" cy="1739900"/>
          </a:xfrm>
          <a:prstGeom prst="rect">
            <a:avLst/>
          </a:prstGeom>
          <a:noFill/>
          <a:ln/>
        </p:spPr>
        <p:txBody>
          <a:bodyPr wrap="square" lIns="0" tIns="0" rIns="0" bIns="0" rtlCol="0" anchor="t">
            <a:normAutofit/>
          </a:bodyPr>
          <a:lstStyle/>
          <a:p>
            <a:pPr algn="l" marL="170180" indent="-170180">
              <a:lnSpc>
                <a:spcPts val="2700"/>
              </a:lnSpc>
              <a:buSzPct val="100000"/>
              <a:buChar char="•"/>
            </a:pPr>
            <a:r>
              <a:rPr lang="en-US" sz="1500" dirty="0">
                <a:solidFill>
                  <a:srgbClr val="3D4A57"/>
                </a:solidFill>
                <a:latin typeface="Arial" pitchFamily="34" charset="0"/>
                <a:ea typeface="Arial" pitchFamily="34" charset="-122"/>
                <a:cs typeface="Arial" pitchFamily="34" charset="-120"/>
              </a:rPr>
              <a:t>틀린 사실을 그럴듯하게 말함(환각)</a:t>
            </a:r>
            <a:endParaRPr lang="en-US" sz="1500" dirty="0"/>
          </a:p>
          <a:p>
            <a:pPr algn="l" marL="170180" indent="-170180">
              <a:lnSpc>
                <a:spcPts val="2700"/>
              </a:lnSpc>
              <a:buSzPct val="100000"/>
              <a:buChar char="•"/>
            </a:pPr>
            <a:r>
              <a:rPr lang="en-US" sz="1500" dirty="0">
                <a:solidFill>
                  <a:srgbClr val="3D4A57"/>
                </a:solidFill>
                <a:latin typeface="Arial" pitchFamily="34" charset="0"/>
                <a:ea typeface="Arial" pitchFamily="34" charset="-122"/>
                <a:cs typeface="Arial" pitchFamily="34" charset="-120"/>
              </a:rPr>
              <a:t>최신 정보는 모르거나 틀릴 수 있음</a:t>
            </a:r>
            <a:endParaRPr lang="en-US" sz="1500" dirty="0"/>
          </a:p>
          <a:p>
            <a:pPr algn="l" marL="170180" indent="-170180">
              <a:lnSpc>
                <a:spcPts val="2700"/>
              </a:lnSpc>
              <a:buSzPct val="100000"/>
              <a:buChar char="•"/>
            </a:pPr>
            <a:r>
              <a:rPr lang="en-US" sz="1500" dirty="0">
                <a:solidFill>
                  <a:srgbClr val="3D4A57"/>
                </a:solidFill>
                <a:latin typeface="Arial" pitchFamily="34" charset="0"/>
                <a:ea typeface="Arial" pitchFamily="34" charset="-122"/>
                <a:cs typeface="Arial" pitchFamily="34" charset="-120"/>
              </a:rPr>
              <a:t>숫자 계산·날짜에서 실수</a:t>
            </a:r>
            <a:endParaRPr lang="en-US" sz="1500" dirty="0"/>
          </a:p>
          <a:p>
            <a:pPr algn="l" marL="170180" indent="-170180">
              <a:lnSpc>
                <a:spcPts val="2700"/>
              </a:lnSpc>
              <a:buSzPct val="100000"/>
              <a:buChar char="•"/>
            </a:pPr>
            <a:r>
              <a:rPr lang="en-US" sz="1500" dirty="0">
                <a:solidFill>
                  <a:srgbClr val="3D4A57"/>
                </a:solidFill>
                <a:latin typeface="Arial" pitchFamily="34" charset="0"/>
                <a:ea typeface="Arial" pitchFamily="34" charset="-122"/>
                <a:cs typeface="Arial" pitchFamily="34" charset="-120"/>
              </a:rPr>
              <a:t>입력한 정보가 밖으로 나갈 수 있음</a:t>
            </a:r>
            <a:endParaRPr lang="en-US" sz="1500" dirty="0"/>
          </a:p>
          <a:p>
            <a:pPr algn="l" marL="170180" indent="-170180">
              <a:lnSpc>
                <a:spcPts val="2700"/>
              </a:lnSpc>
              <a:buSzPct val="100000"/>
              <a:buChar char="•"/>
            </a:pPr>
            <a:r>
              <a:rPr lang="en-US" sz="1500" dirty="0">
                <a:solidFill>
                  <a:srgbClr val="3D4A57"/>
                </a:solidFill>
                <a:latin typeface="Arial" pitchFamily="34" charset="0"/>
                <a:ea typeface="Arial" pitchFamily="34" charset="-122"/>
                <a:cs typeface="Arial" pitchFamily="34" charset="-120"/>
              </a:rPr>
              <a:t>최종 책임은 사용한 사람에게</a:t>
            </a:r>
            <a:endParaRPr lang="en-US" sz="1500" dirty="0"/>
          </a:p>
        </p:txBody>
      </p:sp>
      <p:sp>
        <p:nvSpPr>
          <p:cNvPr id="12"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주요 도구</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대표적인 생성형 AI 서비스</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261"/>
          <a:ext cx="10553700" cy="2315766"/>
        </p:xfrm>
        <a:graphic>
          <a:graphicData uri="http://schemas.openxmlformats.org/drawingml/2006/table">
            <a:tbl>
              <a:tblPr/>
              <a:tblGrid>
                <a:gridCol w="2532888"/>
                <a:gridCol w="2110740"/>
                <a:gridCol w="5910072"/>
              </a:tblGrid>
              <a:tr h="385961">
                <a:tc>
                  <a:txBody>
                    <a:bodyPr/>
                    <a:lstStyle/>
                    <a:p>
                      <a:pPr indent="0" marL="0">
                        <a:lnSpc>
                          <a:spcPts val="1960"/>
                        </a:lnSpc>
                        <a:buNone/>
                      </a:pPr>
                      <a:r>
                        <a:rPr lang="en-US" sz="1400" b="1" dirty="0">
                          <a:solidFill>
                            <a:srgbClr val="F5F4EF"/>
                          </a:solidFill>
                          <a:latin typeface="Arial" pitchFamily="34" charset="0"/>
                          <a:ea typeface="Arial" pitchFamily="34" charset="-122"/>
                          <a:cs typeface="Arial" pitchFamily="34" charset="-120"/>
                        </a:rPr>
                        <a:t>서비스</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indent="0" marL="0">
                        <a:lnSpc>
                          <a:spcPts val="1960"/>
                        </a:lnSpc>
                        <a:buNone/>
                      </a:pPr>
                      <a:r>
                        <a:rPr lang="en-US" sz="1400" b="1" dirty="0">
                          <a:solidFill>
                            <a:srgbClr val="F5F4EF"/>
                          </a:solidFill>
                          <a:latin typeface="Arial" pitchFamily="34" charset="0"/>
                          <a:ea typeface="Arial" pitchFamily="34" charset="-122"/>
                          <a:cs typeface="Arial" pitchFamily="34" charset="-120"/>
                        </a:rPr>
                        <a:t>만든 곳</a:t>
                      </a:r>
                      <a:endParaRPr lang="en-US" sz="1400" dirty="0">
                        <a:latin typeface="Arial" charset="0"/>
                        <a:ea typeface="Arial" charset="0"/>
                        <a:cs typeface="Arial" charset="0"/>
                      </a:endParaRPr>
                    </a:p>
                  </a:txBody>
                  <a:tcPr marL="62230" marR="62230" marT="62230" marB="6223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indent="0" marL="0">
                        <a:lnSpc>
                          <a:spcPts val="1960"/>
                        </a:lnSpc>
                        <a:buNone/>
                      </a:pPr>
                      <a:r>
                        <a:rPr lang="en-US" sz="1400" b="1" dirty="0">
                          <a:solidFill>
                            <a:srgbClr val="F5F4EF"/>
                          </a:solidFill>
                          <a:latin typeface="Arial" pitchFamily="34" charset="0"/>
                          <a:ea typeface="Arial" pitchFamily="34" charset="-122"/>
                          <a:cs typeface="Arial" pitchFamily="34" charset="-120"/>
                        </a:rPr>
                        <a:t>대표적인 쓰임</a:t>
                      </a:r>
                      <a:endParaRPr lang="en-US" sz="1400" dirty="0">
                        <a:latin typeface="Arial" charset="0"/>
                        <a:ea typeface="Arial" charset="0"/>
                        <a:cs typeface="Arial" charset="0"/>
                      </a:endParaRPr>
                    </a:p>
                  </a:txBody>
                  <a:tcPr marL="62230" marR="62230" marT="62230" marB="6223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r>
              <a:tr h="385961">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ChatGPT</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OpenAI</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대화형 질의응답, 글쓰기, 파일 분석</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Gemini</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Google</a:t>
                      </a:r>
                      <a:endParaRPr lang="en-US" sz="1400" dirty="0">
                        <a:latin typeface="Arial" charset="0"/>
                        <a:ea typeface="Arial" charset="0"/>
                        <a:cs typeface="Arial" charset="0"/>
                      </a:endParaRPr>
                    </a:p>
                  </a:txBody>
                  <a:tcPr marL="62230" marR="62230" marT="62230" marB="6223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Gmail·문서 등 Google 서비스와 연동</a:t>
                      </a:r>
                      <a:endParaRPr lang="en-US" sz="1400" dirty="0">
                        <a:latin typeface="Arial" charset="0"/>
                        <a:ea typeface="Arial" charset="0"/>
                        <a:cs typeface="Arial" charset="0"/>
                      </a:endParaRPr>
                    </a:p>
                  </a:txBody>
                  <a:tcPr marL="62230" marR="62230" marT="62230" marB="6223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r h="385961">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Claude</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Anthropic</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긴 문서 읽기, 글쓰기, 코딩 도움</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Microsoft Copilot</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Microsoft</a:t>
                      </a:r>
                      <a:endParaRPr lang="en-US" sz="1400" dirty="0">
                        <a:latin typeface="Arial" charset="0"/>
                        <a:ea typeface="Arial" charset="0"/>
                        <a:cs typeface="Arial" charset="0"/>
                      </a:endParaRPr>
                    </a:p>
                  </a:txBody>
                  <a:tcPr marL="62230" marR="62230" marT="62230" marB="6223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웹 검색 결합, Word·Excel 등 Office와 연동</a:t>
                      </a:r>
                      <a:endParaRPr lang="en-US" sz="1400" dirty="0">
                        <a:latin typeface="Arial" charset="0"/>
                        <a:ea typeface="Arial" charset="0"/>
                        <a:cs typeface="Arial" charset="0"/>
                      </a:endParaRPr>
                    </a:p>
                  </a:txBody>
                  <a:tcPr marL="62230" marR="62230" marT="62230" marB="6223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r h="385961">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CLOVA X</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네이버</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국내 서비스, 한국어 정보</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800" y="4492427"/>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7"/>
                </a:solidFill>
                <a:latin typeface="Arial" pitchFamily="34" charset="0"/>
                <a:ea typeface="Arial" pitchFamily="34" charset="-122"/>
                <a:cs typeface="Arial" pitchFamily="34" charset="-120"/>
              </a:rPr>
              <a:t>오늘 실습은 </a:t>
            </a:r>
            <a:r>
              <a:rPr lang="en-US" sz="1500" b="1" dirty="0">
                <a:solidFill>
                  <a:srgbClr val="12304D"/>
                </a:solidFill>
                <a:latin typeface="Arial" pitchFamily="34" charset="0"/>
                <a:ea typeface="Arial" pitchFamily="34" charset="-122"/>
                <a:cs typeface="Arial" pitchFamily="34" charset="-120"/>
              </a:rPr>
              <a:t>무료 버전 하나</a:t>
            </a:r>
            <a:r>
              <a:rPr lang="en-US" sz="1500" dirty="0">
                <a:solidFill>
                  <a:srgbClr val="3D4A57"/>
                </a:solidFill>
                <a:latin typeface="Arial" pitchFamily="34" charset="0"/>
                <a:ea typeface="Arial" pitchFamily="34" charset="-122"/>
                <a:cs typeface="Arial" pitchFamily="34" charset="-120"/>
              </a:rPr>
              <a:t>로 충분합니다. 기능과 사용 한도는 서비스마다 다르고 자주 바뀝니다.</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 · 2026년 10월 기준 · 서비스 내용은 수업 전 확인</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8EEF2"/>
        </a:solidFill>
      </p:bgPr>
    </p:bg>
    <p:spTree>
      <p:nvGrpSpPr>
        <p:cNvPr id="1" name=""/>
        <p:cNvGrpSpPr/>
        <p:nvPr/>
      </p:nvGrpSpPr>
      <p:grpSpPr>
        <a:xfrm>
          <a:off x="0" y="0"/>
          <a:ext cx="0" cy="0"/>
          <a:chOff x="0" y="0"/>
          <a:chExt cx="0" cy="0"/>
        </a:xfrm>
      </p:grpSpPr>
      <p:sp>
        <p:nvSpPr>
          <p:cNvPr id="2" name="Text 0"/>
          <p:cNvSpPr/>
          <p:nvPr/>
        </p:nvSpPr>
        <p:spPr>
          <a:xfrm>
            <a:off x="812800" y="812800"/>
            <a:ext cx="1342330" cy="350441"/>
          </a:xfrm>
          <a:prstGeom prst="roundRect">
            <a:avLst>
              <a:gd name="adj" fmla="val 50000"/>
            </a:avLst>
          </a:prstGeom>
          <a:solidFill>
            <a:srgbClr val="1F6F78"/>
          </a:solidFill>
          <a:ln/>
        </p:spPr>
        <p:txBody>
          <a:bodyPr wrap="none" lIns="0" tIns="0" rIns="0" bIns="0" rtlCol="0" anchor="ctr">
            <a:normAutofit/>
          </a:bodyPr>
          <a:lstStyle/>
          <a:p>
            <a:pPr algn="ctr" indent="0" marL="0">
              <a:lnSpc>
                <a:spcPts val="1960"/>
              </a:lnSpc>
              <a:buNone/>
            </a:pPr>
            <a:r>
              <a:rPr lang="en-US" sz="1400" b="1" dirty="0">
                <a:solidFill>
                  <a:srgbClr val="F5F4EF"/>
                </a:solidFill>
                <a:latin typeface="Arial" pitchFamily="34" charset="0"/>
                <a:ea typeface="Arial" pitchFamily="34" charset="-122"/>
                <a:cs typeface="Arial" pitchFamily="34" charset="-120"/>
              </a:rPr>
              <a:t>실습 1 · 25분</a:t>
            </a:r>
            <a:endParaRPr lang="en-US" sz="1400" dirty="0"/>
          </a:p>
        </p:txBody>
      </p:sp>
      <p:sp>
        <p:nvSpPr>
          <p:cNvPr id="3" name="Text 1"/>
          <p:cNvSpPr/>
          <p:nvPr>
            <p:ph type="title"/>
          </p:nvPr>
        </p:nvSpPr>
        <p:spPr>
          <a:xfrm>
            <a:off x="812800" y="1264841"/>
            <a:ext cx="8155067"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생성형 AI와 첫 대화: 자기소개 다듬기</a:t>
            </a:r>
            <a:endParaRPr lang="en-US" sz="3200" dirty="0"/>
          </a:p>
        </p:txBody>
      </p:sp>
      <p:sp>
        <p:nvSpPr>
          <p:cNvPr id="4" name="Shape 2"/>
          <p:cNvSpPr/>
          <p:nvPr/>
        </p:nvSpPr>
        <p:spPr>
          <a:xfrm>
            <a:off x="812800" y="2011561"/>
            <a:ext cx="4064000" cy="609600"/>
          </a:xfrm>
          <a:prstGeom prst="roundRect">
            <a:avLst>
              <a:gd name="adj" fmla="val 16667"/>
            </a:avLst>
          </a:prstGeom>
          <a:solidFill>
            <a:srgbClr val="FCFCFA"/>
          </a:solidFill>
          <a:ln/>
        </p:spPr>
      </p:sp>
      <p:sp>
        <p:nvSpPr>
          <p:cNvPr id="5" name="Text 3"/>
          <p:cNvSpPr/>
          <p:nvPr/>
        </p:nvSpPr>
        <p:spPr>
          <a:xfrm>
            <a:off x="990600" y="2138561"/>
            <a:ext cx="22026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6F78"/>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1287066" y="2191941"/>
            <a:ext cx="301085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304D"/>
                </a:solidFill>
                <a:latin typeface="Arial" pitchFamily="34" charset="0"/>
                <a:ea typeface="Arial" pitchFamily="34" charset="-122"/>
                <a:cs typeface="Arial" pitchFamily="34" charset="-120"/>
              </a:rPr>
              <a:t>생성형 AI 서비스에 접속·로그인</a:t>
            </a:r>
            <a:endParaRPr lang="en-US" sz="1400" dirty="0"/>
          </a:p>
        </p:txBody>
      </p:sp>
      <p:sp>
        <p:nvSpPr>
          <p:cNvPr id="7" name="Shape 5"/>
          <p:cNvSpPr/>
          <p:nvPr/>
        </p:nvSpPr>
        <p:spPr>
          <a:xfrm>
            <a:off x="812800" y="2722761"/>
            <a:ext cx="4064000" cy="609600"/>
          </a:xfrm>
          <a:prstGeom prst="roundRect">
            <a:avLst>
              <a:gd name="adj" fmla="val 16667"/>
            </a:avLst>
          </a:prstGeom>
          <a:solidFill>
            <a:srgbClr val="FCFCFA"/>
          </a:solidFill>
          <a:ln/>
        </p:spPr>
      </p:sp>
      <p:sp>
        <p:nvSpPr>
          <p:cNvPr id="8" name="Text 6"/>
          <p:cNvSpPr/>
          <p:nvPr/>
        </p:nvSpPr>
        <p:spPr>
          <a:xfrm>
            <a:off x="990600" y="2849761"/>
            <a:ext cx="22026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6F78"/>
                </a:solidFill>
                <a:latin typeface="Arial" pitchFamily="34" charset="0"/>
                <a:ea typeface="Arial" pitchFamily="34" charset="-122"/>
                <a:cs typeface="Arial" pitchFamily="34" charset="-120"/>
              </a:rPr>
              <a:t>2</a:t>
            </a:r>
            <a:endParaRPr lang="en-US" sz="2000" dirty="0"/>
          </a:p>
        </p:txBody>
      </p:sp>
      <p:sp>
        <p:nvSpPr>
          <p:cNvPr id="9" name="Text 7"/>
          <p:cNvSpPr/>
          <p:nvPr/>
        </p:nvSpPr>
        <p:spPr>
          <a:xfrm>
            <a:off x="1287066" y="2903141"/>
            <a:ext cx="326862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304D"/>
                </a:solidFill>
                <a:latin typeface="Arial" pitchFamily="34" charset="0"/>
                <a:ea typeface="Arial" pitchFamily="34" charset="-122"/>
                <a:cs typeface="Arial" pitchFamily="34" charset="-120"/>
              </a:rPr>
              <a:t>오른쪽 프롬프트의 ○○를 채워 입력</a:t>
            </a:r>
            <a:endParaRPr lang="en-US" sz="1400" dirty="0"/>
          </a:p>
        </p:txBody>
      </p:sp>
      <p:sp>
        <p:nvSpPr>
          <p:cNvPr id="10" name="Shape 8"/>
          <p:cNvSpPr/>
          <p:nvPr/>
        </p:nvSpPr>
        <p:spPr>
          <a:xfrm>
            <a:off x="812800" y="3433961"/>
            <a:ext cx="4064000" cy="609600"/>
          </a:xfrm>
          <a:prstGeom prst="roundRect">
            <a:avLst>
              <a:gd name="adj" fmla="val 16667"/>
            </a:avLst>
          </a:prstGeom>
          <a:solidFill>
            <a:srgbClr val="FCFCFA"/>
          </a:solidFill>
          <a:ln/>
        </p:spPr>
      </p:sp>
      <p:sp>
        <p:nvSpPr>
          <p:cNvPr id="11" name="Text 9"/>
          <p:cNvSpPr/>
          <p:nvPr/>
        </p:nvSpPr>
        <p:spPr>
          <a:xfrm>
            <a:off x="990600" y="3560961"/>
            <a:ext cx="22026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6F78"/>
                </a:solidFill>
                <a:latin typeface="Arial" pitchFamily="34" charset="0"/>
                <a:ea typeface="Arial" pitchFamily="34" charset="-122"/>
                <a:cs typeface="Arial" pitchFamily="34" charset="-120"/>
              </a:rPr>
              <a:t>3</a:t>
            </a:r>
            <a:endParaRPr lang="en-US" sz="2000" dirty="0"/>
          </a:p>
        </p:txBody>
      </p:sp>
      <p:sp>
        <p:nvSpPr>
          <p:cNvPr id="12" name="Text 10"/>
          <p:cNvSpPr/>
          <p:nvPr/>
        </p:nvSpPr>
        <p:spPr>
          <a:xfrm>
            <a:off x="1287066" y="3614341"/>
            <a:ext cx="358973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304D"/>
                </a:solidFill>
                <a:latin typeface="Arial" pitchFamily="34" charset="0"/>
                <a:ea typeface="Arial" pitchFamily="34" charset="-122"/>
                <a:cs typeface="Arial" pitchFamily="34" charset="-120"/>
              </a:rPr>
              <a:t>“더 짧게”, “더 친근하게”로 한 번 더 요청</a:t>
            </a:r>
            <a:endParaRPr lang="en-US" sz="1400" dirty="0"/>
          </a:p>
        </p:txBody>
      </p:sp>
      <p:sp>
        <p:nvSpPr>
          <p:cNvPr id="13" name="Shape 11"/>
          <p:cNvSpPr/>
          <p:nvPr/>
        </p:nvSpPr>
        <p:spPr>
          <a:xfrm>
            <a:off x="812800" y="4145161"/>
            <a:ext cx="4064000" cy="609600"/>
          </a:xfrm>
          <a:prstGeom prst="roundRect">
            <a:avLst>
              <a:gd name="adj" fmla="val 16667"/>
            </a:avLst>
          </a:prstGeom>
          <a:solidFill>
            <a:srgbClr val="FCFCFA"/>
          </a:solidFill>
          <a:ln/>
        </p:spPr>
      </p:sp>
      <p:sp>
        <p:nvSpPr>
          <p:cNvPr id="14" name="Text 12"/>
          <p:cNvSpPr/>
          <p:nvPr/>
        </p:nvSpPr>
        <p:spPr>
          <a:xfrm>
            <a:off x="990600" y="4272161"/>
            <a:ext cx="22026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6F78"/>
                </a:solidFill>
                <a:latin typeface="Arial" pitchFamily="34" charset="0"/>
                <a:ea typeface="Arial" pitchFamily="34" charset="-122"/>
                <a:cs typeface="Arial" pitchFamily="34" charset="-120"/>
              </a:rPr>
              <a:t>4</a:t>
            </a:r>
            <a:endParaRPr lang="en-US" sz="2000" dirty="0"/>
          </a:p>
        </p:txBody>
      </p:sp>
      <p:sp>
        <p:nvSpPr>
          <p:cNvPr id="15" name="Text 13"/>
          <p:cNvSpPr/>
          <p:nvPr/>
        </p:nvSpPr>
        <p:spPr>
          <a:xfrm>
            <a:off x="1287066" y="4325541"/>
            <a:ext cx="349686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304D"/>
                </a:solidFill>
                <a:latin typeface="Arial" pitchFamily="34" charset="0"/>
                <a:ea typeface="Arial" pitchFamily="34" charset="-122"/>
                <a:cs typeface="Arial" pitchFamily="34" charset="-120"/>
              </a:rPr>
              <a:t>마음에 드는 버전을 실습 문서에 저장</a:t>
            </a:r>
            <a:endParaRPr lang="en-US" sz="1400" dirty="0"/>
          </a:p>
        </p:txBody>
      </p:sp>
      <p:sp>
        <p:nvSpPr>
          <p:cNvPr id="16" name="Shape 14"/>
          <p:cNvSpPr/>
          <p:nvPr/>
        </p:nvSpPr>
        <p:spPr>
          <a:xfrm>
            <a:off x="5130800" y="2011561"/>
            <a:ext cx="6248400" cy="2743200"/>
          </a:xfrm>
          <a:prstGeom prst="roundRect">
            <a:avLst>
              <a:gd name="adj" fmla="val 3704"/>
            </a:avLst>
          </a:prstGeom>
          <a:solidFill>
            <a:srgbClr val="12304D"/>
          </a:solidFill>
          <a:ln/>
        </p:spPr>
      </p:sp>
      <p:sp>
        <p:nvSpPr>
          <p:cNvPr id="17" name="Text 15"/>
          <p:cNvSpPr/>
          <p:nvPr/>
        </p:nvSpPr>
        <p:spPr>
          <a:xfrm>
            <a:off x="5384800" y="2265561"/>
            <a:ext cx="59126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Arial" pitchFamily="34" charset="0"/>
                <a:ea typeface="Arial" pitchFamily="34" charset="-122"/>
                <a:cs typeface="Arial" pitchFamily="34" charset="-120"/>
              </a:rPr>
              <a:t>프롬프트</a:t>
            </a:r>
            <a:endParaRPr lang="en-US" sz="1300" dirty="0"/>
          </a:p>
        </p:txBody>
      </p:sp>
      <p:sp>
        <p:nvSpPr>
          <p:cNvPr id="18" name="Text 16"/>
          <p:cNvSpPr/>
          <p:nvPr/>
        </p:nvSpPr>
        <p:spPr>
          <a:xfrm>
            <a:off x="5384800" y="2598241"/>
            <a:ext cx="5912612" cy="1838722"/>
          </a:xfrm>
          <a:prstGeom prst="rect">
            <a:avLst/>
          </a:prstGeom>
          <a:noFill/>
          <a:ln/>
        </p:spPr>
        <p:txBody>
          <a:bodyPr wrap="square" lIns="0" tIns="0" rIns="0" bIns="0" rtlCol="0" anchor="t">
            <a:normAutofit/>
          </a:bodyPr>
          <a:lstStyle/>
          <a:p>
            <a:pPr algn="l" indent="0" marL="0">
              <a:lnSpc>
                <a:spcPts val="2380"/>
              </a:lnSpc>
              <a:buNone/>
            </a:pPr>
            <a:r>
              <a:rPr lang="en-US" sz="1400" dirty="0">
                <a:solidFill>
                  <a:srgbClr val="F5F4EF"/>
                </a:solidFill>
                <a:latin typeface="Arial" pitchFamily="34" charset="0"/>
                <a:ea typeface="Arial" pitchFamily="34" charset="-122"/>
                <a:cs typeface="Arial" pitchFamily="34" charset="-120"/>
              </a:rPr>
              <a:t>나는 오늘 AI·데이터 분석 과정에 입학한 훈련생이야. 아래 메모를 바탕으로 동기들 앞에서 30초 동안 말할 자기소개를 써 줘.</a:t>
            </a:r>
            <a:endParaRPr lang="en-US" sz="1400" dirty="0"/>
          </a:p>
          <a:p>
            <a:pPr algn="l" indent="0" marL="0">
              <a:lnSpc>
                <a:spcPts val="2380"/>
              </a:lnSpc>
              <a:buNone/>
            </a:pPr>
            <a:r>
              <a:rPr lang="en-US" sz="1400" dirty="0">
                <a:solidFill>
                  <a:srgbClr val="F5F4EF"/>
                </a:solidFill>
                <a:latin typeface="Arial" pitchFamily="34" charset="0"/>
                <a:ea typeface="Arial" pitchFamily="34" charset="-122"/>
                <a:cs typeface="Arial" pitchFamily="34" charset="-120"/>
              </a:rPr>
              <a:t>· 이름: ○○○</a:t>
            </a:r>
            <a:endParaRPr lang="en-US" sz="1400" dirty="0"/>
          </a:p>
          <a:p>
            <a:pPr algn="l" indent="0" marL="0">
              <a:lnSpc>
                <a:spcPts val="2380"/>
              </a:lnSpc>
              <a:buNone/>
            </a:pPr>
            <a:r>
              <a:rPr lang="en-US" sz="1400" dirty="0">
                <a:solidFill>
                  <a:srgbClr val="F5F4EF"/>
                </a:solidFill>
                <a:latin typeface="Arial" pitchFamily="34" charset="0"/>
                <a:ea typeface="Arial" pitchFamily="34" charset="-122"/>
                <a:cs typeface="Arial" pitchFamily="34" charset="-120"/>
              </a:rPr>
              <a:t>· 관심 분야: ○○</a:t>
            </a:r>
            <a:endParaRPr lang="en-US" sz="1400" dirty="0"/>
          </a:p>
          <a:p>
            <a:pPr algn="l" indent="0" marL="0">
              <a:lnSpc>
                <a:spcPts val="2380"/>
              </a:lnSpc>
              <a:buNone/>
            </a:pPr>
            <a:r>
              <a:rPr lang="en-US" sz="1400" dirty="0">
                <a:solidFill>
                  <a:srgbClr val="F5F4EF"/>
                </a:solidFill>
                <a:latin typeface="Arial" pitchFamily="34" charset="0"/>
                <a:ea typeface="Arial" pitchFamily="34" charset="-122"/>
                <a:cs typeface="Arial" pitchFamily="34" charset="-120"/>
              </a:rPr>
              <a:t>· 이 과정에서 이루고 싶은 것: ○○</a:t>
            </a:r>
            <a:endParaRPr lang="en-US" sz="1400" dirty="0"/>
          </a:p>
          <a:p>
            <a:pPr algn="l" indent="0" marL="0">
              <a:lnSpc>
                <a:spcPts val="2380"/>
              </a:lnSpc>
              <a:buNone/>
            </a:pPr>
            <a:r>
              <a:rPr lang="en-US" sz="1400" dirty="0">
                <a:solidFill>
                  <a:srgbClr val="F5F4EF"/>
                </a:solidFill>
                <a:latin typeface="Arial" pitchFamily="34" charset="0"/>
                <a:ea typeface="Arial" pitchFamily="34" charset="-122"/>
                <a:cs typeface="Arial" pitchFamily="34" charset="-120"/>
              </a:rPr>
              <a:t>· 취미: ○○</a:t>
            </a:r>
            <a:endParaRPr lang="en-US" sz="1400" dirty="0"/>
          </a:p>
        </p:txBody>
      </p:sp>
      <p:sp>
        <p:nvSpPr>
          <p:cNvPr id="19" name="Text 17"/>
          <p:cNvSpPr/>
          <p:nvPr/>
        </p:nvSpPr>
        <p:spPr>
          <a:xfrm>
            <a:off x="812800" y="503416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4D"/>
                </a:solidFill>
                <a:latin typeface="Arial" pitchFamily="34" charset="0"/>
                <a:ea typeface="Arial" pitchFamily="34" charset="-122"/>
                <a:cs typeface="Arial" pitchFamily="34" charset="-120"/>
              </a:rPr>
              <a:t>확인 포인트 · 내가 쓰지 않은 내용을 AI가 지어내지는 않았나요?</a:t>
            </a:r>
            <a:endParaRPr lang="en-US" sz="14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304D"/>
        </a:solidFill>
      </p:bgPr>
    </p:bg>
    <p:spTree>
      <p:nvGrpSpPr>
        <p:cNvPr id="1" name=""/>
        <p:cNvGrpSpPr/>
        <p:nvPr/>
      </p:nvGrpSpPr>
      <p:grpSpPr>
        <a:xfrm>
          <a:off x="0" y="0"/>
          <a:ext cx="0" cy="0"/>
          <a:chOff x="0" y="0"/>
          <a:chExt cx="0" cy="0"/>
        </a:xfrm>
      </p:grpSpPr>
      <p:sp>
        <p:nvSpPr>
          <p:cNvPr id="2" name="Text 0"/>
          <p:cNvSpPr/>
          <p:nvPr/>
        </p:nvSpPr>
        <p:spPr>
          <a:xfrm>
            <a:off x="6800850" y="1270000"/>
            <a:ext cx="4578350" cy="2565400"/>
          </a:xfrm>
          <a:prstGeom prst="rect">
            <a:avLst/>
          </a:prstGeom>
          <a:noFill/>
          <a:ln/>
        </p:spPr>
        <p:txBody>
          <a:bodyPr wrap="square" lIns="0" tIns="0" rIns="0" bIns="0" rtlCol="0" anchor="t">
            <a:normAutofit/>
          </a:bodyPr>
          <a:lstStyle/>
          <a:p>
            <a:pPr algn="r" indent="0" marL="0">
              <a:lnSpc>
                <a:spcPts val="20000"/>
              </a:lnSpc>
              <a:buNone/>
            </a:pPr>
            <a:r>
              <a:rPr lang="en-US" sz="20000" b="1" dirty="0">
                <a:solidFill>
                  <a:srgbClr val="1C3F62"/>
                </a:solidFill>
                <a:latin typeface="Arial" pitchFamily="34" charset="0"/>
                <a:ea typeface="Arial" pitchFamily="34" charset="-122"/>
                <a:cs typeface="Arial" pitchFamily="34" charset="-120"/>
              </a:rPr>
              <a:t>03</a:t>
            </a:r>
            <a:endParaRPr lang="en-US" sz="20000" dirty="0"/>
          </a:p>
        </p:txBody>
      </p:sp>
      <p:sp>
        <p:nvSpPr>
          <p:cNvPr id="3" name="Text 1"/>
          <p:cNvSpPr/>
          <p:nvPr/>
        </p:nvSpPr>
        <p:spPr>
          <a:xfrm>
            <a:off x="812800" y="224799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A65A"/>
                </a:solidFill>
                <a:latin typeface="Arial" pitchFamily="34" charset="0"/>
                <a:ea typeface="Arial" pitchFamily="34" charset="-122"/>
                <a:cs typeface="Arial" pitchFamily="34" charset="-120"/>
              </a:rPr>
              <a:t>3교시 · 50분</a:t>
            </a:r>
            <a:endParaRPr lang="en-US" sz="1600" dirty="0"/>
          </a:p>
        </p:txBody>
      </p:sp>
      <p:sp>
        <p:nvSpPr>
          <p:cNvPr id="4" name="Text 2"/>
          <p:cNvSpPr/>
          <p:nvPr>
            <p:ph type="title"/>
          </p:nvPr>
        </p:nvSpPr>
        <p:spPr>
          <a:xfrm>
            <a:off x="812800" y="2761059"/>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4EF"/>
                </a:solidFill>
                <a:latin typeface="Arial" pitchFamily="34" charset="0"/>
                <a:ea typeface="Arial" pitchFamily="34" charset="-122"/>
                <a:cs typeface="Arial" pitchFamily="34" charset="-120"/>
              </a:rPr>
              <a:t>프롬프트 작성법</a:t>
            </a:r>
            <a:endParaRPr lang="en-US" sz="4800" dirty="0"/>
          </a:p>
        </p:txBody>
      </p:sp>
      <p:sp>
        <p:nvSpPr>
          <p:cNvPr id="5" name="Text 3"/>
          <p:cNvSpPr/>
          <p:nvPr/>
        </p:nvSpPr>
        <p:spPr>
          <a:xfrm>
            <a:off x="812800" y="366018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D0DE"/>
                </a:solidFill>
                <a:latin typeface="Arial" pitchFamily="34" charset="0"/>
                <a:ea typeface="Arial" pitchFamily="34" charset="-122"/>
                <a:cs typeface="Arial" pitchFamily="34" charset="-120"/>
              </a:rPr>
              <a:t>같은 AI라도 묻는 방법에 따라 결과가 달라집니다</a:t>
            </a:r>
            <a:endParaRPr lang="en-US" sz="1800" dirty="0"/>
          </a:p>
        </p:txBody>
      </p:sp>
      <p:sp>
        <p:nvSpPr>
          <p:cNvPr id="6" name="Text 4"/>
          <p:cNvSpPr/>
          <p:nvPr/>
        </p:nvSpPr>
        <p:spPr>
          <a:xfrm>
            <a:off x="812800" y="4208760"/>
            <a:ext cx="1975743"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좋은 프롬프트 5요소</a:t>
            </a:r>
            <a:endParaRPr lang="en-US" sz="1400" dirty="0"/>
          </a:p>
        </p:txBody>
      </p:sp>
      <p:sp>
        <p:nvSpPr>
          <p:cNvPr id="7" name="Text 5"/>
          <p:cNvSpPr/>
          <p:nvPr/>
        </p:nvSpPr>
        <p:spPr>
          <a:xfrm>
            <a:off x="2890143" y="4208760"/>
            <a:ext cx="1679277"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나쁜 예 · 좋은 예</a:t>
            </a:r>
            <a:endParaRPr lang="en-US" sz="1400" dirty="0"/>
          </a:p>
        </p:txBody>
      </p:sp>
      <p:sp>
        <p:nvSpPr>
          <p:cNvPr id="8" name="Text 6"/>
          <p:cNvSpPr/>
          <p:nvPr/>
        </p:nvSpPr>
        <p:spPr>
          <a:xfrm>
            <a:off x="4671020" y="4208760"/>
            <a:ext cx="1471811"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대화로 다듬기</a:t>
            </a:r>
            <a:endParaRPr lang="en-US" sz="1400" dirty="0"/>
          </a:p>
        </p:txBody>
      </p:sp>
      <p:sp>
        <p:nvSpPr>
          <p:cNvPr id="9" name="Text 7"/>
          <p:cNvSpPr/>
          <p:nvPr/>
        </p:nvSpPr>
        <p:spPr>
          <a:xfrm>
            <a:off x="6244431" y="4208760"/>
            <a:ext cx="859532" cy="401241"/>
          </a:xfrm>
          <a:prstGeom prst="roundRect">
            <a:avLst>
              <a:gd name="adj" fmla="val 50000"/>
            </a:avLst>
          </a:prstGeom>
          <a:solidFill>
            <a:srgbClr val="1F6F7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실습 2</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좋은 프롬프트 5요소</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AI에게도 업무 지시처럼 말해 주세요</a:t>
            </a:r>
            <a:endParaRPr lang="en-US" sz="3200" dirty="0"/>
          </a:p>
        </p:txBody>
      </p:sp>
      <p:sp>
        <p:nvSpPr>
          <p:cNvPr id="4" name="Shape 2"/>
          <p:cNvSpPr/>
          <p:nvPr/>
        </p:nvSpPr>
        <p:spPr>
          <a:xfrm>
            <a:off x="815975" y="1887736"/>
            <a:ext cx="2005310" cy="1884561"/>
          </a:xfrm>
          <a:prstGeom prst="roundRect">
            <a:avLst>
              <a:gd name="adj" fmla="val 5223"/>
            </a:avLst>
          </a:prstGeom>
          <a:solidFill>
            <a:srgbClr val="FCFCFA"/>
          </a:solidFill>
          <a:ln w="6350">
            <a:solidFill>
              <a:srgbClr val="D9DDE1"/>
            </a:solidFill>
            <a:prstDash val="solid"/>
          </a:ln>
        </p:spPr>
      </p:sp>
      <p:sp>
        <p:nvSpPr>
          <p:cNvPr id="5" name="Text 3"/>
          <p:cNvSpPr/>
          <p:nvPr/>
        </p:nvSpPr>
        <p:spPr>
          <a:xfrm>
            <a:off x="996950" y="2094111"/>
            <a:ext cx="169416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01</a:t>
            </a:r>
            <a:endParaRPr lang="en-US" sz="1400" dirty="0"/>
          </a:p>
        </p:txBody>
      </p:sp>
      <p:sp>
        <p:nvSpPr>
          <p:cNvPr id="6" name="Text 4"/>
          <p:cNvSpPr/>
          <p:nvPr/>
        </p:nvSpPr>
        <p:spPr>
          <a:xfrm>
            <a:off x="996950" y="2419152"/>
            <a:ext cx="169416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304D"/>
                </a:solidFill>
                <a:latin typeface="Arial" pitchFamily="34" charset="0"/>
                <a:ea typeface="Arial" pitchFamily="34" charset="-122"/>
                <a:cs typeface="Arial" pitchFamily="34" charset="-120"/>
              </a:rPr>
              <a:t>역할</a:t>
            </a:r>
            <a:endParaRPr lang="en-US" sz="1900" dirty="0"/>
          </a:p>
        </p:txBody>
      </p:sp>
      <p:sp>
        <p:nvSpPr>
          <p:cNvPr id="7" name="Text 5"/>
          <p:cNvSpPr/>
          <p:nvPr/>
        </p:nvSpPr>
        <p:spPr>
          <a:xfrm>
            <a:off x="996950" y="2784872"/>
            <a:ext cx="169416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누구처럼 답할지</a:t>
            </a:r>
            <a:endParaRPr lang="en-US" sz="1300" dirty="0"/>
          </a:p>
        </p:txBody>
      </p:sp>
      <p:sp>
        <p:nvSpPr>
          <p:cNvPr id="8" name="Text 6"/>
          <p:cNvSpPr/>
          <p:nvPr/>
        </p:nvSpPr>
        <p:spPr>
          <a:xfrm>
            <a:off x="996950" y="3108722"/>
            <a:ext cx="169416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F6F78"/>
                </a:solidFill>
                <a:latin typeface="Arial" pitchFamily="34" charset="0"/>
                <a:ea typeface="Arial" pitchFamily="34" charset="-122"/>
                <a:cs typeface="Arial" pitchFamily="34" charset="-120"/>
              </a:rPr>
              <a:t>“너는 10년 차 인사담당자야”</a:t>
            </a:r>
            <a:endParaRPr lang="en-US" sz="1200" dirty="0"/>
          </a:p>
        </p:txBody>
      </p:sp>
      <p:sp>
        <p:nvSpPr>
          <p:cNvPr id="9" name="Shape 7"/>
          <p:cNvSpPr/>
          <p:nvPr/>
        </p:nvSpPr>
        <p:spPr>
          <a:xfrm>
            <a:off x="2954635" y="1887736"/>
            <a:ext cx="2005409" cy="1884561"/>
          </a:xfrm>
          <a:prstGeom prst="roundRect">
            <a:avLst>
              <a:gd name="adj" fmla="val 5223"/>
            </a:avLst>
          </a:prstGeom>
          <a:solidFill>
            <a:srgbClr val="FCFCFA"/>
          </a:solidFill>
          <a:ln w="6350">
            <a:solidFill>
              <a:srgbClr val="D9DDE1"/>
            </a:solidFill>
            <a:prstDash val="solid"/>
          </a:ln>
        </p:spPr>
      </p:sp>
      <p:sp>
        <p:nvSpPr>
          <p:cNvPr id="10" name="Text 8"/>
          <p:cNvSpPr/>
          <p:nvPr/>
        </p:nvSpPr>
        <p:spPr>
          <a:xfrm>
            <a:off x="3135610" y="2094111"/>
            <a:ext cx="169425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02</a:t>
            </a:r>
            <a:endParaRPr lang="en-US" sz="1400" dirty="0"/>
          </a:p>
        </p:txBody>
      </p:sp>
      <p:sp>
        <p:nvSpPr>
          <p:cNvPr id="11" name="Text 9"/>
          <p:cNvSpPr/>
          <p:nvPr/>
        </p:nvSpPr>
        <p:spPr>
          <a:xfrm>
            <a:off x="3135610" y="2419152"/>
            <a:ext cx="1694259"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304D"/>
                </a:solidFill>
                <a:latin typeface="Arial" pitchFamily="34" charset="0"/>
                <a:ea typeface="Arial" pitchFamily="34" charset="-122"/>
                <a:cs typeface="Arial" pitchFamily="34" charset="-120"/>
              </a:rPr>
              <a:t>작업</a:t>
            </a:r>
            <a:endParaRPr lang="en-US" sz="1900" dirty="0"/>
          </a:p>
        </p:txBody>
      </p:sp>
      <p:sp>
        <p:nvSpPr>
          <p:cNvPr id="12" name="Text 10"/>
          <p:cNvSpPr/>
          <p:nvPr/>
        </p:nvSpPr>
        <p:spPr>
          <a:xfrm>
            <a:off x="3135610" y="2784872"/>
            <a:ext cx="1694259"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무엇을 해야 하는지</a:t>
            </a:r>
            <a:endParaRPr lang="en-US" sz="1300" dirty="0"/>
          </a:p>
        </p:txBody>
      </p:sp>
      <p:sp>
        <p:nvSpPr>
          <p:cNvPr id="13" name="Text 11"/>
          <p:cNvSpPr/>
          <p:nvPr/>
        </p:nvSpPr>
        <p:spPr>
          <a:xfrm>
            <a:off x="3135610" y="3108722"/>
            <a:ext cx="1694259"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F6F78"/>
                </a:solidFill>
                <a:latin typeface="Arial" pitchFamily="34" charset="0"/>
                <a:ea typeface="Arial" pitchFamily="34" charset="-122"/>
                <a:cs typeface="Arial" pitchFamily="34" charset="-120"/>
              </a:rPr>
              <a:t>“안내 메일을 써 줘”</a:t>
            </a:r>
            <a:endParaRPr lang="en-US" sz="1200" dirty="0"/>
          </a:p>
        </p:txBody>
      </p:sp>
      <p:sp>
        <p:nvSpPr>
          <p:cNvPr id="14" name="Shape 12"/>
          <p:cNvSpPr/>
          <p:nvPr/>
        </p:nvSpPr>
        <p:spPr>
          <a:xfrm>
            <a:off x="5093395" y="1887736"/>
            <a:ext cx="2005310" cy="1884561"/>
          </a:xfrm>
          <a:prstGeom prst="roundRect">
            <a:avLst>
              <a:gd name="adj" fmla="val 5223"/>
            </a:avLst>
          </a:prstGeom>
          <a:solidFill>
            <a:srgbClr val="FCFCFA"/>
          </a:solidFill>
          <a:ln w="6350">
            <a:solidFill>
              <a:srgbClr val="D9DDE1"/>
            </a:solidFill>
            <a:prstDash val="solid"/>
          </a:ln>
        </p:spPr>
      </p:sp>
      <p:sp>
        <p:nvSpPr>
          <p:cNvPr id="15" name="Text 13"/>
          <p:cNvSpPr/>
          <p:nvPr/>
        </p:nvSpPr>
        <p:spPr>
          <a:xfrm>
            <a:off x="5274370" y="2094111"/>
            <a:ext cx="169416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03</a:t>
            </a:r>
            <a:endParaRPr lang="en-US" sz="1400" dirty="0"/>
          </a:p>
        </p:txBody>
      </p:sp>
      <p:sp>
        <p:nvSpPr>
          <p:cNvPr id="16" name="Text 14"/>
          <p:cNvSpPr/>
          <p:nvPr/>
        </p:nvSpPr>
        <p:spPr>
          <a:xfrm>
            <a:off x="5274370" y="2419152"/>
            <a:ext cx="169416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304D"/>
                </a:solidFill>
                <a:latin typeface="Arial" pitchFamily="34" charset="0"/>
                <a:ea typeface="Arial" pitchFamily="34" charset="-122"/>
                <a:cs typeface="Arial" pitchFamily="34" charset="-120"/>
              </a:rPr>
              <a:t>맥락</a:t>
            </a:r>
            <a:endParaRPr lang="en-US" sz="1900" dirty="0"/>
          </a:p>
        </p:txBody>
      </p:sp>
      <p:sp>
        <p:nvSpPr>
          <p:cNvPr id="17" name="Text 15"/>
          <p:cNvSpPr/>
          <p:nvPr/>
        </p:nvSpPr>
        <p:spPr>
          <a:xfrm>
            <a:off x="5274370" y="2784872"/>
            <a:ext cx="169416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배경과 대상, 목적</a:t>
            </a:r>
            <a:endParaRPr lang="en-US" sz="1300" dirty="0"/>
          </a:p>
        </p:txBody>
      </p:sp>
      <p:sp>
        <p:nvSpPr>
          <p:cNvPr id="18" name="Text 16"/>
          <p:cNvSpPr/>
          <p:nvPr/>
        </p:nvSpPr>
        <p:spPr>
          <a:xfrm>
            <a:off x="5274370" y="3108722"/>
            <a:ext cx="169416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F6F78"/>
                </a:solidFill>
                <a:latin typeface="Arial" pitchFamily="34" charset="0"/>
                <a:ea typeface="Arial" pitchFamily="34" charset="-122"/>
                <a:cs typeface="Arial" pitchFamily="34" charset="-120"/>
              </a:rPr>
              <a:t>“신입사원 20명에게, 첫 출근 전에”</a:t>
            </a:r>
            <a:endParaRPr lang="en-US" sz="1200" dirty="0"/>
          </a:p>
        </p:txBody>
      </p:sp>
      <p:sp>
        <p:nvSpPr>
          <p:cNvPr id="19" name="Shape 17"/>
          <p:cNvSpPr/>
          <p:nvPr/>
        </p:nvSpPr>
        <p:spPr>
          <a:xfrm>
            <a:off x="7232055" y="1887736"/>
            <a:ext cx="2005310" cy="1884561"/>
          </a:xfrm>
          <a:prstGeom prst="roundRect">
            <a:avLst>
              <a:gd name="adj" fmla="val 5223"/>
            </a:avLst>
          </a:prstGeom>
          <a:solidFill>
            <a:srgbClr val="FCFCFA"/>
          </a:solidFill>
          <a:ln w="6350">
            <a:solidFill>
              <a:srgbClr val="D9DDE1"/>
            </a:solidFill>
            <a:prstDash val="solid"/>
          </a:ln>
        </p:spPr>
      </p:sp>
      <p:sp>
        <p:nvSpPr>
          <p:cNvPr id="20" name="Text 18"/>
          <p:cNvSpPr/>
          <p:nvPr/>
        </p:nvSpPr>
        <p:spPr>
          <a:xfrm>
            <a:off x="7413030" y="2094111"/>
            <a:ext cx="169416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04</a:t>
            </a:r>
            <a:endParaRPr lang="en-US" sz="1400" dirty="0"/>
          </a:p>
        </p:txBody>
      </p:sp>
      <p:sp>
        <p:nvSpPr>
          <p:cNvPr id="21" name="Text 19"/>
          <p:cNvSpPr/>
          <p:nvPr/>
        </p:nvSpPr>
        <p:spPr>
          <a:xfrm>
            <a:off x="7413030" y="2419152"/>
            <a:ext cx="169416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304D"/>
                </a:solidFill>
                <a:latin typeface="Arial" pitchFamily="34" charset="0"/>
                <a:ea typeface="Arial" pitchFamily="34" charset="-122"/>
                <a:cs typeface="Arial" pitchFamily="34" charset="-120"/>
              </a:rPr>
              <a:t>형식</a:t>
            </a:r>
            <a:endParaRPr lang="en-US" sz="1900" dirty="0"/>
          </a:p>
        </p:txBody>
      </p:sp>
      <p:sp>
        <p:nvSpPr>
          <p:cNvPr id="22" name="Text 20"/>
          <p:cNvSpPr/>
          <p:nvPr/>
        </p:nvSpPr>
        <p:spPr>
          <a:xfrm>
            <a:off x="7413030" y="2784872"/>
            <a:ext cx="169416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어떤 모양으로</a:t>
            </a:r>
            <a:endParaRPr lang="en-US" sz="1300" dirty="0"/>
          </a:p>
        </p:txBody>
      </p:sp>
      <p:sp>
        <p:nvSpPr>
          <p:cNvPr id="23" name="Text 21"/>
          <p:cNvSpPr/>
          <p:nvPr/>
        </p:nvSpPr>
        <p:spPr>
          <a:xfrm>
            <a:off x="7413030" y="3108722"/>
            <a:ext cx="169416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F6F78"/>
                </a:solidFill>
                <a:latin typeface="Arial" pitchFamily="34" charset="0"/>
                <a:ea typeface="Arial" pitchFamily="34" charset="-122"/>
                <a:cs typeface="Arial" pitchFamily="34" charset="-120"/>
              </a:rPr>
              <a:t>“제목 + 본문 5줄 + 표 1개”</a:t>
            </a:r>
            <a:endParaRPr lang="en-US" sz="1200" dirty="0"/>
          </a:p>
        </p:txBody>
      </p:sp>
      <p:sp>
        <p:nvSpPr>
          <p:cNvPr id="24" name="Shape 22"/>
          <p:cNvSpPr/>
          <p:nvPr/>
        </p:nvSpPr>
        <p:spPr>
          <a:xfrm>
            <a:off x="9370715" y="1887736"/>
            <a:ext cx="2005310" cy="1884561"/>
          </a:xfrm>
          <a:prstGeom prst="roundRect">
            <a:avLst>
              <a:gd name="adj" fmla="val 5223"/>
            </a:avLst>
          </a:prstGeom>
          <a:solidFill>
            <a:srgbClr val="FCFCFA"/>
          </a:solidFill>
          <a:ln w="6350">
            <a:solidFill>
              <a:srgbClr val="D9DDE1"/>
            </a:solidFill>
            <a:prstDash val="solid"/>
          </a:ln>
        </p:spPr>
      </p:sp>
      <p:sp>
        <p:nvSpPr>
          <p:cNvPr id="25" name="Text 23"/>
          <p:cNvSpPr/>
          <p:nvPr/>
        </p:nvSpPr>
        <p:spPr>
          <a:xfrm>
            <a:off x="9551690" y="2094111"/>
            <a:ext cx="169416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05</a:t>
            </a:r>
            <a:endParaRPr lang="en-US" sz="1400" dirty="0"/>
          </a:p>
        </p:txBody>
      </p:sp>
      <p:sp>
        <p:nvSpPr>
          <p:cNvPr id="26" name="Text 24"/>
          <p:cNvSpPr/>
          <p:nvPr/>
        </p:nvSpPr>
        <p:spPr>
          <a:xfrm>
            <a:off x="9551690" y="2419152"/>
            <a:ext cx="169416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304D"/>
                </a:solidFill>
                <a:latin typeface="Arial" pitchFamily="34" charset="0"/>
                <a:ea typeface="Arial" pitchFamily="34" charset="-122"/>
                <a:cs typeface="Arial" pitchFamily="34" charset="-120"/>
              </a:rPr>
              <a:t>조건</a:t>
            </a:r>
            <a:endParaRPr lang="en-US" sz="1900" dirty="0"/>
          </a:p>
        </p:txBody>
      </p:sp>
      <p:sp>
        <p:nvSpPr>
          <p:cNvPr id="27" name="Text 25"/>
          <p:cNvSpPr/>
          <p:nvPr/>
        </p:nvSpPr>
        <p:spPr>
          <a:xfrm>
            <a:off x="9551690" y="2784872"/>
            <a:ext cx="169416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지켜야 할 것</a:t>
            </a:r>
            <a:endParaRPr lang="en-US" sz="1300" dirty="0"/>
          </a:p>
        </p:txBody>
      </p:sp>
      <p:sp>
        <p:nvSpPr>
          <p:cNvPr id="28" name="Text 26"/>
          <p:cNvSpPr/>
          <p:nvPr/>
        </p:nvSpPr>
        <p:spPr>
          <a:xfrm>
            <a:off x="9551690" y="3108722"/>
            <a:ext cx="169416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F6F78"/>
                </a:solidFill>
                <a:latin typeface="Arial" pitchFamily="34" charset="0"/>
                <a:ea typeface="Arial" pitchFamily="34" charset="-122"/>
                <a:cs typeface="Arial" pitchFamily="34" charset="-120"/>
              </a:rPr>
              <a:t>“존댓말, 300자 이내, 과장 금지”</a:t>
            </a:r>
            <a:endParaRPr lang="en-US" sz="1200" dirty="0"/>
          </a:p>
        </p:txBody>
      </p:sp>
      <p:sp>
        <p:nvSpPr>
          <p:cNvPr id="29" name="Text 27"/>
          <p:cNvSpPr/>
          <p:nvPr/>
        </p:nvSpPr>
        <p:spPr>
          <a:xfrm>
            <a:off x="812800" y="4054872"/>
            <a:ext cx="10566400" cy="622300"/>
          </a:xfrm>
          <a:prstGeom prst="roundRect">
            <a:avLst>
              <a:gd name="adj" fmla="val 16327"/>
            </a:avLst>
          </a:prstGeom>
          <a:solidFill>
            <a:srgbClr val="12304D"/>
          </a:solidFill>
          <a:ln/>
        </p:spPr>
        <p:txBody>
          <a:bodyPr wrap="square" lIns="224242" tIns="148042" rIns="0" bIns="122642" rtlCol="0" anchor="t">
            <a:normAutofit/>
          </a:bodyPr>
          <a:lstStyle/>
          <a:p>
            <a:pPr algn="l" indent="0" marL="0">
              <a:lnSpc>
                <a:spcPts val="2100"/>
              </a:lnSpc>
              <a:buNone/>
            </a:pPr>
            <a:r>
              <a:rPr lang="en-US" sz="1500" dirty="0">
                <a:solidFill>
                  <a:srgbClr val="F5F4EF"/>
                </a:solidFill>
                <a:latin typeface="Arial" pitchFamily="34" charset="0"/>
                <a:ea typeface="Arial" pitchFamily="34" charset="-122"/>
                <a:cs typeface="Arial" pitchFamily="34" charset="-120"/>
              </a:rPr>
              <a:t>외우는 법 · </a:t>
            </a:r>
            <a:r>
              <a:rPr lang="en-US" sz="1500" b="1" dirty="0">
                <a:solidFill>
                  <a:srgbClr val="F2A65A"/>
                </a:solidFill>
                <a:latin typeface="Arial" pitchFamily="34" charset="0"/>
                <a:ea typeface="Arial" pitchFamily="34" charset="-122"/>
                <a:cs typeface="Arial" pitchFamily="34" charset="-120"/>
              </a:rPr>
              <a:t>누가(역할) 무엇을(작업) 왜·누구에게(맥락) 어떻게(형식) 어디까지(조건)</a:t>
            </a:r>
            <a:endParaRPr lang="en-US" sz="1500" dirty="0"/>
          </a:p>
        </p:txBody>
      </p:sp>
      <p:sp>
        <p:nvSpPr>
          <p:cNvPr id="30" name="Text 2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나쁜 예 · 좋은 예</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구체적으로 물을수록 바로 쓸 수 있는 답이 옵니다</a:t>
            </a:r>
            <a:endParaRPr lang="en-US" sz="3200" dirty="0"/>
          </a:p>
        </p:txBody>
      </p:sp>
      <p:sp>
        <p:nvSpPr>
          <p:cNvPr id="4" name="Text 2"/>
          <p:cNvSpPr/>
          <p:nvPr/>
        </p:nvSpPr>
        <p:spPr>
          <a:xfrm>
            <a:off x="812800" y="1884561"/>
            <a:ext cx="44475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A64F16"/>
                </a:solidFill>
                <a:latin typeface="Arial" pitchFamily="34" charset="0"/>
                <a:ea typeface="Arial" pitchFamily="34" charset="-122"/>
                <a:cs typeface="Arial" pitchFamily="34" charset="-120"/>
              </a:rPr>
              <a:t>✕ 막연한 요청</a:t>
            </a:r>
            <a:endParaRPr lang="en-US" sz="1500" dirty="0"/>
          </a:p>
        </p:txBody>
      </p:sp>
      <p:sp>
        <p:nvSpPr>
          <p:cNvPr id="5" name="Text 3"/>
          <p:cNvSpPr/>
          <p:nvPr/>
        </p:nvSpPr>
        <p:spPr>
          <a:xfrm>
            <a:off x="819150" y="2259211"/>
            <a:ext cx="4305300" cy="774700"/>
          </a:xfrm>
          <a:prstGeom prst="roundRect">
            <a:avLst>
              <a:gd name="adj" fmla="val 12295"/>
            </a:avLst>
          </a:prstGeom>
          <a:solidFill>
            <a:srgbClr val="FCFCFA"/>
          </a:solidFill>
          <a:ln w="12700">
            <a:solidFill>
              <a:srgbClr val="A64F16"/>
            </a:solidFill>
            <a:prstDash val="dash"/>
          </a:ln>
        </p:spPr>
        <p:txBody>
          <a:bodyPr wrap="square" lIns="207052" tIns="207052" rIns="91990" bIns="181652" rtlCol="0" anchor="t">
            <a:normAutofit/>
          </a:bodyPr>
          <a:lstStyle/>
          <a:p>
            <a:pPr algn="l" indent="0" marL="0">
              <a:lnSpc>
                <a:spcPts val="2400"/>
              </a:lnSpc>
              <a:buNone/>
            </a:pPr>
            <a:r>
              <a:rPr lang="en-US" sz="1500" dirty="0">
                <a:solidFill>
                  <a:srgbClr val="12304D"/>
                </a:solidFill>
                <a:latin typeface="Arial" pitchFamily="34" charset="0"/>
                <a:ea typeface="Arial" pitchFamily="34" charset="-122"/>
                <a:cs typeface="Arial" pitchFamily="34" charset="-120"/>
              </a:rPr>
              <a:t>회의 안내 메일 써 줘.</a:t>
            </a:r>
            <a:endParaRPr lang="en-US" sz="1500" dirty="0"/>
          </a:p>
        </p:txBody>
      </p:sp>
      <p:sp>
        <p:nvSpPr>
          <p:cNvPr id="6" name="Text 4"/>
          <p:cNvSpPr/>
          <p:nvPr/>
        </p:nvSpPr>
        <p:spPr>
          <a:xfrm>
            <a:off x="812800" y="3141861"/>
            <a:ext cx="4447540" cy="55364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3D4A57"/>
                </a:solidFill>
                <a:latin typeface="Arial" pitchFamily="34" charset="0"/>
                <a:ea typeface="Arial" pitchFamily="34" charset="-122"/>
                <a:cs typeface="Arial" pitchFamily="34" charset="-120"/>
              </a:rPr>
              <a:t>→ 언제, 누구에게, 무슨 회의인지 몰라</a:t>
            </a:r>
            <a:endParaRPr lang="en-US" sz="1300" dirty="0"/>
          </a:p>
          <a:p>
            <a:pPr algn="l" indent="0" marL="0">
              <a:lnSpc>
                <a:spcPts val="2080"/>
              </a:lnSpc>
              <a:buNone/>
            </a:pPr>
            <a:r>
              <a:rPr lang="en-US" sz="1300" dirty="0">
                <a:solidFill>
                  <a:srgbClr val="3D4A57"/>
                </a:solidFill>
                <a:latin typeface="Arial" pitchFamily="34" charset="0"/>
                <a:ea typeface="Arial" pitchFamily="34" charset="-122"/>
                <a:cs typeface="Arial" pitchFamily="34" charset="-120"/>
              </a:rPr>
              <a:t>AI가 내용을 지어내거나 빈칸투성이</a:t>
            </a:r>
            <a:endParaRPr lang="en-US" sz="1300" dirty="0"/>
          </a:p>
        </p:txBody>
      </p:sp>
      <p:sp>
        <p:nvSpPr>
          <p:cNvPr id="7" name="Text 5"/>
          <p:cNvSpPr/>
          <p:nvPr/>
        </p:nvSpPr>
        <p:spPr>
          <a:xfrm>
            <a:off x="5334000" y="1884561"/>
            <a:ext cx="622655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6F78"/>
                </a:solidFill>
                <a:latin typeface="Arial" pitchFamily="34" charset="0"/>
                <a:ea typeface="Arial" pitchFamily="34" charset="-122"/>
                <a:cs typeface="Arial" pitchFamily="34" charset="-120"/>
              </a:rPr>
              <a:t>✓ 5요소를 넣은 요청</a:t>
            </a:r>
            <a:endParaRPr lang="en-US" sz="1500" dirty="0"/>
          </a:p>
        </p:txBody>
      </p:sp>
      <p:sp>
        <p:nvSpPr>
          <p:cNvPr id="8" name="Text 6"/>
          <p:cNvSpPr/>
          <p:nvPr/>
        </p:nvSpPr>
        <p:spPr>
          <a:xfrm>
            <a:off x="5334000" y="2252861"/>
            <a:ext cx="6045200" cy="1363861"/>
          </a:xfrm>
          <a:prstGeom prst="roundRect">
            <a:avLst>
              <a:gd name="adj" fmla="val 7449"/>
            </a:avLst>
          </a:prstGeom>
          <a:solidFill>
            <a:srgbClr val="12304D"/>
          </a:solidFill>
          <a:ln/>
        </p:spPr>
        <p:txBody>
          <a:bodyPr wrap="square" lIns="198842" tIns="198842" rIns="31202" bIns="173442" rtlCol="0" anchor="t">
            <a:normAutofit/>
          </a:bodyPr>
          <a:lstStyle/>
          <a:p>
            <a:pPr algn="l" indent="0" marL="0">
              <a:lnSpc>
                <a:spcPts val="2380"/>
              </a:lnSpc>
              <a:buNone/>
            </a:pPr>
            <a:r>
              <a:rPr lang="en-US" sz="1400" dirty="0">
                <a:solidFill>
                  <a:srgbClr val="F5F4EF"/>
                </a:solidFill>
                <a:latin typeface="Arial" pitchFamily="34" charset="0"/>
                <a:ea typeface="Arial" pitchFamily="34" charset="-122"/>
                <a:cs typeface="Arial" pitchFamily="34" charset="-120"/>
              </a:rPr>
              <a:t>너는 총무팀 직원이야. 영업팀 8명에게 보낼 주간 회의 안내 메일을 써 줘. 회의는 10월 21일(화) 오전 10시, 3층 회의실이고, 안건은 4분기 매출 계획이야. 제목 1줄과 본문 5줄 이내로, 정중한 존댓말로 써 줘.</a:t>
            </a:r>
            <a:endParaRPr lang="en-US" sz="1400" dirty="0"/>
          </a:p>
        </p:txBody>
      </p:sp>
      <p:sp>
        <p:nvSpPr>
          <p:cNvPr id="9" name="Text 7"/>
          <p:cNvSpPr/>
          <p:nvPr/>
        </p:nvSpPr>
        <p:spPr>
          <a:xfrm>
            <a:off x="5334000" y="3718322"/>
            <a:ext cx="62265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7"/>
                </a:solidFill>
                <a:latin typeface="Arial" pitchFamily="34" charset="0"/>
                <a:ea typeface="Arial" pitchFamily="34" charset="-122"/>
                <a:cs typeface="Arial" pitchFamily="34" charset="-120"/>
              </a:rPr>
              <a:t>→ 수정 없이 바로 보낼 수 있는 수준</a:t>
            </a:r>
            <a:endParaRPr lang="en-US" sz="13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대화로 다듬기</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한 번에 끝내지 말고, 이어서 고쳐 달라고 하세요</a:t>
            </a:r>
            <a:endParaRPr lang="en-US" sz="3200" dirty="0"/>
          </a:p>
        </p:txBody>
      </p:sp>
      <p:sp>
        <p:nvSpPr>
          <p:cNvPr id="4" name="Shape 2"/>
          <p:cNvSpPr/>
          <p:nvPr/>
        </p:nvSpPr>
        <p:spPr>
          <a:xfrm>
            <a:off x="815975" y="1887736"/>
            <a:ext cx="3414117" cy="999430"/>
          </a:xfrm>
          <a:prstGeom prst="roundRect">
            <a:avLst>
              <a:gd name="adj" fmla="val 9848"/>
            </a:avLst>
          </a:prstGeom>
          <a:solidFill>
            <a:srgbClr val="FCFCFA"/>
          </a:solidFill>
          <a:ln w="6350">
            <a:solidFill>
              <a:srgbClr val="D9DDE1"/>
            </a:solidFill>
            <a:prstDash val="solid"/>
          </a:ln>
        </p:spPr>
      </p:sp>
      <p:sp>
        <p:nvSpPr>
          <p:cNvPr id="5" name="Text 3"/>
          <p:cNvSpPr/>
          <p:nvPr/>
        </p:nvSpPr>
        <p:spPr>
          <a:xfrm>
            <a:off x="1022350" y="209411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304D"/>
                </a:solidFill>
                <a:latin typeface="Arial" pitchFamily="34" charset="0"/>
                <a:ea typeface="Arial" pitchFamily="34" charset="-122"/>
                <a:cs typeface="Arial" pitchFamily="34" charset="-120"/>
              </a:rPr>
              <a:t>길이 조절</a:t>
            </a:r>
            <a:endParaRPr lang="en-US" sz="1600" dirty="0"/>
          </a:p>
        </p:txBody>
      </p:sp>
      <p:sp>
        <p:nvSpPr>
          <p:cNvPr id="6" name="Text 4"/>
          <p:cNvSpPr/>
          <p:nvPr/>
        </p:nvSpPr>
        <p:spPr>
          <a:xfrm>
            <a:off x="1022350" y="2414091"/>
            <a:ext cx="3091408"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F6F78"/>
                </a:solidFill>
                <a:latin typeface="Arial" pitchFamily="34" charset="0"/>
                <a:ea typeface="Arial" pitchFamily="34" charset="-122"/>
                <a:cs typeface="Arial" pitchFamily="34" charset="-120"/>
              </a:rPr>
              <a:t>“절반 길이로 줄여 줘”</a:t>
            </a:r>
            <a:endParaRPr lang="en-US" sz="1400" dirty="0"/>
          </a:p>
        </p:txBody>
      </p:sp>
      <p:sp>
        <p:nvSpPr>
          <p:cNvPr id="7" name="Shape 5"/>
          <p:cNvSpPr/>
          <p:nvPr/>
        </p:nvSpPr>
        <p:spPr>
          <a:xfrm>
            <a:off x="4388842" y="1887736"/>
            <a:ext cx="3414216" cy="999430"/>
          </a:xfrm>
          <a:prstGeom prst="roundRect">
            <a:avLst>
              <a:gd name="adj" fmla="val 9848"/>
            </a:avLst>
          </a:prstGeom>
          <a:solidFill>
            <a:srgbClr val="FCFCFA"/>
          </a:solidFill>
          <a:ln w="6350">
            <a:solidFill>
              <a:srgbClr val="D9DDE1"/>
            </a:solidFill>
            <a:prstDash val="solid"/>
          </a:ln>
        </p:spPr>
      </p:sp>
      <p:sp>
        <p:nvSpPr>
          <p:cNvPr id="8" name="Text 6"/>
          <p:cNvSpPr/>
          <p:nvPr/>
        </p:nvSpPr>
        <p:spPr>
          <a:xfrm>
            <a:off x="4595217" y="209411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304D"/>
                </a:solidFill>
                <a:latin typeface="Arial" pitchFamily="34" charset="0"/>
                <a:ea typeface="Arial" pitchFamily="34" charset="-122"/>
                <a:cs typeface="Arial" pitchFamily="34" charset="-120"/>
              </a:rPr>
              <a:t>어조 바꾸기</a:t>
            </a:r>
            <a:endParaRPr lang="en-US" sz="1600" dirty="0"/>
          </a:p>
        </p:txBody>
      </p:sp>
      <p:sp>
        <p:nvSpPr>
          <p:cNvPr id="9" name="Text 7"/>
          <p:cNvSpPr/>
          <p:nvPr/>
        </p:nvSpPr>
        <p:spPr>
          <a:xfrm>
            <a:off x="4595217" y="2414091"/>
            <a:ext cx="309151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F6F78"/>
                </a:solidFill>
                <a:latin typeface="Arial" pitchFamily="34" charset="0"/>
                <a:ea typeface="Arial" pitchFamily="34" charset="-122"/>
                <a:cs typeface="Arial" pitchFamily="34" charset="-120"/>
              </a:rPr>
              <a:t>“고객에게 보내는 공손한 말투로”</a:t>
            </a:r>
            <a:endParaRPr lang="en-US" sz="1400" dirty="0"/>
          </a:p>
        </p:txBody>
      </p:sp>
      <p:sp>
        <p:nvSpPr>
          <p:cNvPr id="10" name="Shape 8"/>
          <p:cNvSpPr/>
          <p:nvPr/>
        </p:nvSpPr>
        <p:spPr>
          <a:xfrm>
            <a:off x="7961809" y="1887736"/>
            <a:ext cx="3414216" cy="999430"/>
          </a:xfrm>
          <a:prstGeom prst="roundRect">
            <a:avLst>
              <a:gd name="adj" fmla="val 9848"/>
            </a:avLst>
          </a:prstGeom>
          <a:solidFill>
            <a:srgbClr val="FCFCFA"/>
          </a:solidFill>
          <a:ln w="6350">
            <a:solidFill>
              <a:srgbClr val="D9DDE1"/>
            </a:solidFill>
            <a:prstDash val="solid"/>
          </a:ln>
        </p:spPr>
      </p:sp>
      <p:sp>
        <p:nvSpPr>
          <p:cNvPr id="11" name="Text 9"/>
          <p:cNvSpPr/>
          <p:nvPr/>
        </p:nvSpPr>
        <p:spPr>
          <a:xfrm>
            <a:off x="8168184" y="209411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304D"/>
                </a:solidFill>
                <a:latin typeface="Arial" pitchFamily="34" charset="0"/>
                <a:ea typeface="Arial" pitchFamily="34" charset="-122"/>
                <a:cs typeface="Arial" pitchFamily="34" charset="-120"/>
              </a:rPr>
              <a:t>형식 바꾸기</a:t>
            </a:r>
            <a:endParaRPr lang="en-US" sz="1600" dirty="0"/>
          </a:p>
        </p:txBody>
      </p:sp>
      <p:sp>
        <p:nvSpPr>
          <p:cNvPr id="12" name="Text 10"/>
          <p:cNvSpPr/>
          <p:nvPr/>
        </p:nvSpPr>
        <p:spPr>
          <a:xfrm>
            <a:off x="8168184" y="2414091"/>
            <a:ext cx="309151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F6F78"/>
                </a:solidFill>
                <a:latin typeface="Arial" pitchFamily="34" charset="0"/>
                <a:ea typeface="Arial" pitchFamily="34" charset="-122"/>
                <a:cs typeface="Arial" pitchFamily="34" charset="-120"/>
              </a:rPr>
              <a:t>“핵심만 표로 정리해 줘”</a:t>
            </a:r>
            <a:endParaRPr lang="en-US" sz="1400" dirty="0"/>
          </a:p>
        </p:txBody>
      </p:sp>
      <p:sp>
        <p:nvSpPr>
          <p:cNvPr id="13" name="Shape 11"/>
          <p:cNvSpPr/>
          <p:nvPr/>
        </p:nvSpPr>
        <p:spPr>
          <a:xfrm>
            <a:off x="815975" y="3045916"/>
            <a:ext cx="3414117" cy="1253430"/>
          </a:xfrm>
          <a:prstGeom prst="roundRect">
            <a:avLst>
              <a:gd name="adj" fmla="val 7852"/>
            </a:avLst>
          </a:prstGeom>
          <a:solidFill>
            <a:srgbClr val="FCFCFA"/>
          </a:solidFill>
          <a:ln w="6350">
            <a:solidFill>
              <a:srgbClr val="D9DDE1"/>
            </a:solidFill>
            <a:prstDash val="solid"/>
          </a:ln>
        </p:spPr>
      </p:sp>
      <p:sp>
        <p:nvSpPr>
          <p:cNvPr id="14" name="Text 12"/>
          <p:cNvSpPr/>
          <p:nvPr/>
        </p:nvSpPr>
        <p:spPr>
          <a:xfrm>
            <a:off x="1022350" y="325229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304D"/>
                </a:solidFill>
                <a:latin typeface="Arial" pitchFamily="34" charset="0"/>
                <a:ea typeface="Arial" pitchFamily="34" charset="-122"/>
                <a:cs typeface="Arial" pitchFamily="34" charset="-120"/>
              </a:rPr>
              <a:t>여러 안 받기</a:t>
            </a:r>
            <a:endParaRPr lang="en-US" sz="1600" dirty="0"/>
          </a:p>
        </p:txBody>
      </p:sp>
      <p:sp>
        <p:nvSpPr>
          <p:cNvPr id="15" name="Text 13"/>
          <p:cNvSpPr/>
          <p:nvPr/>
        </p:nvSpPr>
        <p:spPr>
          <a:xfrm>
            <a:off x="1022350" y="3572272"/>
            <a:ext cx="3091408"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F6F78"/>
                </a:solidFill>
                <a:latin typeface="Arial" pitchFamily="34" charset="0"/>
                <a:ea typeface="Arial" pitchFamily="34" charset="-122"/>
                <a:cs typeface="Arial" pitchFamily="34" charset="-120"/>
              </a:rPr>
              <a:t>“제목을 3가지 버전으로”</a:t>
            </a:r>
            <a:endParaRPr lang="en-US" sz="1400" dirty="0"/>
          </a:p>
        </p:txBody>
      </p:sp>
      <p:sp>
        <p:nvSpPr>
          <p:cNvPr id="16" name="Shape 14"/>
          <p:cNvSpPr/>
          <p:nvPr/>
        </p:nvSpPr>
        <p:spPr>
          <a:xfrm>
            <a:off x="4388842" y="3045916"/>
            <a:ext cx="3414216" cy="1253430"/>
          </a:xfrm>
          <a:prstGeom prst="roundRect">
            <a:avLst>
              <a:gd name="adj" fmla="val 7852"/>
            </a:avLst>
          </a:prstGeom>
          <a:solidFill>
            <a:srgbClr val="FCFCFA"/>
          </a:solidFill>
          <a:ln w="6350">
            <a:solidFill>
              <a:srgbClr val="D9DDE1"/>
            </a:solidFill>
            <a:prstDash val="solid"/>
          </a:ln>
        </p:spPr>
      </p:sp>
      <p:sp>
        <p:nvSpPr>
          <p:cNvPr id="17" name="Text 15"/>
          <p:cNvSpPr/>
          <p:nvPr/>
        </p:nvSpPr>
        <p:spPr>
          <a:xfrm>
            <a:off x="4595217" y="325229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304D"/>
                </a:solidFill>
                <a:latin typeface="Arial" pitchFamily="34" charset="0"/>
                <a:ea typeface="Arial" pitchFamily="34" charset="-122"/>
                <a:cs typeface="Arial" pitchFamily="34" charset="-120"/>
              </a:rPr>
              <a:t>이유 묻기</a:t>
            </a:r>
            <a:endParaRPr lang="en-US" sz="1600" dirty="0"/>
          </a:p>
        </p:txBody>
      </p:sp>
      <p:sp>
        <p:nvSpPr>
          <p:cNvPr id="18" name="Text 16"/>
          <p:cNvSpPr/>
          <p:nvPr/>
        </p:nvSpPr>
        <p:spPr>
          <a:xfrm>
            <a:off x="4595217" y="3572272"/>
            <a:ext cx="309151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F6F78"/>
                </a:solidFill>
                <a:latin typeface="Arial" pitchFamily="34" charset="0"/>
                <a:ea typeface="Arial" pitchFamily="34" charset="-122"/>
                <a:cs typeface="Arial" pitchFamily="34" charset="-120"/>
              </a:rPr>
              <a:t>“왜 이렇게 고쳤는지 설명해 줘”</a:t>
            </a:r>
            <a:endParaRPr lang="en-US" sz="1400" dirty="0"/>
          </a:p>
        </p:txBody>
      </p:sp>
      <p:sp>
        <p:nvSpPr>
          <p:cNvPr id="19" name="Shape 17"/>
          <p:cNvSpPr/>
          <p:nvPr/>
        </p:nvSpPr>
        <p:spPr>
          <a:xfrm>
            <a:off x="7958634" y="3042741"/>
            <a:ext cx="3420566" cy="1259780"/>
          </a:xfrm>
          <a:prstGeom prst="roundRect">
            <a:avLst>
              <a:gd name="adj" fmla="val 8065"/>
            </a:avLst>
          </a:prstGeom>
          <a:solidFill>
            <a:srgbClr val="12304D"/>
          </a:solidFill>
          <a:ln/>
        </p:spPr>
      </p:sp>
      <p:sp>
        <p:nvSpPr>
          <p:cNvPr id="20" name="Text 18"/>
          <p:cNvSpPr/>
          <p:nvPr/>
        </p:nvSpPr>
        <p:spPr>
          <a:xfrm>
            <a:off x="8161834" y="3245941"/>
            <a:ext cx="310459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F"/>
                </a:solidFill>
                <a:latin typeface="Arial" pitchFamily="34" charset="0"/>
                <a:ea typeface="Arial" pitchFamily="34" charset="-122"/>
                <a:cs typeface="Arial" pitchFamily="34" charset="-120"/>
              </a:rPr>
              <a:t>거꾸로 묻게 하기</a:t>
            </a:r>
            <a:endParaRPr lang="en-US" sz="1600" dirty="0"/>
          </a:p>
        </p:txBody>
      </p:sp>
      <p:sp>
        <p:nvSpPr>
          <p:cNvPr id="21" name="Text 19"/>
          <p:cNvSpPr/>
          <p:nvPr/>
        </p:nvSpPr>
        <p:spPr>
          <a:xfrm>
            <a:off x="8161834" y="3565922"/>
            <a:ext cx="3104591"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A65A"/>
                </a:solidFill>
                <a:latin typeface="Arial" pitchFamily="34" charset="0"/>
                <a:ea typeface="Arial" pitchFamily="34" charset="-122"/>
                <a:cs typeface="Arial" pitchFamily="34" charset="-120"/>
              </a:rPr>
              <a:t>“더 좋은 결과를 위해 필요한 정보를 나에게 질문해 줘”</a:t>
            </a:r>
            <a:endParaRPr lang="en-US" sz="14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8EEF2"/>
        </a:solidFill>
      </p:bgPr>
    </p:bg>
    <p:spTree>
      <p:nvGrpSpPr>
        <p:cNvPr id="1" name=""/>
        <p:cNvGrpSpPr/>
        <p:nvPr/>
      </p:nvGrpSpPr>
      <p:grpSpPr>
        <a:xfrm>
          <a:off x="0" y="0"/>
          <a:ext cx="0" cy="0"/>
          <a:chOff x="0" y="0"/>
          <a:chExt cx="0" cy="0"/>
        </a:xfrm>
      </p:grpSpPr>
      <p:sp>
        <p:nvSpPr>
          <p:cNvPr id="2" name="Text 0"/>
          <p:cNvSpPr/>
          <p:nvPr/>
        </p:nvSpPr>
        <p:spPr>
          <a:xfrm>
            <a:off x="812800" y="812800"/>
            <a:ext cx="1342330" cy="350441"/>
          </a:xfrm>
          <a:prstGeom prst="roundRect">
            <a:avLst>
              <a:gd name="adj" fmla="val 50000"/>
            </a:avLst>
          </a:prstGeom>
          <a:solidFill>
            <a:srgbClr val="1F6F78"/>
          </a:solidFill>
          <a:ln/>
        </p:spPr>
        <p:txBody>
          <a:bodyPr wrap="none" lIns="0" tIns="0" rIns="0" bIns="0" rtlCol="0" anchor="ctr">
            <a:normAutofit/>
          </a:bodyPr>
          <a:lstStyle/>
          <a:p>
            <a:pPr algn="ctr" indent="0" marL="0">
              <a:lnSpc>
                <a:spcPts val="1960"/>
              </a:lnSpc>
              <a:buNone/>
            </a:pPr>
            <a:r>
              <a:rPr lang="en-US" sz="1400" b="1" dirty="0">
                <a:solidFill>
                  <a:srgbClr val="F5F4EF"/>
                </a:solidFill>
                <a:latin typeface="Arial" pitchFamily="34" charset="0"/>
                <a:ea typeface="Arial" pitchFamily="34" charset="-122"/>
                <a:cs typeface="Arial" pitchFamily="34" charset="-120"/>
              </a:rPr>
              <a:t>실습 2 · 25분</a:t>
            </a:r>
            <a:endParaRPr lang="en-US" sz="1400" dirty="0"/>
          </a:p>
        </p:txBody>
      </p:sp>
      <p:sp>
        <p:nvSpPr>
          <p:cNvPr id="3" name="Text 1"/>
          <p:cNvSpPr/>
          <p:nvPr>
            <p:ph type="title"/>
          </p:nvPr>
        </p:nvSpPr>
        <p:spPr>
          <a:xfrm>
            <a:off x="812800" y="1264841"/>
            <a:ext cx="7505224"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워크숍 안내문을 3단계로 개선하기</a:t>
            </a:r>
            <a:endParaRPr lang="en-US" sz="3200" dirty="0"/>
          </a:p>
        </p:txBody>
      </p:sp>
      <p:sp>
        <p:nvSpPr>
          <p:cNvPr id="4" name="Shape 2"/>
          <p:cNvSpPr/>
          <p:nvPr/>
        </p:nvSpPr>
        <p:spPr>
          <a:xfrm>
            <a:off x="812800" y="1986161"/>
            <a:ext cx="3420467" cy="1531541"/>
          </a:xfrm>
          <a:prstGeom prst="roundRect">
            <a:avLst>
              <a:gd name="adj" fmla="val 6634"/>
            </a:avLst>
          </a:prstGeom>
          <a:solidFill>
            <a:srgbClr val="FCFCFA"/>
          </a:solidFill>
          <a:ln/>
        </p:spPr>
      </p:sp>
      <p:sp>
        <p:nvSpPr>
          <p:cNvPr id="5" name="Text 3"/>
          <p:cNvSpPr/>
          <p:nvPr/>
        </p:nvSpPr>
        <p:spPr>
          <a:xfrm>
            <a:off x="1016000" y="2189361"/>
            <a:ext cx="310448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6F78"/>
                </a:solidFill>
                <a:latin typeface="Arial" pitchFamily="34" charset="0"/>
                <a:ea typeface="Arial" pitchFamily="34" charset="-122"/>
                <a:cs typeface="Arial" pitchFamily="34" charset="-120"/>
              </a:rPr>
              <a:t>1단계 · 막연하게</a:t>
            </a:r>
            <a:endParaRPr lang="en-US" sz="1400" dirty="0"/>
          </a:p>
        </p:txBody>
      </p:sp>
      <p:sp>
        <p:nvSpPr>
          <p:cNvPr id="6" name="Text 4"/>
          <p:cNvSpPr/>
          <p:nvPr/>
        </p:nvSpPr>
        <p:spPr>
          <a:xfrm>
            <a:off x="1016000" y="2514402"/>
            <a:ext cx="3104489"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304D"/>
                </a:solidFill>
                <a:latin typeface="Arial" pitchFamily="34" charset="0"/>
                <a:ea typeface="Arial" pitchFamily="34" charset="-122"/>
                <a:cs typeface="Arial" pitchFamily="34" charset="-120"/>
              </a:rPr>
              <a:t>“워크숍 안내문 써 줘.”</a:t>
            </a:r>
            <a:endParaRPr lang="en-US" sz="1400" dirty="0"/>
          </a:p>
        </p:txBody>
      </p:sp>
      <p:sp>
        <p:nvSpPr>
          <p:cNvPr id="7" name="Text 5"/>
          <p:cNvSpPr/>
          <p:nvPr/>
        </p:nvSpPr>
        <p:spPr>
          <a:xfrm>
            <a:off x="1016000" y="2857302"/>
            <a:ext cx="3104489"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3D4A57"/>
                </a:solidFill>
                <a:latin typeface="Arial" pitchFamily="34" charset="0"/>
                <a:ea typeface="Arial" pitchFamily="34" charset="-122"/>
                <a:cs typeface="Arial" pitchFamily="34" charset="-120"/>
              </a:rPr>
              <a:t>결과를 실습 문서에 붙여 넣기</a:t>
            </a:r>
            <a:endParaRPr lang="en-US" sz="1200" dirty="0"/>
          </a:p>
        </p:txBody>
      </p:sp>
      <p:sp>
        <p:nvSpPr>
          <p:cNvPr id="8" name="Shape 6"/>
          <p:cNvSpPr/>
          <p:nvPr/>
        </p:nvSpPr>
        <p:spPr>
          <a:xfrm>
            <a:off x="4385667" y="1986161"/>
            <a:ext cx="3420566" cy="1531541"/>
          </a:xfrm>
          <a:prstGeom prst="roundRect">
            <a:avLst>
              <a:gd name="adj" fmla="val 6634"/>
            </a:avLst>
          </a:prstGeom>
          <a:solidFill>
            <a:srgbClr val="FCFCFA"/>
          </a:solidFill>
          <a:ln/>
        </p:spPr>
      </p:sp>
      <p:sp>
        <p:nvSpPr>
          <p:cNvPr id="9" name="Text 7"/>
          <p:cNvSpPr/>
          <p:nvPr/>
        </p:nvSpPr>
        <p:spPr>
          <a:xfrm>
            <a:off x="4588867" y="2189361"/>
            <a:ext cx="310459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6F78"/>
                </a:solidFill>
                <a:latin typeface="Arial" pitchFamily="34" charset="0"/>
                <a:ea typeface="Arial" pitchFamily="34" charset="-122"/>
                <a:cs typeface="Arial" pitchFamily="34" charset="-120"/>
              </a:rPr>
              <a:t>2단계 · 5요소 넣기</a:t>
            </a:r>
            <a:endParaRPr lang="en-US" sz="1400" dirty="0"/>
          </a:p>
        </p:txBody>
      </p:sp>
      <p:sp>
        <p:nvSpPr>
          <p:cNvPr id="10" name="Text 8"/>
          <p:cNvSpPr/>
          <p:nvPr/>
        </p:nvSpPr>
        <p:spPr>
          <a:xfrm>
            <a:off x="4588867" y="2514402"/>
            <a:ext cx="3104591"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304D"/>
                </a:solidFill>
                <a:latin typeface="Arial" pitchFamily="34" charset="0"/>
                <a:ea typeface="Arial" pitchFamily="34" charset="-122"/>
                <a:cs typeface="Arial" pitchFamily="34" charset="-120"/>
              </a:rPr>
              <a:t>아래 정보로 역할·작업·맥락·형식·조건을 갖춘 프롬프트를 직접 작성</a:t>
            </a:r>
            <a:endParaRPr lang="en-US" sz="1400" dirty="0"/>
          </a:p>
        </p:txBody>
      </p:sp>
      <p:sp>
        <p:nvSpPr>
          <p:cNvPr id="11" name="Shape 9"/>
          <p:cNvSpPr/>
          <p:nvPr/>
        </p:nvSpPr>
        <p:spPr>
          <a:xfrm>
            <a:off x="7958634" y="1986161"/>
            <a:ext cx="3420566" cy="1531541"/>
          </a:xfrm>
          <a:prstGeom prst="roundRect">
            <a:avLst>
              <a:gd name="adj" fmla="val 6634"/>
            </a:avLst>
          </a:prstGeom>
          <a:solidFill>
            <a:srgbClr val="FCFCFA"/>
          </a:solidFill>
          <a:ln/>
        </p:spPr>
      </p:sp>
      <p:sp>
        <p:nvSpPr>
          <p:cNvPr id="12" name="Text 10"/>
          <p:cNvSpPr/>
          <p:nvPr/>
        </p:nvSpPr>
        <p:spPr>
          <a:xfrm>
            <a:off x="8161834" y="2189361"/>
            <a:ext cx="310459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6F78"/>
                </a:solidFill>
                <a:latin typeface="Arial" pitchFamily="34" charset="0"/>
                <a:ea typeface="Arial" pitchFamily="34" charset="-122"/>
                <a:cs typeface="Arial" pitchFamily="34" charset="-120"/>
              </a:rPr>
              <a:t>3단계 · 대화로 다듬기</a:t>
            </a:r>
            <a:endParaRPr lang="en-US" sz="1400" dirty="0"/>
          </a:p>
        </p:txBody>
      </p:sp>
      <p:sp>
        <p:nvSpPr>
          <p:cNvPr id="13" name="Text 11"/>
          <p:cNvSpPr/>
          <p:nvPr/>
        </p:nvSpPr>
        <p:spPr>
          <a:xfrm>
            <a:off x="8161834" y="2514402"/>
            <a:ext cx="3104591"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304D"/>
                </a:solidFill>
                <a:latin typeface="Arial" pitchFamily="34" charset="0"/>
                <a:ea typeface="Arial" pitchFamily="34" charset="-122"/>
                <a:cs typeface="Arial" pitchFamily="34" charset="-120"/>
              </a:rPr>
              <a:t>이어서 두 가지 요청</a:t>
            </a:r>
            <a:endParaRPr lang="en-US" sz="1400" dirty="0"/>
          </a:p>
        </p:txBody>
      </p:sp>
      <p:sp>
        <p:nvSpPr>
          <p:cNvPr id="14" name="Text 12"/>
          <p:cNvSpPr/>
          <p:nvPr/>
        </p:nvSpPr>
        <p:spPr>
          <a:xfrm>
            <a:off x="8161834" y="2857302"/>
            <a:ext cx="310459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3D4A57"/>
                </a:solidFill>
                <a:latin typeface="Arial" pitchFamily="34" charset="0"/>
                <a:ea typeface="Arial" pitchFamily="34" charset="-122"/>
                <a:cs typeface="Arial" pitchFamily="34" charset="-120"/>
              </a:rPr>
              <a:t>예: “일정을 표로” / “메신저 공지용 3줄 버전도”</a:t>
            </a:r>
            <a:endParaRPr lang="en-US" sz="1200" dirty="0"/>
          </a:p>
        </p:txBody>
      </p:sp>
      <p:sp>
        <p:nvSpPr>
          <p:cNvPr id="15" name="Shape 13"/>
          <p:cNvSpPr/>
          <p:nvPr/>
        </p:nvSpPr>
        <p:spPr>
          <a:xfrm>
            <a:off x="812800" y="3771702"/>
            <a:ext cx="10566400" cy="1282601"/>
          </a:xfrm>
          <a:prstGeom prst="roundRect">
            <a:avLst>
              <a:gd name="adj" fmla="val 7921"/>
            </a:avLst>
          </a:prstGeom>
          <a:solidFill>
            <a:srgbClr val="12304D"/>
          </a:solidFill>
          <a:ln/>
        </p:spPr>
      </p:sp>
      <p:sp>
        <p:nvSpPr>
          <p:cNvPr id="16" name="Text 14"/>
          <p:cNvSpPr/>
          <p:nvPr/>
        </p:nvSpPr>
        <p:spPr>
          <a:xfrm>
            <a:off x="1066800" y="3974902"/>
            <a:ext cx="1036015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Arial" pitchFamily="34" charset="0"/>
                <a:ea typeface="Arial" pitchFamily="34" charset="-122"/>
                <a:cs typeface="Arial" pitchFamily="34" charset="-120"/>
              </a:rPr>
              <a:t>2단계에 쓸 정보</a:t>
            </a:r>
            <a:endParaRPr lang="en-US" sz="1300" dirty="0"/>
          </a:p>
        </p:txBody>
      </p:sp>
      <p:sp>
        <p:nvSpPr>
          <p:cNvPr id="17" name="Text 15"/>
          <p:cNvSpPr/>
          <p:nvPr/>
        </p:nvSpPr>
        <p:spPr>
          <a:xfrm>
            <a:off x="1066800" y="4282182"/>
            <a:ext cx="10360152"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F5F4EF"/>
                </a:solidFill>
                <a:latin typeface="Arial" pitchFamily="34" charset="0"/>
                <a:ea typeface="Arial" pitchFamily="34" charset="-122"/>
                <a:cs typeface="Arial" pitchFamily="34" charset="-120"/>
              </a:rPr>
              <a:t>일시 11월 7일(금) 13:00~18:00 · 장소 ○○연수원 · 대상 전 직원 30명 · 내용 팀 빌딩, 하반기 목표 공유 · 복장 편한 복장 · 참석 회신 10월 31일까지</a:t>
            </a:r>
            <a:endParaRPr lang="en-US" sz="1400" dirty="0"/>
          </a:p>
        </p:txBody>
      </p:sp>
      <p:sp>
        <p:nvSpPr>
          <p:cNvPr id="18" name="Text 16"/>
          <p:cNvSpPr/>
          <p:nvPr/>
        </p:nvSpPr>
        <p:spPr>
          <a:xfrm>
            <a:off x="812800" y="530830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4D"/>
                </a:solidFill>
                <a:latin typeface="Arial" pitchFamily="34" charset="0"/>
                <a:ea typeface="Arial" pitchFamily="34" charset="-122"/>
                <a:cs typeface="Arial" pitchFamily="34" charset="-120"/>
              </a:rPr>
              <a:t>비교 · 1단계와 3단계 중 바로 보낼 수 있는 쪽은? 짝과 프롬프트를 바꿔 보세요.</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304D"/>
        </a:solidFill>
      </p:bgPr>
    </p:bg>
    <p:spTree>
      <p:nvGrpSpPr>
        <p:cNvPr id="1" name=""/>
        <p:cNvGrpSpPr/>
        <p:nvPr/>
      </p:nvGrpSpPr>
      <p:grpSpPr>
        <a:xfrm>
          <a:off x="0" y="0"/>
          <a:ext cx="0" cy="0"/>
          <a:chOff x="0" y="0"/>
          <a:chExt cx="0" cy="0"/>
        </a:xfrm>
      </p:grpSpPr>
      <p:sp>
        <p:nvSpPr>
          <p:cNvPr id="2" name="Text 0"/>
          <p:cNvSpPr/>
          <p:nvPr/>
        </p:nvSpPr>
        <p:spPr>
          <a:xfrm>
            <a:off x="6800850" y="1270000"/>
            <a:ext cx="4578350" cy="2565400"/>
          </a:xfrm>
          <a:prstGeom prst="rect">
            <a:avLst/>
          </a:prstGeom>
          <a:noFill/>
          <a:ln/>
        </p:spPr>
        <p:txBody>
          <a:bodyPr wrap="square" lIns="0" tIns="0" rIns="0" bIns="0" rtlCol="0" anchor="t">
            <a:normAutofit/>
          </a:bodyPr>
          <a:lstStyle/>
          <a:p>
            <a:pPr algn="r" indent="0" marL="0">
              <a:lnSpc>
                <a:spcPts val="20000"/>
              </a:lnSpc>
              <a:buNone/>
            </a:pPr>
            <a:r>
              <a:rPr lang="en-US" sz="20000" b="1" dirty="0">
                <a:solidFill>
                  <a:srgbClr val="1C3F62"/>
                </a:solidFill>
                <a:latin typeface="Arial" pitchFamily="34" charset="0"/>
                <a:ea typeface="Arial" pitchFamily="34" charset="-122"/>
                <a:cs typeface="Arial" pitchFamily="34" charset="-120"/>
              </a:rPr>
              <a:t>04</a:t>
            </a:r>
            <a:endParaRPr lang="en-US" sz="20000" dirty="0"/>
          </a:p>
        </p:txBody>
      </p:sp>
      <p:sp>
        <p:nvSpPr>
          <p:cNvPr id="3" name="Text 1"/>
          <p:cNvSpPr/>
          <p:nvPr/>
        </p:nvSpPr>
        <p:spPr>
          <a:xfrm>
            <a:off x="812800" y="224799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A65A"/>
                </a:solidFill>
                <a:latin typeface="Arial" pitchFamily="34" charset="0"/>
                <a:ea typeface="Arial" pitchFamily="34" charset="-122"/>
                <a:cs typeface="Arial" pitchFamily="34" charset="-120"/>
              </a:rPr>
              <a:t>4교시 · 50분</a:t>
            </a:r>
            <a:endParaRPr lang="en-US" sz="1600" dirty="0"/>
          </a:p>
        </p:txBody>
      </p:sp>
      <p:sp>
        <p:nvSpPr>
          <p:cNvPr id="4" name="Text 2"/>
          <p:cNvSpPr/>
          <p:nvPr>
            <p:ph type="title"/>
          </p:nvPr>
        </p:nvSpPr>
        <p:spPr>
          <a:xfrm>
            <a:off x="812800" y="2761059"/>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4EF"/>
                </a:solidFill>
                <a:latin typeface="Arial" pitchFamily="34" charset="0"/>
                <a:ea typeface="Arial" pitchFamily="34" charset="-122"/>
                <a:cs typeface="Arial" pitchFamily="34" charset="-120"/>
              </a:rPr>
              <a:t>업무 문서 작성</a:t>
            </a:r>
            <a:endParaRPr lang="en-US" sz="4800" dirty="0"/>
          </a:p>
        </p:txBody>
      </p:sp>
      <p:sp>
        <p:nvSpPr>
          <p:cNvPr id="5" name="Text 3"/>
          <p:cNvSpPr/>
          <p:nvPr/>
        </p:nvSpPr>
        <p:spPr>
          <a:xfrm>
            <a:off x="812800" y="366018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D0DE"/>
                </a:solidFill>
                <a:latin typeface="Arial" pitchFamily="34" charset="0"/>
                <a:ea typeface="Arial" pitchFamily="34" charset="-122"/>
                <a:cs typeface="Arial" pitchFamily="34" charset="-120"/>
              </a:rPr>
              <a:t>메일, 보고서, 회의록의 초안을 AI와 함께 만듭니다</a:t>
            </a:r>
            <a:endParaRPr lang="en-US" sz="1800" dirty="0"/>
          </a:p>
        </p:txBody>
      </p:sp>
      <p:sp>
        <p:nvSpPr>
          <p:cNvPr id="6" name="Text 4"/>
          <p:cNvSpPr/>
          <p:nvPr/>
        </p:nvSpPr>
        <p:spPr>
          <a:xfrm>
            <a:off x="812800" y="4208760"/>
            <a:ext cx="1442343"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업무 문서 4종</a:t>
            </a:r>
            <a:endParaRPr lang="en-US" sz="1400" dirty="0"/>
          </a:p>
        </p:txBody>
      </p:sp>
      <p:sp>
        <p:nvSpPr>
          <p:cNvPr id="7" name="Text 5"/>
          <p:cNvSpPr/>
          <p:nvPr/>
        </p:nvSpPr>
        <p:spPr>
          <a:xfrm>
            <a:off x="2356743" y="4208760"/>
            <a:ext cx="2054622"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메일 프롬프트 템플릿</a:t>
            </a:r>
            <a:endParaRPr lang="en-US" sz="1400" dirty="0"/>
          </a:p>
        </p:txBody>
      </p:sp>
      <p:sp>
        <p:nvSpPr>
          <p:cNvPr id="8" name="Text 6"/>
          <p:cNvSpPr/>
          <p:nvPr/>
        </p:nvSpPr>
        <p:spPr>
          <a:xfrm>
            <a:off x="4512965" y="4208760"/>
            <a:ext cx="859532" cy="401241"/>
          </a:xfrm>
          <a:prstGeom prst="roundRect">
            <a:avLst>
              <a:gd name="adj" fmla="val 50000"/>
            </a:avLst>
          </a:prstGeom>
          <a:solidFill>
            <a:srgbClr val="1F6F7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실습 3</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업무 문서 4종</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재료는 내가, 요리는 AI가</a:t>
            </a:r>
            <a:endParaRPr lang="en-US" sz="3200" dirty="0"/>
          </a:p>
        </p:txBody>
      </p:sp>
      <p:sp>
        <p:nvSpPr>
          <p:cNvPr id="4" name="Shape 2"/>
          <p:cNvSpPr/>
          <p:nvPr/>
        </p:nvSpPr>
        <p:spPr>
          <a:xfrm>
            <a:off x="815975" y="1887736"/>
            <a:ext cx="5200650" cy="985441"/>
          </a:xfrm>
          <a:prstGeom prst="roundRect">
            <a:avLst>
              <a:gd name="adj" fmla="val 9988"/>
            </a:avLst>
          </a:prstGeom>
          <a:solidFill>
            <a:srgbClr val="FCFCFA"/>
          </a:solidFill>
          <a:ln w="6350">
            <a:solidFill>
              <a:srgbClr val="D9DDE1"/>
            </a:solidFill>
            <a:prstDash val="solid"/>
          </a:ln>
        </p:spPr>
      </p:sp>
      <p:pic>
        <p:nvPicPr>
          <p:cNvPr id="5" name="Image 0" descr="PaperPlane">    </p:cNvPr>
          <p:cNvPicPr>
            <a:picLocks noChangeAspect="1"/>
          </p:cNvPicPr>
          <p:nvPr/>
        </p:nvPicPr>
        <p:blipFill>
          <a:blip r:embed="rId1"/>
          <a:srcRect l="0" r="0" t="0" b="0"/>
          <a:stretch/>
        </p:blipFill>
        <p:spPr>
          <a:xfrm>
            <a:off x="1022350" y="2094111"/>
            <a:ext cx="330200" cy="330200"/>
          </a:xfrm>
          <a:prstGeom prst="rect">
            <a:avLst/>
          </a:prstGeom>
        </p:spPr>
      </p:pic>
      <p:sp>
        <p:nvSpPr>
          <p:cNvPr id="6" name="Text 3"/>
          <p:cNvSpPr/>
          <p:nvPr/>
        </p:nvSpPr>
        <p:spPr>
          <a:xfrm>
            <a:off x="1504950" y="2094111"/>
            <a:ext cx="297592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업무 메일</a:t>
            </a:r>
            <a:endParaRPr lang="en-US" sz="1800" dirty="0"/>
          </a:p>
        </p:txBody>
      </p:sp>
      <p:sp>
        <p:nvSpPr>
          <p:cNvPr id="7" name="Text 4"/>
          <p:cNvSpPr/>
          <p:nvPr/>
        </p:nvSpPr>
        <p:spPr>
          <a:xfrm>
            <a:off x="1504950" y="2419152"/>
            <a:ext cx="346710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받는 사람 · 목적 · 핵심 내용 · 회신 요청</a:t>
            </a:r>
            <a:endParaRPr lang="en-US" sz="1300" dirty="0"/>
          </a:p>
        </p:txBody>
      </p:sp>
      <p:sp>
        <p:nvSpPr>
          <p:cNvPr id="8" name="Shape 5"/>
          <p:cNvSpPr/>
          <p:nvPr/>
        </p:nvSpPr>
        <p:spPr>
          <a:xfrm>
            <a:off x="6175375" y="1887736"/>
            <a:ext cx="5200650" cy="985441"/>
          </a:xfrm>
          <a:prstGeom prst="roundRect">
            <a:avLst>
              <a:gd name="adj" fmla="val 9988"/>
            </a:avLst>
          </a:prstGeom>
          <a:solidFill>
            <a:srgbClr val="FCFCFA"/>
          </a:solidFill>
          <a:ln w="6350">
            <a:solidFill>
              <a:srgbClr val="D9DDE1"/>
            </a:solidFill>
            <a:prstDash val="solid"/>
          </a:ln>
        </p:spPr>
      </p:sp>
      <p:pic>
        <p:nvPicPr>
          <p:cNvPr id="9" name="Image 1" descr="Chart">    </p:cNvPr>
          <p:cNvPicPr>
            <a:picLocks noChangeAspect="1"/>
          </p:cNvPicPr>
          <p:nvPr/>
        </p:nvPicPr>
        <p:blipFill>
          <a:blip r:embed="rId2"/>
          <a:srcRect l="0" r="0" t="0" b="0"/>
          <a:stretch/>
        </p:blipFill>
        <p:spPr>
          <a:xfrm>
            <a:off x="6381750" y="2094111"/>
            <a:ext cx="330200" cy="330200"/>
          </a:xfrm>
          <a:prstGeom prst="rect">
            <a:avLst/>
          </a:prstGeom>
        </p:spPr>
      </p:pic>
      <p:sp>
        <p:nvSpPr>
          <p:cNvPr id="10" name="Text 6"/>
          <p:cNvSpPr/>
          <p:nvPr/>
        </p:nvSpPr>
        <p:spPr>
          <a:xfrm>
            <a:off x="6864350" y="2094111"/>
            <a:ext cx="275855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보고서</a:t>
            </a:r>
            <a:endParaRPr lang="en-US" sz="1800" dirty="0"/>
          </a:p>
        </p:txBody>
      </p:sp>
      <p:sp>
        <p:nvSpPr>
          <p:cNvPr id="11" name="Text 7"/>
          <p:cNvSpPr/>
          <p:nvPr/>
        </p:nvSpPr>
        <p:spPr>
          <a:xfrm>
            <a:off x="6864350" y="2419152"/>
            <a:ext cx="3213854"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보고 목적 · 사실과 수치 · 결론 · 분량</a:t>
            </a:r>
            <a:endParaRPr lang="en-US" sz="1300" dirty="0"/>
          </a:p>
        </p:txBody>
      </p:sp>
      <p:sp>
        <p:nvSpPr>
          <p:cNvPr id="12" name="Shape 8"/>
          <p:cNvSpPr/>
          <p:nvPr/>
        </p:nvSpPr>
        <p:spPr>
          <a:xfrm>
            <a:off x="815975" y="3031927"/>
            <a:ext cx="5200650" cy="985441"/>
          </a:xfrm>
          <a:prstGeom prst="roundRect">
            <a:avLst>
              <a:gd name="adj" fmla="val 9988"/>
            </a:avLst>
          </a:prstGeom>
          <a:solidFill>
            <a:srgbClr val="FCFCFA"/>
          </a:solidFill>
          <a:ln w="6350">
            <a:solidFill>
              <a:srgbClr val="D9DDE1"/>
            </a:solidFill>
            <a:prstDash val="solid"/>
          </a:ln>
        </p:spPr>
      </p:sp>
      <p:pic>
        <p:nvPicPr>
          <p:cNvPr id="13" name="Image 2" descr="Users">    </p:cNvPr>
          <p:cNvPicPr>
            <a:picLocks noChangeAspect="1"/>
          </p:cNvPicPr>
          <p:nvPr/>
        </p:nvPicPr>
        <p:blipFill>
          <a:blip r:embed="rId3"/>
          <a:srcRect l="0" r="0" t="0" b="0"/>
          <a:stretch/>
        </p:blipFill>
        <p:spPr>
          <a:xfrm>
            <a:off x="1022350" y="3238302"/>
            <a:ext cx="330200" cy="330200"/>
          </a:xfrm>
          <a:prstGeom prst="rect">
            <a:avLst/>
          </a:prstGeom>
        </p:spPr>
      </p:pic>
      <p:sp>
        <p:nvSpPr>
          <p:cNvPr id="14" name="Text 9"/>
          <p:cNvSpPr/>
          <p:nvPr/>
        </p:nvSpPr>
        <p:spPr>
          <a:xfrm>
            <a:off x="1504950" y="3238302"/>
            <a:ext cx="21634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회의록</a:t>
            </a:r>
            <a:endParaRPr lang="en-US" sz="1800" dirty="0"/>
          </a:p>
        </p:txBody>
      </p:sp>
      <p:sp>
        <p:nvSpPr>
          <p:cNvPr id="15" name="Text 10"/>
          <p:cNvSpPr/>
          <p:nvPr/>
        </p:nvSpPr>
        <p:spPr>
          <a:xfrm>
            <a:off x="1504950" y="3563342"/>
            <a:ext cx="2520553"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회의 메모 원문 · 원하는 양식</a:t>
            </a:r>
            <a:endParaRPr lang="en-US" sz="1300" dirty="0"/>
          </a:p>
        </p:txBody>
      </p:sp>
      <p:sp>
        <p:nvSpPr>
          <p:cNvPr id="16" name="Shape 11"/>
          <p:cNvSpPr/>
          <p:nvPr/>
        </p:nvSpPr>
        <p:spPr>
          <a:xfrm>
            <a:off x="6175375" y="3031927"/>
            <a:ext cx="5200650" cy="985441"/>
          </a:xfrm>
          <a:prstGeom prst="roundRect">
            <a:avLst>
              <a:gd name="adj" fmla="val 9988"/>
            </a:avLst>
          </a:prstGeom>
          <a:solidFill>
            <a:srgbClr val="FCFCFA"/>
          </a:solidFill>
          <a:ln w="6350">
            <a:solidFill>
              <a:srgbClr val="D9DDE1"/>
            </a:solidFill>
            <a:prstDash val="solid"/>
          </a:ln>
        </p:spPr>
      </p:sp>
      <p:pic>
        <p:nvPicPr>
          <p:cNvPr id="17" name="Image 3" descr="Book">    </p:cNvPr>
          <p:cNvPicPr>
            <a:picLocks noChangeAspect="1"/>
          </p:cNvPicPr>
          <p:nvPr/>
        </p:nvPicPr>
        <p:blipFill>
          <a:blip r:embed="rId4"/>
          <a:srcRect l="0" r="0" t="0" b="0"/>
          <a:stretch/>
        </p:blipFill>
        <p:spPr>
          <a:xfrm>
            <a:off x="6381750" y="3238302"/>
            <a:ext cx="330200" cy="330200"/>
          </a:xfrm>
          <a:prstGeom prst="rect">
            <a:avLst/>
          </a:prstGeom>
        </p:spPr>
      </p:pic>
      <p:sp>
        <p:nvSpPr>
          <p:cNvPr id="18" name="Text 12"/>
          <p:cNvSpPr/>
          <p:nvPr/>
        </p:nvSpPr>
        <p:spPr>
          <a:xfrm>
            <a:off x="6864350" y="3238302"/>
            <a:ext cx="232402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공지문</a:t>
            </a:r>
            <a:endParaRPr lang="en-US" sz="1800" dirty="0"/>
          </a:p>
        </p:txBody>
      </p:sp>
      <p:sp>
        <p:nvSpPr>
          <p:cNvPr id="19" name="Text 13"/>
          <p:cNvSpPr/>
          <p:nvPr/>
        </p:nvSpPr>
        <p:spPr>
          <a:xfrm>
            <a:off x="6864350" y="3563342"/>
            <a:ext cx="270760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대상 · 일시·장소 · 해야 할 행동</a:t>
            </a:r>
            <a:endParaRPr lang="en-US" sz="1300" dirty="0"/>
          </a:p>
        </p:txBody>
      </p:sp>
      <p:sp>
        <p:nvSpPr>
          <p:cNvPr id="20" name="Text 14"/>
          <p:cNvSpPr/>
          <p:nvPr/>
        </p:nvSpPr>
        <p:spPr>
          <a:xfrm>
            <a:off x="812800" y="4299942"/>
            <a:ext cx="10566400" cy="622300"/>
          </a:xfrm>
          <a:prstGeom prst="roundRect">
            <a:avLst>
              <a:gd name="adj" fmla="val 16327"/>
            </a:avLst>
          </a:prstGeom>
          <a:solidFill>
            <a:srgbClr val="12304D"/>
          </a:solidFill>
          <a:ln/>
        </p:spPr>
        <p:txBody>
          <a:bodyPr wrap="square" lIns="224242" tIns="148042" rIns="0" bIns="122642" rtlCol="0" anchor="t">
            <a:normAutofit/>
          </a:bodyPr>
          <a:lstStyle/>
          <a:p>
            <a:pPr algn="l" indent="0" marL="0">
              <a:lnSpc>
                <a:spcPts val="2100"/>
              </a:lnSpc>
              <a:buNone/>
            </a:pPr>
            <a:r>
              <a:rPr lang="en-US" sz="1500" dirty="0">
                <a:solidFill>
                  <a:srgbClr val="F5F4EF"/>
                </a:solidFill>
                <a:latin typeface="Arial" pitchFamily="34" charset="0"/>
                <a:ea typeface="Arial" pitchFamily="34" charset="-122"/>
                <a:cs typeface="Arial" pitchFamily="34" charset="-120"/>
              </a:rPr>
              <a:t>사실(날짜·숫자·이름)은 </a:t>
            </a:r>
            <a:r>
              <a:rPr lang="en-US" sz="1500" b="1" dirty="0">
                <a:solidFill>
                  <a:srgbClr val="F2A65A"/>
                </a:solidFill>
                <a:latin typeface="Arial" pitchFamily="34" charset="0"/>
                <a:ea typeface="Arial" pitchFamily="34" charset="-122"/>
                <a:cs typeface="Arial" pitchFamily="34" charset="-120"/>
              </a:rPr>
              <a:t>내가 직접 넣어 주고</a:t>
            </a:r>
            <a:r>
              <a:rPr lang="en-US" sz="1500" dirty="0">
                <a:solidFill>
                  <a:srgbClr val="F5F4EF"/>
                </a:solidFill>
                <a:latin typeface="Arial" pitchFamily="34" charset="0"/>
                <a:ea typeface="Arial" pitchFamily="34" charset="-122"/>
                <a:cs typeface="Arial" pitchFamily="34" charset="-120"/>
              </a:rPr>
              <a:t>, AI에게는 정리와 문장을 맡깁니다.</a:t>
            </a:r>
            <a:endParaRPr lang="en-US" sz="1500" dirty="0"/>
          </a:p>
        </p:txBody>
      </p:sp>
      <p:sp>
        <p:nvSpPr>
          <p:cNvPr id="21"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메일 프롬프트 템플릿</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빈칸만 채우면 되는 메일 프롬프트</a:t>
            </a:r>
            <a:endParaRPr lang="en-US" sz="3200" dirty="0"/>
          </a:p>
        </p:txBody>
      </p:sp>
      <p:sp>
        <p:nvSpPr>
          <p:cNvPr id="4" name="Shape 2"/>
          <p:cNvSpPr/>
          <p:nvPr/>
        </p:nvSpPr>
        <p:spPr>
          <a:xfrm>
            <a:off x="812800" y="1884561"/>
            <a:ext cx="6078240" cy="2654002"/>
          </a:xfrm>
          <a:prstGeom prst="roundRect">
            <a:avLst>
              <a:gd name="adj" fmla="val 3828"/>
            </a:avLst>
          </a:prstGeom>
          <a:solidFill>
            <a:srgbClr val="12304D"/>
          </a:solidFill>
          <a:ln/>
        </p:spPr>
      </p:sp>
      <p:sp>
        <p:nvSpPr>
          <p:cNvPr id="5" name="Text 3"/>
          <p:cNvSpPr/>
          <p:nvPr/>
        </p:nvSpPr>
        <p:spPr>
          <a:xfrm>
            <a:off x="1066800" y="2138561"/>
            <a:ext cx="573734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Arial" pitchFamily="34" charset="0"/>
                <a:ea typeface="Arial" pitchFamily="34" charset="-122"/>
                <a:cs typeface="Arial" pitchFamily="34" charset="-120"/>
              </a:rPr>
              <a:t>복사해서 쓰는 템플릿</a:t>
            </a:r>
            <a:endParaRPr lang="en-US" sz="1300" dirty="0"/>
          </a:p>
        </p:txBody>
      </p:sp>
      <p:sp>
        <p:nvSpPr>
          <p:cNvPr id="6" name="Text 4"/>
          <p:cNvSpPr/>
          <p:nvPr/>
        </p:nvSpPr>
        <p:spPr>
          <a:xfrm>
            <a:off x="1066800" y="2471241"/>
            <a:ext cx="5737347" cy="1838722"/>
          </a:xfrm>
          <a:prstGeom prst="rect">
            <a:avLst/>
          </a:prstGeom>
          <a:noFill/>
          <a:ln/>
        </p:spPr>
        <p:txBody>
          <a:bodyPr wrap="square" lIns="0" tIns="0" rIns="0" bIns="0" rtlCol="0" anchor="t">
            <a:normAutofit/>
          </a:bodyPr>
          <a:lstStyle/>
          <a:p>
            <a:pPr algn="l" indent="0" marL="0">
              <a:lnSpc>
                <a:spcPts val="2380"/>
              </a:lnSpc>
              <a:buNone/>
            </a:pPr>
            <a:r>
              <a:rPr lang="en-US" sz="1400" dirty="0">
                <a:solidFill>
                  <a:srgbClr val="F5F4EF"/>
                </a:solidFill>
                <a:latin typeface="Arial" pitchFamily="34" charset="0"/>
                <a:ea typeface="Arial" pitchFamily="34" charset="-122"/>
                <a:cs typeface="Arial" pitchFamily="34" charset="-120"/>
              </a:rPr>
              <a:t>너는 [부서] 직원이야.</a:t>
            </a:r>
            <a:endParaRPr lang="en-US" sz="1400" dirty="0"/>
          </a:p>
          <a:p>
            <a:pPr algn="l" indent="0" marL="0">
              <a:lnSpc>
                <a:spcPts val="2380"/>
              </a:lnSpc>
              <a:buNone/>
            </a:pPr>
            <a:r>
              <a:rPr lang="en-US" sz="1400" dirty="0">
                <a:solidFill>
                  <a:srgbClr val="F5F4EF"/>
                </a:solidFill>
                <a:latin typeface="Arial" pitchFamily="34" charset="0"/>
                <a:ea typeface="Arial" pitchFamily="34" charset="-122"/>
                <a:cs typeface="Arial" pitchFamily="34" charset="-120"/>
              </a:rPr>
              <a:t>[받는 사람]에게 [목적] 메일을 써 줘.</a:t>
            </a:r>
            <a:endParaRPr lang="en-US" sz="1400" dirty="0"/>
          </a:p>
          <a:p>
            <a:pPr algn="l" indent="0" marL="0">
              <a:lnSpc>
                <a:spcPts val="2380"/>
              </a:lnSpc>
              <a:buNone/>
            </a:pPr>
            <a:r>
              <a:rPr lang="en-US" sz="1400" dirty="0">
                <a:solidFill>
                  <a:srgbClr val="F5F4EF"/>
                </a:solidFill>
                <a:latin typeface="Arial" pitchFamily="34" charset="0"/>
                <a:ea typeface="Arial" pitchFamily="34" charset="-122"/>
                <a:cs typeface="Arial" pitchFamily="34" charset="-120"/>
              </a:rPr>
              <a:t>꼭 들어갈 내용: ① [ ] ② [ ] ③ [ ]</a:t>
            </a:r>
            <a:endParaRPr lang="en-US" sz="1400" dirty="0"/>
          </a:p>
          <a:p>
            <a:pPr algn="l" indent="0" marL="0">
              <a:lnSpc>
                <a:spcPts val="2380"/>
              </a:lnSpc>
              <a:buNone/>
            </a:pPr>
            <a:r>
              <a:rPr lang="en-US" sz="1400" dirty="0">
                <a:solidFill>
                  <a:srgbClr val="F5F4EF"/>
                </a:solidFill>
                <a:latin typeface="Arial" pitchFamily="34" charset="0"/>
                <a:ea typeface="Arial" pitchFamily="34" charset="-122"/>
                <a:cs typeface="Arial" pitchFamily="34" charset="-120"/>
              </a:rPr>
              <a:t>회신 요청: [무엇을 언제까지]</a:t>
            </a:r>
            <a:endParaRPr lang="en-US" sz="1400" dirty="0"/>
          </a:p>
          <a:p>
            <a:pPr algn="l" indent="0" marL="0">
              <a:lnSpc>
                <a:spcPts val="2380"/>
              </a:lnSpc>
              <a:buNone/>
            </a:pPr>
            <a:r>
              <a:rPr lang="en-US" sz="1400" dirty="0">
                <a:solidFill>
                  <a:srgbClr val="F5F4EF"/>
                </a:solidFill>
                <a:latin typeface="Arial" pitchFamily="34" charset="0"/>
                <a:ea typeface="Arial" pitchFamily="34" charset="-122"/>
                <a:cs typeface="Arial" pitchFamily="34" charset="-120"/>
              </a:rPr>
              <a:t>형식: 제목 1줄 + 인사 + 본문 + 맺음말</a:t>
            </a:r>
            <a:endParaRPr lang="en-US" sz="1400" dirty="0"/>
          </a:p>
          <a:p>
            <a:pPr algn="l" indent="0" marL="0">
              <a:lnSpc>
                <a:spcPts val="2380"/>
              </a:lnSpc>
              <a:buNone/>
            </a:pPr>
            <a:r>
              <a:rPr lang="en-US" sz="1400" dirty="0">
                <a:solidFill>
                  <a:srgbClr val="F5F4EF"/>
                </a:solidFill>
                <a:latin typeface="Arial" pitchFamily="34" charset="0"/>
                <a:ea typeface="Arial" pitchFamily="34" charset="-122"/>
                <a:cs typeface="Arial" pitchFamily="34" charset="-120"/>
              </a:rPr>
              <a:t>조건: [어조], [분량], 없는 내용은 지어내지 마.</a:t>
            </a:r>
            <a:endParaRPr lang="en-US" sz="1400" dirty="0"/>
          </a:p>
        </p:txBody>
      </p:sp>
      <p:sp>
        <p:nvSpPr>
          <p:cNvPr id="7" name="Shape 5"/>
          <p:cNvSpPr/>
          <p:nvPr/>
        </p:nvSpPr>
        <p:spPr>
          <a:xfrm>
            <a:off x="7148215" y="1887736"/>
            <a:ext cx="4227810" cy="2647652"/>
          </a:xfrm>
          <a:prstGeom prst="roundRect">
            <a:avLst>
              <a:gd name="adj" fmla="val 3717"/>
            </a:avLst>
          </a:prstGeom>
          <a:solidFill>
            <a:srgbClr val="FCFCFA"/>
          </a:solidFill>
          <a:ln w="6350">
            <a:solidFill>
              <a:srgbClr val="D9DDE1"/>
            </a:solidFill>
            <a:prstDash val="solid"/>
          </a:ln>
        </p:spPr>
      </p:sp>
      <p:pic>
        <p:nvPicPr>
          <p:cNvPr id="8" name="Image 0" descr="CheckCircle">    </p:cNvPr>
          <p:cNvPicPr>
            <a:picLocks noChangeAspect="1"/>
          </p:cNvPicPr>
          <p:nvPr/>
        </p:nvPicPr>
        <p:blipFill>
          <a:blip r:embed="rId1"/>
          <a:srcRect l="0" r="0" t="0" b="0"/>
          <a:stretch/>
        </p:blipFill>
        <p:spPr>
          <a:xfrm>
            <a:off x="7405390" y="2144911"/>
            <a:ext cx="279400" cy="279400"/>
          </a:xfrm>
          <a:prstGeom prst="rect">
            <a:avLst/>
          </a:prstGeom>
        </p:spPr>
      </p:pic>
      <p:sp>
        <p:nvSpPr>
          <p:cNvPr id="9" name="Text 6"/>
          <p:cNvSpPr/>
          <p:nvPr/>
        </p:nvSpPr>
        <p:spPr>
          <a:xfrm>
            <a:off x="7786390" y="2155031"/>
            <a:ext cx="16985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304D"/>
                </a:solidFill>
                <a:latin typeface="Arial" pitchFamily="34" charset="0"/>
                <a:ea typeface="Arial" pitchFamily="34" charset="-122"/>
                <a:cs typeface="Arial" pitchFamily="34" charset="-120"/>
              </a:rPr>
              <a:t>보내기 전 확인</a:t>
            </a:r>
            <a:endParaRPr lang="en-US" sz="1700" dirty="0"/>
          </a:p>
        </p:txBody>
      </p:sp>
      <p:sp>
        <p:nvSpPr>
          <p:cNvPr id="10" name="Text 7"/>
          <p:cNvSpPr/>
          <p:nvPr/>
        </p:nvSpPr>
        <p:spPr>
          <a:xfrm>
            <a:off x="7502672" y="2525911"/>
            <a:ext cx="3719962" cy="1305322"/>
          </a:xfrm>
          <a:prstGeom prst="rect">
            <a:avLst/>
          </a:prstGeom>
          <a:noFill/>
          <a:ln/>
        </p:spPr>
        <p:txBody>
          <a:bodyPr wrap="square" lIns="0" tIns="0" rIns="0" bIns="0" rtlCol="0" anchor="t">
            <a:normAutofit/>
          </a:bodyPr>
          <a:lstStyle/>
          <a:p>
            <a:pPr algn="l" marL="156718" indent="-156718">
              <a:lnSpc>
                <a:spcPts val="2520"/>
              </a:lnSpc>
              <a:buSzPct val="100000"/>
              <a:buChar char="•"/>
            </a:pPr>
            <a:r>
              <a:rPr lang="en-US" sz="1400" dirty="0">
                <a:solidFill>
                  <a:srgbClr val="3D4A57"/>
                </a:solidFill>
                <a:latin typeface="Arial" pitchFamily="34" charset="0"/>
                <a:ea typeface="Arial" pitchFamily="34" charset="-122"/>
                <a:cs typeface="Arial" pitchFamily="34" charset="-120"/>
              </a:rPr>
              <a:t>받는 사람 이름·직함</a:t>
            </a:r>
            <a:endParaRPr lang="en-US" sz="1400" dirty="0"/>
          </a:p>
          <a:p>
            <a:pPr algn="l" marL="156718" indent="-156718">
              <a:lnSpc>
                <a:spcPts val="2520"/>
              </a:lnSpc>
              <a:buSzPct val="100000"/>
              <a:buChar char="•"/>
            </a:pPr>
            <a:r>
              <a:rPr lang="en-US" sz="1400" dirty="0">
                <a:solidFill>
                  <a:srgbClr val="3D4A57"/>
                </a:solidFill>
                <a:latin typeface="Arial" pitchFamily="34" charset="0"/>
                <a:ea typeface="Arial" pitchFamily="34" charset="-122"/>
                <a:cs typeface="Arial" pitchFamily="34" charset="-120"/>
              </a:rPr>
              <a:t>날짜·시간·숫자</a:t>
            </a:r>
            <a:endParaRPr lang="en-US" sz="1400" dirty="0"/>
          </a:p>
          <a:p>
            <a:pPr algn="l" marL="156718" indent="-156718">
              <a:lnSpc>
                <a:spcPts val="2520"/>
              </a:lnSpc>
              <a:buSzPct val="100000"/>
              <a:buChar char="•"/>
            </a:pPr>
            <a:r>
              <a:rPr lang="en-US" sz="1400" dirty="0">
                <a:solidFill>
                  <a:srgbClr val="3D4A57"/>
                </a:solidFill>
                <a:latin typeface="Arial" pitchFamily="34" charset="0"/>
                <a:ea typeface="Arial" pitchFamily="34" charset="-122"/>
                <a:cs typeface="Arial" pitchFamily="34" charset="-120"/>
              </a:rPr>
              <a:t>첨부파일 언급 여부</a:t>
            </a:r>
            <a:endParaRPr lang="en-US" sz="1400" dirty="0"/>
          </a:p>
          <a:p>
            <a:pPr algn="l" marL="156718" indent="-156718">
              <a:lnSpc>
                <a:spcPts val="2520"/>
              </a:lnSpc>
              <a:buSzPct val="100000"/>
              <a:buChar char="•"/>
            </a:pPr>
            <a:r>
              <a:rPr lang="en-US" sz="1400" dirty="0">
                <a:solidFill>
                  <a:srgbClr val="3D4A57"/>
                </a:solidFill>
                <a:latin typeface="Arial" pitchFamily="34" charset="0"/>
                <a:ea typeface="Arial" pitchFamily="34" charset="-122"/>
                <a:cs typeface="Arial" pitchFamily="34" charset="-120"/>
              </a:rPr>
              <a:t>과장되거나 어색한 표현</a:t>
            </a:r>
            <a:endParaRPr lang="en-US" sz="14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8EEF2"/>
        </a:solidFill>
      </p:bgPr>
    </p:bg>
    <p:spTree>
      <p:nvGrpSpPr>
        <p:cNvPr id="1" name=""/>
        <p:cNvGrpSpPr/>
        <p:nvPr/>
      </p:nvGrpSpPr>
      <p:grpSpPr>
        <a:xfrm>
          <a:off x="0" y="0"/>
          <a:ext cx="0" cy="0"/>
          <a:chOff x="0" y="0"/>
          <a:chExt cx="0" cy="0"/>
        </a:xfrm>
      </p:grpSpPr>
      <p:sp>
        <p:nvSpPr>
          <p:cNvPr id="2" name="Text 0"/>
          <p:cNvSpPr/>
          <p:nvPr/>
        </p:nvSpPr>
        <p:spPr>
          <a:xfrm>
            <a:off x="812800" y="812800"/>
            <a:ext cx="1342330" cy="350441"/>
          </a:xfrm>
          <a:prstGeom prst="roundRect">
            <a:avLst>
              <a:gd name="adj" fmla="val 50000"/>
            </a:avLst>
          </a:prstGeom>
          <a:solidFill>
            <a:srgbClr val="1F6F78"/>
          </a:solidFill>
          <a:ln/>
        </p:spPr>
        <p:txBody>
          <a:bodyPr wrap="none" lIns="0" tIns="0" rIns="0" bIns="0" rtlCol="0" anchor="ctr">
            <a:normAutofit/>
          </a:bodyPr>
          <a:lstStyle/>
          <a:p>
            <a:pPr algn="ctr" indent="0" marL="0">
              <a:lnSpc>
                <a:spcPts val="1960"/>
              </a:lnSpc>
              <a:buNone/>
            </a:pPr>
            <a:r>
              <a:rPr lang="en-US" sz="1400" b="1" dirty="0">
                <a:solidFill>
                  <a:srgbClr val="F5F4EF"/>
                </a:solidFill>
                <a:latin typeface="Arial" pitchFamily="34" charset="0"/>
                <a:ea typeface="Arial" pitchFamily="34" charset="-122"/>
                <a:cs typeface="Arial" pitchFamily="34" charset="-120"/>
              </a:rPr>
              <a:t>실습 3 · 30분</a:t>
            </a:r>
            <a:endParaRPr lang="en-US" sz="1400" dirty="0"/>
          </a:p>
        </p:txBody>
      </p:sp>
      <p:sp>
        <p:nvSpPr>
          <p:cNvPr id="3" name="Text 1"/>
          <p:cNvSpPr/>
          <p:nvPr>
            <p:ph type="title"/>
          </p:nvPr>
        </p:nvSpPr>
        <p:spPr>
          <a:xfrm>
            <a:off x="812800" y="1264841"/>
            <a:ext cx="785717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회의 메모를 회의록과 메일로 바꾸기</a:t>
            </a:r>
            <a:endParaRPr lang="en-US" sz="3200" dirty="0"/>
          </a:p>
        </p:txBody>
      </p:sp>
      <p:sp>
        <p:nvSpPr>
          <p:cNvPr id="4" name="Shape 2"/>
          <p:cNvSpPr/>
          <p:nvPr/>
        </p:nvSpPr>
        <p:spPr>
          <a:xfrm>
            <a:off x="812800" y="1986161"/>
            <a:ext cx="5410200" cy="2560042"/>
          </a:xfrm>
          <a:prstGeom prst="roundRect">
            <a:avLst>
              <a:gd name="adj" fmla="val 3969"/>
            </a:avLst>
          </a:prstGeom>
          <a:solidFill>
            <a:srgbClr val="FCFCFA"/>
          </a:solidFill>
          <a:ln/>
        </p:spPr>
      </p:sp>
      <p:sp>
        <p:nvSpPr>
          <p:cNvPr id="5" name="Text 3"/>
          <p:cNvSpPr/>
          <p:nvPr/>
        </p:nvSpPr>
        <p:spPr>
          <a:xfrm>
            <a:off x="1041400" y="2214761"/>
            <a:ext cx="510159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64F16"/>
                </a:solidFill>
                <a:latin typeface="Arial" pitchFamily="34" charset="0"/>
                <a:ea typeface="Arial" pitchFamily="34" charset="-122"/>
                <a:cs typeface="Arial" pitchFamily="34" charset="-120"/>
              </a:rPr>
              <a:t>회의 메모 (그대로 복사)</a:t>
            </a:r>
            <a:endParaRPr lang="en-US" sz="1300" dirty="0"/>
          </a:p>
        </p:txBody>
      </p:sp>
      <p:sp>
        <p:nvSpPr>
          <p:cNvPr id="6" name="Text 4"/>
          <p:cNvSpPr/>
          <p:nvPr/>
        </p:nvSpPr>
        <p:spPr>
          <a:xfrm>
            <a:off x="1041400" y="2522041"/>
            <a:ext cx="5101590" cy="1346002"/>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2304D"/>
                </a:solidFill>
                <a:latin typeface="Arial" pitchFamily="34" charset="0"/>
                <a:ea typeface="Arial" pitchFamily="34" charset="-122"/>
                <a:cs typeface="Arial" pitchFamily="34" charset="-120"/>
              </a:rPr>
              <a:t>10/17(금) 14시 2층 회의실 / 김팀장, 이대리, 박사원, 최주임 / A사 신규 납품 건 / 1차 납품 11월 첫째 주로 확정 / 샘플 검수 이대리 10/24까지 / 단가 협상 김팀장 다음 주 화요일 미팅 / 납품 체크리스트 박사원 10/22까지 / 배송업체 견적 2곳 비교 최주임 / 다음 회의 10/28(화) 10시</a:t>
            </a:r>
            <a:endParaRPr lang="en-US" sz="1300" dirty="0"/>
          </a:p>
        </p:txBody>
      </p:sp>
      <p:sp>
        <p:nvSpPr>
          <p:cNvPr id="7" name="Shape 5"/>
          <p:cNvSpPr/>
          <p:nvPr/>
        </p:nvSpPr>
        <p:spPr>
          <a:xfrm>
            <a:off x="6426200" y="1986161"/>
            <a:ext cx="4953000" cy="1493341"/>
          </a:xfrm>
          <a:prstGeom prst="roundRect">
            <a:avLst>
              <a:gd name="adj" fmla="val 6804"/>
            </a:avLst>
          </a:prstGeom>
          <a:solidFill>
            <a:srgbClr val="12304D"/>
          </a:solidFill>
          <a:ln/>
        </p:spPr>
      </p:sp>
      <p:sp>
        <p:nvSpPr>
          <p:cNvPr id="8" name="Text 6"/>
          <p:cNvSpPr/>
          <p:nvPr/>
        </p:nvSpPr>
        <p:spPr>
          <a:xfrm>
            <a:off x="6629400" y="2189361"/>
            <a:ext cx="468299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Arial" pitchFamily="34" charset="0"/>
                <a:ea typeface="Arial" pitchFamily="34" charset="-122"/>
                <a:cs typeface="Arial" pitchFamily="34" charset="-120"/>
              </a:rPr>
              <a:t>요청 ①</a:t>
            </a:r>
            <a:endParaRPr lang="en-US" sz="1300" dirty="0"/>
          </a:p>
        </p:txBody>
      </p:sp>
      <p:sp>
        <p:nvSpPr>
          <p:cNvPr id="9" name="Text 7"/>
          <p:cNvSpPr/>
          <p:nvPr/>
        </p:nvSpPr>
        <p:spPr>
          <a:xfrm>
            <a:off x="6629400" y="2483941"/>
            <a:ext cx="4682998" cy="81776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F5F4EF"/>
                </a:solidFill>
                <a:latin typeface="Arial" pitchFamily="34" charset="0"/>
                <a:ea typeface="Arial" pitchFamily="34" charset="-122"/>
                <a:cs typeface="Arial" pitchFamily="34" charset="-120"/>
              </a:rPr>
              <a:t>아래 메모를 회의록으로 정리해 줘. 항목은 일시·장소, 참석자, 안건, 결정 사항, 할 일(담당자·기한 표). 메모에 없는 내용은 추가하지 마.</a:t>
            </a:r>
            <a:endParaRPr lang="en-US" sz="1300" dirty="0"/>
          </a:p>
        </p:txBody>
      </p:sp>
      <p:sp>
        <p:nvSpPr>
          <p:cNvPr id="10" name="Shape 8"/>
          <p:cNvSpPr/>
          <p:nvPr/>
        </p:nvSpPr>
        <p:spPr>
          <a:xfrm>
            <a:off x="6426200" y="3581102"/>
            <a:ext cx="4953000" cy="965101"/>
          </a:xfrm>
          <a:prstGeom prst="roundRect">
            <a:avLst>
              <a:gd name="adj" fmla="val 10527"/>
            </a:avLst>
          </a:prstGeom>
          <a:solidFill>
            <a:srgbClr val="12304D"/>
          </a:solidFill>
          <a:ln/>
        </p:spPr>
      </p:sp>
      <p:sp>
        <p:nvSpPr>
          <p:cNvPr id="11" name="Text 9"/>
          <p:cNvSpPr/>
          <p:nvPr/>
        </p:nvSpPr>
        <p:spPr>
          <a:xfrm>
            <a:off x="6629400" y="3784302"/>
            <a:ext cx="468299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Arial" pitchFamily="34" charset="0"/>
                <a:ea typeface="Arial" pitchFamily="34" charset="-122"/>
                <a:cs typeface="Arial" pitchFamily="34" charset="-120"/>
              </a:rPr>
              <a:t>요청 ②</a:t>
            </a:r>
            <a:endParaRPr lang="en-US" sz="1300" dirty="0"/>
          </a:p>
        </p:txBody>
      </p:sp>
      <p:sp>
        <p:nvSpPr>
          <p:cNvPr id="12" name="Text 10"/>
          <p:cNvSpPr/>
          <p:nvPr/>
        </p:nvSpPr>
        <p:spPr>
          <a:xfrm>
            <a:off x="6629400" y="4078883"/>
            <a:ext cx="4682998" cy="2895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F5F4EF"/>
                </a:solidFill>
                <a:latin typeface="Arial" pitchFamily="34" charset="0"/>
                <a:ea typeface="Arial" pitchFamily="34" charset="-122"/>
                <a:cs typeface="Arial" pitchFamily="34" charset="-120"/>
              </a:rPr>
              <a:t>이 회의록을 참석자에게 공유하는 메일로 바꿔 줘.</a:t>
            </a:r>
            <a:endParaRPr lang="en-US" sz="1300" dirty="0"/>
          </a:p>
        </p:txBody>
      </p:sp>
      <p:sp>
        <p:nvSpPr>
          <p:cNvPr id="13" name="Text 11"/>
          <p:cNvSpPr/>
          <p:nvPr/>
        </p:nvSpPr>
        <p:spPr>
          <a:xfrm>
            <a:off x="812800" y="480020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4D"/>
                </a:solidFill>
                <a:latin typeface="Arial" pitchFamily="34" charset="0"/>
                <a:ea typeface="Arial" pitchFamily="34" charset="-122"/>
                <a:cs typeface="Arial" pitchFamily="34" charset="-120"/>
              </a:rPr>
              <a:t>확인 포인트 · 할 일 표의 담당자와 기한이 메모와 똑같나요?</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304D"/>
        </a:solidFill>
      </p:bgPr>
    </p:bg>
    <p:spTree>
      <p:nvGrpSpPr>
        <p:cNvPr id="1" name=""/>
        <p:cNvGrpSpPr/>
        <p:nvPr/>
      </p:nvGrpSpPr>
      <p:grpSpPr>
        <a:xfrm>
          <a:off x="0" y="0"/>
          <a:ext cx="0" cy="0"/>
          <a:chOff x="0" y="0"/>
          <a:chExt cx="0" cy="0"/>
        </a:xfrm>
      </p:grpSpPr>
      <p:sp>
        <p:nvSpPr>
          <p:cNvPr id="2" name="Text 0"/>
          <p:cNvSpPr/>
          <p:nvPr/>
        </p:nvSpPr>
        <p:spPr>
          <a:xfrm>
            <a:off x="6800850" y="1270000"/>
            <a:ext cx="4578350" cy="2565400"/>
          </a:xfrm>
          <a:prstGeom prst="rect">
            <a:avLst/>
          </a:prstGeom>
          <a:noFill/>
          <a:ln/>
        </p:spPr>
        <p:txBody>
          <a:bodyPr wrap="square" lIns="0" tIns="0" rIns="0" bIns="0" rtlCol="0" anchor="t">
            <a:normAutofit/>
          </a:bodyPr>
          <a:lstStyle/>
          <a:p>
            <a:pPr algn="r" indent="0" marL="0">
              <a:lnSpc>
                <a:spcPts val="20000"/>
              </a:lnSpc>
              <a:buNone/>
            </a:pPr>
            <a:r>
              <a:rPr lang="en-US" sz="20000" b="1" dirty="0">
                <a:solidFill>
                  <a:srgbClr val="1C3F62"/>
                </a:solidFill>
                <a:latin typeface="Arial" pitchFamily="34" charset="0"/>
                <a:ea typeface="Arial" pitchFamily="34" charset="-122"/>
                <a:cs typeface="Arial" pitchFamily="34" charset="-120"/>
              </a:rPr>
              <a:t>05</a:t>
            </a:r>
            <a:endParaRPr lang="en-US" sz="20000" dirty="0"/>
          </a:p>
        </p:txBody>
      </p:sp>
      <p:sp>
        <p:nvSpPr>
          <p:cNvPr id="3" name="Text 1"/>
          <p:cNvSpPr/>
          <p:nvPr/>
        </p:nvSpPr>
        <p:spPr>
          <a:xfrm>
            <a:off x="812800" y="224799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A65A"/>
                </a:solidFill>
                <a:latin typeface="Arial" pitchFamily="34" charset="0"/>
                <a:ea typeface="Arial" pitchFamily="34" charset="-122"/>
                <a:cs typeface="Arial" pitchFamily="34" charset="-120"/>
              </a:rPr>
              <a:t>5교시 · 50분</a:t>
            </a:r>
            <a:endParaRPr lang="en-US" sz="1600" dirty="0"/>
          </a:p>
        </p:txBody>
      </p:sp>
      <p:sp>
        <p:nvSpPr>
          <p:cNvPr id="4" name="Text 2"/>
          <p:cNvSpPr/>
          <p:nvPr>
            <p:ph type="title"/>
          </p:nvPr>
        </p:nvSpPr>
        <p:spPr>
          <a:xfrm>
            <a:off x="812800" y="2761059"/>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4EF"/>
                </a:solidFill>
                <a:latin typeface="Arial" pitchFamily="34" charset="0"/>
                <a:ea typeface="Arial" pitchFamily="34" charset="-122"/>
                <a:cs typeface="Arial" pitchFamily="34" charset="-120"/>
              </a:rPr>
              <a:t>요약 · 번역 · 정보검색</a:t>
            </a:r>
            <a:endParaRPr lang="en-US" sz="4800" dirty="0"/>
          </a:p>
        </p:txBody>
      </p:sp>
      <p:sp>
        <p:nvSpPr>
          <p:cNvPr id="5" name="Text 3"/>
          <p:cNvSpPr/>
          <p:nvPr/>
        </p:nvSpPr>
        <p:spPr>
          <a:xfrm>
            <a:off x="812800" y="366018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D0DE"/>
                </a:solidFill>
                <a:latin typeface="Arial" pitchFamily="34" charset="0"/>
                <a:ea typeface="Arial" pitchFamily="34" charset="-122"/>
                <a:cs typeface="Arial" pitchFamily="34" charset="-120"/>
              </a:rPr>
              <a:t>긴 자료를 빠르게 읽고 필요한 정보만 뽑아냅니다</a:t>
            </a:r>
            <a:endParaRPr lang="en-US" sz="1800" dirty="0"/>
          </a:p>
        </p:txBody>
      </p:sp>
      <p:sp>
        <p:nvSpPr>
          <p:cNvPr id="6" name="Text 4"/>
          <p:cNvSpPr/>
          <p:nvPr/>
        </p:nvSpPr>
        <p:spPr>
          <a:xfrm>
            <a:off x="812800" y="4208760"/>
            <a:ext cx="1876822"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요약 프롬프트 패턴</a:t>
            </a:r>
            <a:endParaRPr lang="en-US" sz="1400" dirty="0"/>
          </a:p>
        </p:txBody>
      </p:sp>
      <p:sp>
        <p:nvSpPr>
          <p:cNvPr id="7" name="Text 5"/>
          <p:cNvSpPr/>
          <p:nvPr/>
        </p:nvSpPr>
        <p:spPr>
          <a:xfrm>
            <a:off x="2791222" y="4208760"/>
            <a:ext cx="1580455"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번역 · 정보검색</a:t>
            </a:r>
            <a:endParaRPr lang="en-US" sz="1400" dirty="0"/>
          </a:p>
        </p:txBody>
      </p:sp>
      <p:sp>
        <p:nvSpPr>
          <p:cNvPr id="8" name="Text 6"/>
          <p:cNvSpPr/>
          <p:nvPr/>
        </p:nvSpPr>
        <p:spPr>
          <a:xfrm>
            <a:off x="4473277" y="4208760"/>
            <a:ext cx="859532" cy="401241"/>
          </a:xfrm>
          <a:prstGeom prst="roundRect">
            <a:avLst>
              <a:gd name="adj" fmla="val 50000"/>
            </a:avLst>
          </a:prstGeom>
          <a:solidFill>
            <a:srgbClr val="1F6F7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실습 4</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요약 프롬프트 패턴</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요약도 목적에 따라 다르게 시킵니다</a:t>
            </a:r>
            <a:endParaRPr lang="en-US" sz="3200" dirty="0"/>
          </a:p>
        </p:txBody>
      </p:sp>
      <p:sp>
        <p:nvSpPr>
          <p:cNvPr id="4" name="Shape 2"/>
          <p:cNvSpPr/>
          <p:nvPr/>
        </p:nvSpPr>
        <p:spPr>
          <a:xfrm>
            <a:off x="815975" y="1887736"/>
            <a:ext cx="3414117" cy="1408311"/>
          </a:xfrm>
          <a:prstGeom prst="roundRect">
            <a:avLst>
              <a:gd name="adj" fmla="val 6989"/>
            </a:avLst>
          </a:prstGeom>
          <a:solidFill>
            <a:srgbClr val="FCFCFA"/>
          </a:solidFill>
          <a:ln w="6350">
            <a:solidFill>
              <a:srgbClr val="D9DDE1"/>
            </a:solidFill>
            <a:prstDash val="solid"/>
          </a:ln>
        </p:spPr>
      </p:sp>
      <p:sp>
        <p:nvSpPr>
          <p:cNvPr id="5" name="Text 3"/>
          <p:cNvSpPr/>
          <p:nvPr/>
        </p:nvSpPr>
        <p:spPr>
          <a:xfrm>
            <a:off x="1047750" y="2119511"/>
            <a:ext cx="303908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길이 정하기</a:t>
            </a:r>
            <a:endParaRPr lang="en-US" sz="1800" dirty="0"/>
          </a:p>
        </p:txBody>
      </p:sp>
      <p:sp>
        <p:nvSpPr>
          <p:cNvPr id="6" name="Text 4"/>
          <p:cNvSpPr/>
          <p:nvPr/>
        </p:nvSpPr>
        <p:spPr>
          <a:xfrm>
            <a:off x="1047750" y="2495352"/>
            <a:ext cx="3039084"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F6F78"/>
                </a:solidFill>
                <a:latin typeface="Arial" pitchFamily="34" charset="0"/>
                <a:ea typeface="Arial" pitchFamily="34" charset="-122"/>
                <a:cs typeface="Arial" pitchFamily="34" charset="-120"/>
              </a:rPr>
              <a:t>“3줄로 요약해 줘”</a:t>
            </a:r>
            <a:endParaRPr lang="en-US" sz="1400" dirty="0"/>
          </a:p>
          <a:p>
            <a:pPr algn="l" indent="0" marL="0">
              <a:lnSpc>
                <a:spcPts val="2240"/>
              </a:lnSpc>
              <a:buNone/>
            </a:pPr>
            <a:r>
              <a:rPr lang="en-US" sz="1400" dirty="0">
                <a:solidFill>
                  <a:srgbClr val="1F6F78"/>
                </a:solidFill>
                <a:latin typeface="Arial" pitchFamily="34" charset="0"/>
                <a:ea typeface="Arial" pitchFamily="34" charset="-122"/>
                <a:cs typeface="Arial" pitchFamily="34" charset="-120"/>
              </a:rPr>
              <a:t>“200자 이내로 줄여 줘”</a:t>
            </a:r>
            <a:endParaRPr lang="en-US" sz="1400" dirty="0"/>
          </a:p>
        </p:txBody>
      </p:sp>
      <p:sp>
        <p:nvSpPr>
          <p:cNvPr id="7" name="Shape 5"/>
          <p:cNvSpPr/>
          <p:nvPr/>
        </p:nvSpPr>
        <p:spPr>
          <a:xfrm>
            <a:off x="4388842" y="1887736"/>
            <a:ext cx="3414216" cy="1408311"/>
          </a:xfrm>
          <a:prstGeom prst="roundRect">
            <a:avLst>
              <a:gd name="adj" fmla="val 6989"/>
            </a:avLst>
          </a:prstGeom>
          <a:solidFill>
            <a:srgbClr val="FCFCFA"/>
          </a:solidFill>
          <a:ln w="6350">
            <a:solidFill>
              <a:srgbClr val="D9DDE1"/>
            </a:solidFill>
            <a:prstDash val="solid"/>
          </a:ln>
        </p:spPr>
      </p:sp>
      <p:sp>
        <p:nvSpPr>
          <p:cNvPr id="8" name="Text 6"/>
          <p:cNvSpPr/>
          <p:nvPr/>
        </p:nvSpPr>
        <p:spPr>
          <a:xfrm>
            <a:off x="4620617" y="2119511"/>
            <a:ext cx="303918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대상 맞추기</a:t>
            </a:r>
            <a:endParaRPr lang="en-US" sz="1800" dirty="0"/>
          </a:p>
        </p:txBody>
      </p:sp>
      <p:sp>
        <p:nvSpPr>
          <p:cNvPr id="9" name="Text 7"/>
          <p:cNvSpPr/>
          <p:nvPr/>
        </p:nvSpPr>
        <p:spPr>
          <a:xfrm>
            <a:off x="4620617" y="2495352"/>
            <a:ext cx="3039186"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F6F78"/>
                </a:solidFill>
                <a:latin typeface="Arial" pitchFamily="34" charset="0"/>
                <a:ea typeface="Arial" pitchFamily="34" charset="-122"/>
                <a:cs typeface="Arial" pitchFamily="34" charset="-120"/>
              </a:rPr>
              <a:t>“팀장님께 보고하듯 결론부터”</a:t>
            </a:r>
            <a:endParaRPr lang="en-US" sz="1400" dirty="0"/>
          </a:p>
          <a:p>
            <a:pPr algn="l" indent="0" marL="0">
              <a:lnSpc>
                <a:spcPts val="2240"/>
              </a:lnSpc>
              <a:buNone/>
            </a:pPr>
            <a:r>
              <a:rPr lang="en-US" sz="1400" dirty="0">
                <a:solidFill>
                  <a:srgbClr val="1F6F78"/>
                </a:solidFill>
                <a:latin typeface="Arial" pitchFamily="34" charset="0"/>
                <a:ea typeface="Arial" pitchFamily="34" charset="-122"/>
                <a:cs typeface="Arial" pitchFamily="34" charset="-120"/>
              </a:rPr>
              <a:t>“처음 보는 사람도 이해하게”</a:t>
            </a:r>
            <a:endParaRPr lang="en-US" sz="1400" dirty="0"/>
          </a:p>
        </p:txBody>
      </p:sp>
      <p:sp>
        <p:nvSpPr>
          <p:cNvPr id="10" name="Shape 8"/>
          <p:cNvSpPr/>
          <p:nvPr/>
        </p:nvSpPr>
        <p:spPr>
          <a:xfrm>
            <a:off x="7961809" y="1887736"/>
            <a:ext cx="3414216" cy="1408311"/>
          </a:xfrm>
          <a:prstGeom prst="roundRect">
            <a:avLst>
              <a:gd name="adj" fmla="val 6989"/>
            </a:avLst>
          </a:prstGeom>
          <a:solidFill>
            <a:srgbClr val="FCFCFA"/>
          </a:solidFill>
          <a:ln w="6350">
            <a:solidFill>
              <a:srgbClr val="D9DDE1"/>
            </a:solidFill>
            <a:prstDash val="solid"/>
          </a:ln>
        </p:spPr>
      </p:sp>
      <p:sp>
        <p:nvSpPr>
          <p:cNvPr id="11" name="Text 9"/>
          <p:cNvSpPr/>
          <p:nvPr/>
        </p:nvSpPr>
        <p:spPr>
          <a:xfrm>
            <a:off x="8193584" y="2119511"/>
            <a:ext cx="303918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정보 뽑기</a:t>
            </a:r>
            <a:endParaRPr lang="en-US" sz="1800" dirty="0"/>
          </a:p>
        </p:txBody>
      </p:sp>
      <p:sp>
        <p:nvSpPr>
          <p:cNvPr id="12" name="Text 10"/>
          <p:cNvSpPr/>
          <p:nvPr/>
        </p:nvSpPr>
        <p:spPr>
          <a:xfrm>
            <a:off x="8193584" y="2495352"/>
            <a:ext cx="3039186"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F6F78"/>
                </a:solidFill>
                <a:latin typeface="Arial" pitchFamily="34" charset="0"/>
                <a:ea typeface="Arial" pitchFamily="34" charset="-122"/>
                <a:cs typeface="Arial" pitchFamily="34" charset="-120"/>
              </a:rPr>
              <a:t>“숫자와 날짜만 표로 뽑아 줘”</a:t>
            </a:r>
            <a:endParaRPr lang="en-US" sz="1400" dirty="0"/>
          </a:p>
          <a:p>
            <a:pPr algn="l" indent="0" marL="0">
              <a:lnSpc>
                <a:spcPts val="2240"/>
              </a:lnSpc>
              <a:buNone/>
            </a:pPr>
            <a:r>
              <a:rPr lang="en-US" sz="1400" dirty="0">
                <a:solidFill>
                  <a:srgbClr val="1F6F78"/>
                </a:solidFill>
                <a:latin typeface="Arial" pitchFamily="34" charset="0"/>
                <a:ea typeface="Arial" pitchFamily="34" charset="-122"/>
                <a:cs typeface="Arial" pitchFamily="34" charset="-120"/>
              </a:rPr>
              <a:t>“찬성·반대 의견을 나눠 줘”</a:t>
            </a:r>
            <a:endParaRPr lang="en-US" sz="1400" dirty="0"/>
          </a:p>
        </p:txBody>
      </p:sp>
      <p:sp>
        <p:nvSpPr>
          <p:cNvPr id="13" name="Shape 11"/>
          <p:cNvSpPr/>
          <p:nvPr/>
        </p:nvSpPr>
        <p:spPr>
          <a:xfrm>
            <a:off x="812800" y="3578622"/>
            <a:ext cx="10566400" cy="660400"/>
          </a:xfrm>
          <a:prstGeom prst="roundRect">
            <a:avLst>
              <a:gd name="adj" fmla="val 15385"/>
            </a:avLst>
          </a:prstGeom>
          <a:solidFill>
            <a:srgbClr val="12304D"/>
          </a:solidFill>
          <a:ln/>
        </p:spPr>
      </p:sp>
      <p:pic>
        <p:nvPicPr>
          <p:cNvPr id="14" name="Image 0" descr="Lightbulb">    </p:cNvPr>
          <p:cNvPicPr>
            <a:picLocks noChangeAspect="1"/>
          </p:cNvPicPr>
          <p:nvPr/>
        </p:nvPicPr>
        <p:blipFill>
          <a:blip r:embed="rId1"/>
          <a:srcRect l="0" r="0" t="0" b="0"/>
          <a:stretch/>
        </p:blipFill>
        <p:spPr>
          <a:xfrm>
            <a:off x="1066800" y="3756422"/>
            <a:ext cx="304800" cy="304800"/>
          </a:xfrm>
          <a:prstGeom prst="rect">
            <a:avLst/>
          </a:prstGeom>
        </p:spPr>
      </p:pic>
      <p:sp>
        <p:nvSpPr>
          <p:cNvPr id="15" name="Text 12"/>
          <p:cNvSpPr/>
          <p:nvPr/>
        </p:nvSpPr>
        <p:spPr>
          <a:xfrm>
            <a:off x="1524000" y="3775472"/>
            <a:ext cx="754415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4EF"/>
                </a:solidFill>
                <a:latin typeface="Arial" pitchFamily="34" charset="0"/>
                <a:ea typeface="Arial" pitchFamily="34" charset="-122"/>
                <a:cs typeface="Arial" pitchFamily="34" charset="-120"/>
              </a:rPr>
              <a:t>원문을 </a:t>
            </a:r>
            <a:r>
              <a:rPr lang="en-US" sz="1500" b="1" dirty="0">
                <a:solidFill>
                  <a:srgbClr val="F2A65A"/>
                </a:solidFill>
                <a:latin typeface="Arial" pitchFamily="34" charset="0"/>
                <a:ea typeface="Arial" pitchFamily="34" charset="-122"/>
                <a:cs typeface="Arial" pitchFamily="34" charset="-120"/>
              </a:rPr>
              <a:t>직접 붙여 넣고</a:t>
            </a:r>
            <a:r>
              <a:rPr lang="en-US" sz="1500" dirty="0">
                <a:solidFill>
                  <a:srgbClr val="F5F4EF"/>
                </a:solidFill>
                <a:latin typeface="Arial" pitchFamily="34" charset="0"/>
                <a:ea typeface="Arial" pitchFamily="34" charset="-122"/>
                <a:cs typeface="Arial" pitchFamily="34" charset="-120"/>
              </a:rPr>
              <a:t> 요약시키세요. 제목만 주면 AI가 내용을 지어냅니다.</a:t>
            </a:r>
            <a:endParaRPr lang="en-US" sz="15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번역 · 정보검색</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번역은 맡기고, 검색 결과는 출처로 확인합니다</a:t>
            </a:r>
            <a:endParaRPr lang="en-US" sz="3200" dirty="0"/>
          </a:p>
        </p:txBody>
      </p:sp>
      <p:sp>
        <p:nvSpPr>
          <p:cNvPr id="4" name="Shape 2"/>
          <p:cNvSpPr/>
          <p:nvPr/>
        </p:nvSpPr>
        <p:spPr>
          <a:xfrm>
            <a:off x="815975" y="1887736"/>
            <a:ext cx="5175250" cy="2497931"/>
          </a:xfrm>
          <a:prstGeom prst="roundRect">
            <a:avLst>
              <a:gd name="adj" fmla="val 3940"/>
            </a:avLst>
          </a:prstGeom>
          <a:solidFill>
            <a:srgbClr val="FCFCFA"/>
          </a:solidFill>
          <a:ln w="6350">
            <a:solidFill>
              <a:srgbClr val="D9DDE1"/>
            </a:solidFill>
            <a:prstDash val="solid"/>
          </a:ln>
        </p:spPr>
      </p:sp>
      <p:pic>
        <p:nvPicPr>
          <p:cNvPr id="5" name="Image 0" descr="Globe">    </p:cNvPr>
          <p:cNvPicPr>
            <a:picLocks noChangeAspect="1"/>
          </p:cNvPicPr>
          <p:nvPr/>
        </p:nvPicPr>
        <p:blipFill>
          <a:blip r:embed="rId1"/>
          <a:srcRect l="0" r="0" t="0" b="0"/>
          <a:stretch/>
        </p:blipFill>
        <p:spPr>
          <a:xfrm>
            <a:off x="1073150" y="2144911"/>
            <a:ext cx="304800" cy="304800"/>
          </a:xfrm>
          <a:prstGeom prst="rect">
            <a:avLst/>
          </a:prstGeom>
        </p:spPr>
      </p:pic>
      <p:sp>
        <p:nvSpPr>
          <p:cNvPr id="6" name="Text 3"/>
          <p:cNvSpPr/>
          <p:nvPr/>
        </p:nvSpPr>
        <p:spPr>
          <a:xfrm>
            <a:off x="1479550" y="2160191"/>
            <a:ext cx="54864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번역</a:t>
            </a:r>
            <a:endParaRPr lang="en-US" sz="1800" dirty="0"/>
          </a:p>
        </p:txBody>
      </p:sp>
      <p:sp>
        <p:nvSpPr>
          <p:cNvPr id="7" name="Text 4"/>
          <p:cNvSpPr/>
          <p:nvPr/>
        </p:nvSpPr>
        <p:spPr>
          <a:xfrm>
            <a:off x="1073150" y="2551311"/>
            <a:ext cx="4800727"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F6F78"/>
                </a:solidFill>
                <a:latin typeface="Arial" pitchFamily="34" charset="0"/>
                <a:ea typeface="Arial" pitchFamily="34" charset="-122"/>
                <a:cs typeface="Arial" pitchFamily="34" charset="-120"/>
              </a:rPr>
              <a:t>“자연스러운 비즈니스 영어로 번역하고, 어려운 표현은 설명해 줘”</a:t>
            </a:r>
            <a:endParaRPr lang="en-US" sz="1400" dirty="0"/>
          </a:p>
        </p:txBody>
      </p:sp>
      <p:sp>
        <p:nvSpPr>
          <p:cNvPr id="8" name="Text 5"/>
          <p:cNvSpPr/>
          <p:nvPr/>
        </p:nvSpPr>
        <p:spPr>
          <a:xfrm>
            <a:off x="1073150" y="3221831"/>
            <a:ext cx="4800727"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F6F78"/>
                </a:solidFill>
                <a:latin typeface="Arial" pitchFamily="34" charset="0"/>
                <a:ea typeface="Arial" pitchFamily="34" charset="-122"/>
                <a:cs typeface="Arial" pitchFamily="34" charset="-120"/>
              </a:rPr>
              <a:t>“이 영문 메일을 한국어로 요약하고, 회신 초안도 영어로 써 줘”</a:t>
            </a:r>
            <a:endParaRPr lang="en-US" sz="1400" dirty="0"/>
          </a:p>
        </p:txBody>
      </p:sp>
      <p:sp>
        <p:nvSpPr>
          <p:cNvPr id="9" name="Shape 6"/>
          <p:cNvSpPr/>
          <p:nvPr/>
        </p:nvSpPr>
        <p:spPr>
          <a:xfrm>
            <a:off x="6200775" y="1887736"/>
            <a:ext cx="5175250" cy="2497931"/>
          </a:xfrm>
          <a:prstGeom prst="roundRect">
            <a:avLst>
              <a:gd name="adj" fmla="val 3940"/>
            </a:avLst>
          </a:prstGeom>
          <a:solidFill>
            <a:srgbClr val="FCFCFA"/>
          </a:solidFill>
          <a:ln w="6350">
            <a:solidFill>
              <a:srgbClr val="D9DDE1"/>
            </a:solidFill>
            <a:prstDash val="solid"/>
          </a:ln>
        </p:spPr>
      </p:sp>
      <p:pic>
        <p:nvPicPr>
          <p:cNvPr id="10" name="Image 1" descr="Search">    </p:cNvPr>
          <p:cNvPicPr>
            <a:picLocks noChangeAspect="1"/>
          </p:cNvPicPr>
          <p:nvPr/>
        </p:nvPicPr>
        <p:blipFill>
          <a:blip r:embed="rId2"/>
          <a:srcRect l="0" r="0" t="0" b="0"/>
          <a:stretch/>
        </p:blipFill>
        <p:spPr>
          <a:xfrm>
            <a:off x="6457950" y="2144911"/>
            <a:ext cx="304800" cy="304800"/>
          </a:xfrm>
          <a:prstGeom prst="rect">
            <a:avLst/>
          </a:prstGeom>
        </p:spPr>
      </p:pic>
      <p:sp>
        <p:nvSpPr>
          <p:cNvPr id="11" name="Text 7"/>
          <p:cNvSpPr/>
          <p:nvPr/>
        </p:nvSpPr>
        <p:spPr>
          <a:xfrm>
            <a:off x="6864350" y="2160191"/>
            <a:ext cx="109728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정보검색</a:t>
            </a:r>
            <a:endParaRPr lang="en-US" sz="1800" dirty="0"/>
          </a:p>
        </p:txBody>
      </p:sp>
      <p:sp>
        <p:nvSpPr>
          <p:cNvPr id="12" name="Text 8"/>
          <p:cNvSpPr/>
          <p:nvPr/>
        </p:nvSpPr>
        <p:spPr>
          <a:xfrm>
            <a:off x="6555232" y="2551311"/>
            <a:ext cx="4695825" cy="932061"/>
          </a:xfrm>
          <a:prstGeom prst="rect">
            <a:avLst/>
          </a:prstGeom>
          <a:noFill/>
          <a:ln/>
        </p:spPr>
        <p:txBody>
          <a:bodyPr wrap="square" lIns="0" tIns="0" rIns="0" bIns="0" rtlCol="0" anchor="t">
            <a:normAutofit/>
          </a:bodyPr>
          <a:lstStyle/>
          <a:p>
            <a:pPr algn="l" marL="156718" indent="-156718">
              <a:lnSpc>
                <a:spcPts val="2380"/>
              </a:lnSpc>
              <a:buSzPct val="100000"/>
              <a:buChar char="•"/>
            </a:pPr>
            <a:r>
              <a:rPr lang="en-US" sz="1400" dirty="0">
                <a:solidFill>
                  <a:srgbClr val="3D4A57"/>
                </a:solidFill>
                <a:latin typeface="Arial" pitchFamily="34" charset="0"/>
                <a:ea typeface="Arial" pitchFamily="34" charset="-122"/>
                <a:cs typeface="Arial" pitchFamily="34" charset="-120"/>
              </a:rPr>
              <a:t>웹 검색 기능이 있으면 최신 정보도 찾음</a:t>
            </a:r>
            <a:endParaRPr lang="en-US" sz="1400" dirty="0"/>
          </a:p>
          <a:p>
            <a:pPr algn="l" marL="156718" indent="-156718">
              <a:lnSpc>
                <a:spcPts val="2380"/>
              </a:lnSpc>
              <a:buSzPct val="100000"/>
              <a:buChar char="•"/>
            </a:pPr>
            <a:r>
              <a:rPr lang="en-US" sz="1400" dirty="0">
                <a:solidFill>
                  <a:srgbClr val="3D4A57"/>
                </a:solidFill>
                <a:latin typeface="Arial" pitchFamily="34" charset="0"/>
                <a:ea typeface="Arial" pitchFamily="34" charset="-122"/>
                <a:cs typeface="Arial" pitchFamily="34" charset="-120"/>
              </a:rPr>
              <a:t>검색이 없으면 최근 일은 모를 수 있음</a:t>
            </a:r>
            <a:endParaRPr lang="en-US" sz="1400" dirty="0"/>
          </a:p>
          <a:p>
            <a:pPr algn="l" marL="156718" indent="-156718">
              <a:lnSpc>
                <a:spcPts val="2380"/>
              </a:lnSpc>
              <a:buSzPct val="100000"/>
              <a:buChar char="•"/>
            </a:pPr>
            <a:r>
              <a:rPr lang="en-US" sz="1400" dirty="0">
                <a:solidFill>
                  <a:srgbClr val="3D4A57"/>
                </a:solidFill>
                <a:latin typeface="Arial" pitchFamily="34" charset="0"/>
                <a:ea typeface="Arial" pitchFamily="34" charset="-122"/>
                <a:cs typeface="Arial" pitchFamily="34" charset="-120"/>
              </a:rPr>
              <a:t>제시한 출처 링크는 직접 열어 확인</a:t>
            </a:r>
            <a:endParaRPr lang="en-US" sz="1400" dirty="0"/>
          </a:p>
        </p:txBody>
      </p:sp>
      <p:sp>
        <p:nvSpPr>
          <p:cNvPr id="13" name="Text 9"/>
          <p:cNvSpPr/>
          <p:nvPr/>
        </p:nvSpPr>
        <p:spPr>
          <a:xfrm>
            <a:off x="6457950" y="3559572"/>
            <a:ext cx="4800727"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F6F78"/>
                </a:solidFill>
                <a:latin typeface="Arial" pitchFamily="34" charset="0"/>
                <a:ea typeface="Arial" pitchFamily="34" charset="-122"/>
                <a:cs typeface="Arial" pitchFamily="34" charset="-120"/>
              </a:rPr>
              <a:t>“출처 링크와 함께 알려 줘. 확실하지 않으면 모른다고 답해 줘”</a:t>
            </a:r>
            <a:endParaRPr lang="en-US" sz="1400" dirty="0"/>
          </a:p>
        </p:txBody>
      </p:sp>
      <p:sp>
        <p:nvSpPr>
          <p:cNvPr id="14"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8EEF2"/>
        </a:solidFill>
      </p:bgPr>
    </p:bg>
    <p:spTree>
      <p:nvGrpSpPr>
        <p:cNvPr id="1" name=""/>
        <p:cNvGrpSpPr/>
        <p:nvPr/>
      </p:nvGrpSpPr>
      <p:grpSpPr>
        <a:xfrm>
          <a:off x="0" y="0"/>
          <a:ext cx="0" cy="0"/>
          <a:chOff x="0" y="0"/>
          <a:chExt cx="0" cy="0"/>
        </a:xfrm>
      </p:grpSpPr>
      <p:sp>
        <p:nvSpPr>
          <p:cNvPr id="2" name="Text 0"/>
          <p:cNvSpPr/>
          <p:nvPr/>
        </p:nvSpPr>
        <p:spPr>
          <a:xfrm>
            <a:off x="812800" y="812800"/>
            <a:ext cx="1342330" cy="350441"/>
          </a:xfrm>
          <a:prstGeom prst="roundRect">
            <a:avLst>
              <a:gd name="adj" fmla="val 50000"/>
            </a:avLst>
          </a:prstGeom>
          <a:solidFill>
            <a:srgbClr val="1F6F78"/>
          </a:solidFill>
          <a:ln/>
        </p:spPr>
        <p:txBody>
          <a:bodyPr wrap="none" lIns="0" tIns="0" rIns="0" bIns="0" rtlCol="0" anchor="ctr">
            <a:normAutofit/>
          </a:bodyPr>
          <a:lstStyle/>
          <a:p>
            <a:pPr algn="ctr" indent="0" marL="0">
              <a:lnSpc>
                <a:spcPts val="1960"/>
              </a:lnSpc>
              <a:buNone/>
            </a:pPr>
            <a:r>
              <a:rPr lang="en-US" sz="1400" b="1" dirty="0">
                <a:solidFill>
                  <a:srgbClr val="F5F4EF"/>
                </a:solidFill>
                <a:latin typeface="Arial" pitchFamily="34" charset="0"/>
                <a:ea typeface="Arial" pitchFamily="34" charset="-122"/>
                <a:cs typeface="Arial" pitchFamily="34" charset="-120"/>
              </a:rPr>
              <a:t>실습 4 · 30분</a:t>
            </a:r>
            <a:endParaRPr lang="en-US" sz="1400" dirty="0"/>
          </a:p>
        </p:txBody>
      </p:sp>
      <p:sp>
        <p:nvSpPr>
          <p:cNvPr id="3" name="Text 1"/>
          <p:cNvSpPr/>
          <p:nvPr>
            <p:ph type="title"/>
          </p:nvPr>
        </p:nvSpPr>
        <p:spPr>
          <a:xfrm>
            <a:off x="812800" y="1264841"/>
            <a:ext cx="785717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기사 하나를 요약하고 표로 정리하기</a:t>
            </a:r>
            <a:endParaRPr lang="en-US" sz="3200" dirty="0"/>
          </a:p>
        </p:txBody>
      </p:sp>
      <p:sp>
        <p:nvSpPr>
          <p:cNvPr id="4" name="Shape 2"/>
          <p:cNvSpPr/>
          <p:nvPr/>
        </p:nvSpPr>
        <p:spPr>
          <a:xfrm>
            <a:off x="812800" y="1986161"/>
            <a:ext cx="5219700" cy="902891"/>
          </a:xfrm>
          <a:prstGeom prst="roundRect">
            <a:avLst>
              <a:gd name="adj" fmla="val 11253"/>
            </a:avLst>
          </a:prstGeom>
          <a:solidFill>
            <a:srgbClr val="FCFCFA"/>
          </a:solidFill>
          <a:ln/>
        </p:spPr>
      </p:sp>
      <p:sp>
        <p:nvSpPr>
          <p:cNvPr id="5" name="Text 3"/>
          <p:cNvSpPr/>
          <p:nvPr/>
        </p:nvSpPr>
        <p:spPr>
          <a:xfrm>
            <a:off x="1016000" y="2163961"/>
            <a:ext cx="495769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6F78"/>
                </a:solidFill>
                <a:latin typeface="Arial" pitchFamily="34" charset="0"/>
                <a:ea typeface="Arial" pitchFamily="34" charset="-122"/>
                <a:cs typeface="Arial" pitchFamily="34" charset="-120"/>
              </a:rPr>
              <a:t>STEP 1 · 기사 고르기</a:t>
            </a:r>
            <a:endParaRPr lang="en-US" sz="1400" dirty="0"/>
          </a:p>
        </p:txBody>
      </p:sp>
      <p:sp>
        <p:nvSpPr>
          <p:cNvPr id="6" name="Text 4"/>
          <p:cNvSpPr/>
          <p:nvPr/>
        </p:nvSpPr>
        <p:spPr>
          <a:xfrm>
            <a:off x="1016000" y="2463602"/>
            <a:ext cx="4957699"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2304D"/>
                </a:solidFill>
                <a:latin typeface="Arial" pitchFamily="34" charset="0"/>
                <a:ea typeface="Arial" pitchFamily="34" charset="-122"/>
                <a:cs typeface="Arial" pitchFamily="34" charset="-120"/>
              </a:rPr>
              <a:t>관심 분야의 최근 기사나 보도자료 하나를 골라 본문을 복사</a:t>
            </a:r>
            <a:endParaRPr lang="en-US" sz="1300" dirty="0"/>
          </a:p>
        </p:txBody>
      </p:sp>
      <p:sp>
        <p:nvSpPr>
          <p:cNvPr id="7" name="Shape 5"/>
          <p:cNvSpPr/>
          <p:nvPr/>
        </p:nvSpPr>
        <p:spPr>
          <a:xfrm>
            <a:off x="6159500" y="1986161"/>
            <a:ext cx="5219700" cy="902891"/>
          </a:xfrm>
          <a:prstGeom prst="roundRect">
            <a:avLst>
              <a:gd name="adj" fmla="val 11253"/>
            </a:avLst>
          </a:prstGeom>
          <a:solidFill>
            <a:srgbClr val="FCFCFA"/>
          </a:solidFill>
          <a:ln/>
        </p:spPr>
      </p:sp>
      <p:sp>
        <p:nvSpPr>
          <p:cNvPr id="8" name="Text 6"/>
          <p:cNvSpPr/>
          <p:nvPr/>
        </p:nvSpPr>
        <p:spPr>
          <a:xfrm>
            <a:off x="6362700" y="2163961"/>
            <a:ext cx="495769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6F78"/>
                </a:solidFill>
                <a:latin typeface="Arial" pitchFamily="34" charset="0"/>
                <a:ea typeface="Arial" pitchFamily="34" charset="-122"/>
                <a:cs typeface="Arial" pitchFamily="34" charset="-120"/>
              </a:rPr>
              <a:t>STEP 2 · 3줄 요약</a:t>
            </a:r>
            <a:endParaRPr lang="en-US" sz="1400" dirty="0"/>
          </a:p>
        </p:txBody>
      </p:sp>
      <p:sp>
        <p:nvSpPr>
          <p:cNvPr id="9" name="Text 7"/>
          <p:cNvSpPr/>
          <p:nvPr/>
        </p:nvSpPr>
        <p:spPr>
          <a:xfrm>
            <a:off x="6362700" y="2463602"/>
            <a:ext cx="4957699"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2304D"/>
                </a:solidFill>
                <a:latin typeface="Arial" pitchFamily="34" charset="0"/>
                <a:ea typeface="Arial" pitchFamily="34" charset="-122"/>
                <a:cs typeface="Arial" pitchFamily="34" charset="-120"/>
              </a:rPr>
              <a:t>“아래 기사를 팀장님께 보고하듯 결론부터 3줄로 요약해 줘”</a:t>
            </a:r>
            <a:endParaRPr lang="en-US" sz="1300" dirty="0"/>
          </a:p>
        </p:txBody>
      </p:sp>
      <p:sp>
        <p:nvSpPr>
          <p:cNvPr id="10" name="Shape 8"/>
          <p:cNvSpPr/>
          <p:nvPr/>
        </p:nvSpPr>
        <p:spPr>
          <a:xfrm>
            <a:off x="812800" y="3016052"/>
            <a:ext cx="5219700" cy="1150541"/>
          </a:xfrm>
          <a:prstGeom prst="roundRect">
            <a:avLst>
              <a:gd name="adj" fmla="val 8831"/>
            </a:avLst>
          </a:prstGeom>
          <a:solidFill>
            <a:srgbClr val="FCFCFA"/>
          </a:solidFill>
          <a:ln/>
        </p:spPr>
      </p:sp>
      <p:sp>
        <p:nvSpPr>
          <p:cNvPr id="11" name="Text 9"/>
          <p:cNvSpPr/>
          <p:nvPr/>
        </p:nvSpPr>
        <p:spPr>
          <a:xfrm>
            <a:off x="1016000" y="3193852"/>
            <a:ext cx="495769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6F78"/>
                </a:solidFill>
                <a:latin typeface="Arial" pitchFamily="34" charset="0"/>
                <a:ea typeface="Arial" pitchFamily="34" charset="-122"/>
                <a:cs typeface="Arial" pitchFamily="34" charset="-120"/>
              </a:rPr>
              <a:t>STEP 3 · 표로 정리</a:t>
            </a:r>
            <a:endParaRPr lang="en-US" sz="1400" dirty="0"/>
          </a:p>
        </p:txBody>
      </p:sp>
      <p:sp>
        <p:nvSpPr>
          <p:cNvPr id="12" name="Text 10"/>
          <p:cNvSpPr/>
          <p:nvPr/>
        </p:nvSpPr>
        <p:spPr>
          <a:xfrm>
            <a:off x="1016000" y="3493492"/>
            <a:ext cx="495769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2304D"/>
                </a:solidFill>
                <a:latin typeface="Arial" pitchFamily="34" charset="0"/>
                <a:ea typeface="Arial" pitchFamily="34" charset="-122"/>
                <a:cs typeface="Arial" pitchFamily="34" charset="-120"/>
              </a:rPr>
              <a:t>“기사에 나온 숫자·날짜·기관명을 항목, 내용, 원문 문장 열로 표를 만들어 줘”</a:t>
            </a:r>
            <a:endParaRPr lang="en-US" sz="1300" dirty="0"/>
          </a:p>
        </p:txBody>
      </p:sp>
      <p:sp>
        <p:nvSpPr>
          <p:cNvPr id="13" name="Shape 11"/>
          <p:cNvSpPr/>
          <p:nvPr/>
        </p:nvSpPr>
        <p:spPr>
          <a:xfrm>
            <a:off x="6159500" y="3016052"/>
            <a:ext cx="5219700" cy="1150541"/>
          </a:xfrm>
          <a:prstGeom prst="roundRect">
            <a:avLst>
              <a:gd name="adj" fmla="val 8831"/>
            </a:avLst>
          </a:prstGeom>
          <a:solidFill>
            <a:srgbClr val="FCFCFA"/>
          </a:solidFill>
          <a:ln/>
        </p:spPr>
      </p:sp>
      <p:sp>
        <p:nvSpPr>
          <p:cNvPr id="14" name="Text 12"/>
          <p:cNvSpPr/>
          <p:nvPr/>
        </p:nvSpPr>
        <p:spPr>
          <a:xfrm>
            <a:off x="6362700" y="3193852"/>
            <a:ext cx="495769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6F78"/>
                </a:solidFill>
                <a:latin typeface="Arial" pitchFamily="34" charset="0"/>
                <a:ea typeface="Arial" pitchFamily="34" charset="-122"/>
                <a:cs typeface="Arial" pitchFamily="34" charset="-120"/>
              </a:rPr>
              <a:t>STEP 4 · 영어로 번역</a:t>
            </a:r>
            <a:endParaRPr lang="en-US" sz="1400" dirty="0"/>
          </a:p>
        </p:txBody>
      </p:sp>
      <p:sp>
        <p:nvSpPr>
          <p:cNvPr id="15" name="Text 13"/>
          <p:cNvSpPr/>
          <p:nvPr/>
        </p:nvSpPr>
        <p:spPr>
          <a:xfrm>
            <a:off x="6362700" y="3493492"/>
            <a:ext cx="4957699"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2304D"/>
                </a:solidFill>
                <a:latin typeface="Arial" pitchFamily="34" charset="0"/>
                <a:ea typeface="Arial" pitchFamily="34" charset="-122"/>
                <a:cs typeface="Arial" pitchFamily="34" charset="-120"/>
              </a:rPr>
              <a:t>“3줄 요약을 해외 파트너에게 보낼 영어 문장으로 바꿔 줘”</a:t>
            </a:r>
            <a:endParaRPr lang="en-US" sz="1300" dirty="0"/>
          </a:p>
        </p:txBody>
      </p:sp>
      <p:sp>
        <p:nvSpPr>
          <p:cNvPr id="16" name="Text 14"/>
          <p:cNvSpPr/>
          <p:nvPr/>
        </p:nvSpPr>
        <p:spPr>
          <a:xfrm>
            <a:off x="812800" y="4420592"/>
            <a:ext cx="10566400" cy="640060"/>
          </a:xfrm>
          <a:prstGeom prst="roundRect">
            <a:avLst>
              <a:gd name="adj" fmla="val 15874"/>
            </a:avLst>
          </a:prstGeom>
          <a:solidFill>
            <a:srgbClr val="12304D"/>
          </a:solidFill>
          <a:ln/>
        </p:spPr>
        <p:txBody>
          <a:bodyPr wrap="square" lIns="224242" tIns="148042" rIns="0" bIns="122642" rtlCol="0" anchor="t">
            <a:normAutofit/>
          </a:bodyPr>
          <a:lstStyle/>
          <a:p>
            <a:pPr algn="l" indent="0" marL="0">
              <a:lnSpc>
                <a:spcPts val="2240"/>
              </a:lnSpc>
              <a:buNone/>
            </a:pPr>
            <a:r>
              <a:rPr lang="en-US" sz="1400" b="1" dirty="0">
                <a:solidFill>
                  <a:srgbClr val="F2A65A"/>
                </a:solidFill>
                <a:latin typeface="Arial" pitchFamily="34" charset="0"/>
                <a:ea typeface="Arial" pitchFamily="34" charset="-122"/>
                <a:cs typeface="Arial" pitchFamily="34" charset="-120"/>
              </a:rPr>
              <a:t>STEP 5 · 대조하기</a:t>
            </a:r>
            <a:r>
              <a:rPr lang="en-US" sz="1400" dirty="0">
                <a:solidFill>
                  <a:srgbClr val="F5F4EF"/>
                </a:solidFill>
                <a:latin typeface="Arial" pitchFamily="34" charset="0"/>
                <a:ea typeface="Arial" pitchFamily="34" charset="-122"/>
                <a:cs typeface="Arial" pitchFamily="34" charset="-120"/>
              </a:rPr>
              <a:t>　표의 숫자를 원문과 하나씩 비교해 다른 곳에 표시하고, 결과를 실습 문서에 저장</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 · 기사 원문은 실습용으로만 쓰고 외부에 공유하지 않습니다</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304D"/>
        </a:solidFill>
      </p:bgPr>
    </p:bg>
    <p:spTree>
      <p:nvGrpSpPr>
        <p:cNvPr id="1" name=""/>
        <p:cNvGrpSpPr/>
        <p:nvPr/>
      </p:nvGrpSpPr>
      <p:grpSpPr>
        <a:xfrm>
          <a:off x="0" y="0"/>
          <a:ext cx="0" cy="0"/>
          <a:chOff x="0" y="0"/>
          <a:chExt cx="0" cy="0"/>
        </a:xfrm>
      </p:grpSpPr>
      <p:sp>
        <p:nvSpPr>
          <p:cNvPr id="2" name="Text 0"/>
          <p:cNvSpPr/>
          <p:nvPr/>
        </p:nvSpPr>
        <p:spPr>
          <a:xfrm>
            <a:off x="6800850" y="1270000"/>
            <a:ext cx="4578350" cy="2565400"/>
          </a:xfrm>
          <a:prstGeom prst="rect">
            <a:avLst/>
          </a:prstGeom>
          <a:noFill/>
          <a:ln/>
        </p:spPr>
        <p:txBody>
          <a:bodyPr wrap="square" lIns="0" tIns="0" rIns="0" bIns="0" rtlCol="0" anchor="t">
            <a:normAutofit/>
          </a:bodyPr>
          <a:lstStyle/>
          <a:p>
            <a:pPr algn="r" indent="0" marL="0">
              <a:lnSpc>
                <a:spcPts val="20000"/>
              </a:lnSpc>
              <a:buNone/>
            </a:pPr>
            <a:r>
              <a:rPr lang="en-US" sz="20000" b="1" dirty="0">
                <a:solidFill>
                  <a:srgbClr val="1C3F62"/>
                </a:solidFill>
                <a:latin typeface="Arial" pitchFamily="34" charset="0"/>
                <a:ea typeface="Arial" pitchFamily="34" charset="-122"/>
                <a:cs typeface="Arial" pitchFamily="34" charset="-120"/>
              </a:rPr>
              <a:t>06</a:t>
            </a:r>
            <a:endParaRPr lang="en-US" sz="20000" dirty="0"/>
          </a:p>
        </p:txBody>
      </p:sp>
      <p:sp>
        <p:nvSpPr>
          <p:cNvPr id="3" name="Text 1"/>
          <p:cNvSpPr/>
          <p:nvPr/>
        </p:nvSpPr>
        <p:spPr>
          <a:xfrm>
            <a:off x="812800" y="224799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A65A"/>
                </a:solidFill>
                <a:latin typeface="Arial" pitchFamily="34" charset="0"/>
                <a:ea typeface="Arial" pitchFamily="34" charset="-122"/>
                <a:cs typeface="Arial" pitchFamily="34" charset="-120"/>
              </a:rPr>
              <a:t>6교시 · 50분</a:t>
            </a:r>
            <a:endParaRPr lang="en-US" sz="1600" dirty="0"/>
          </a:p>
        </p:txBody>
      </p:sp>
      <p:sp>
        <p:nvSpPr>
          <p:cNvPr id="4" name="Text 2"/>
          <p:cNvSpPr/>
          <p:nvPr>
            <p:ph type="title"/>
          </p:nvPr>
        </p:nvSpPr>
        <p:spPr>
          <a:xfrm>
            <a:off x="812800" y="2761059"/>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4EF"/>
                </a:solidFill>
                <a:latin typeface="Arial" pitchFamily="34" charset="0"/>
                <a:ea typeface="Arial" pitchFamily="34" charset="-122"/>
                <a:cs typeface="Arial" pitchFamily="34" charset="-120"/>
              </a:rPr>
              <a:t>엑셀 · 데이터 정리</a:t>
            </a:r>
            <a:endParaRPr lang="en-US" sz="4800" dirty="0"/>
          </a:p>
        </p:txBody>
      </p:sp>
      <p:sp>
        <p:nvSpPr>
          <p:cNvPr id="5" name="Text 3"/>
          <p:cNvSpPr/>
          <p:nvPr/>
        </p:nvSpPr>
        <p:spPr>
          <a:xfrm>
            <a:off x="812800" y="366018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D0DE"/>
                </a:solidFill>
                <a:latin typeface="Arial" pitchFamily="34" charset="0"/>
                <a:ea typeface="Arial" pitchFamily="34" charset="-122"/>
                <a:cs typeface="Arial" pitchFamily="34" charset="-120"/>
              </a:rPr>
              <a:t>수식을 몰라도 AI에게 물어서 표를 계산합니다</a:t>
            </a:r>
            <a:endParaRPr lang="en-US" sz="1800" dirty="0"/>
          </a:p>
        </p:txBody>
      </p:sp>
      <p:sp>
        <p:nvSpPr>
          <p:cNvPr id="6" name="Text 4"/>
          <p:cNvSpPr/>
          <p:nvPr/>
        </p:nvSpPr>
        <p:spPr>
          <a:xfrm>
            <a:off x="812800" y="4208760"/>
            <a:ext cx="2193131"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엑셀에서 AI 활용 4가지</a:t>
            </a:r>
            <a:endParaRPr lang="en-US" sz="1400" dirty="0"/>
          </a:p>
        </p:txBody>
      </p:sp>
      <p:sp>
        <p:nvSpPr>
          <p:cNvPr id="7" name="Text 5"/>
          <p:cNvSpPr/>
          <p:nvPr/>
        </p:nvSpPr>
        <p:spPr>
          <a:xfrm>
            <a:off x="3107531" y="4208760"/>
            <a:ext cx="1471811"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수식 질문하기</a:t>
            </a:r>
            <a:endParaRPr lang="en-US" sz="1400" dirty="0"/>
          </a:p>
        </p:txBody>
      </p:sp>
      <p:sp>
        <p:nvSpPr>
          <p:cNvPr id="8" name="Text 6"/>
          <p:cNvSpPr/>
          <p:nvPr/>
        </p:nvSpPr>
        <p:spPr>
          <a:xfrm>
            <a:off x="4680942" y="4208760"/>
            <a:ext cx="859532" cy="401241"/>
          </a:xfrm>
          <a:prstGeom prst="roundRect">
            <a:avLst>
              <a:gd name="adj" fmla="val 50000"/>
            </a:avLst>
          </a:prstGeom>
          <a:solidFill>
            <a:srgbClr val="1F6F7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실습 5</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엑셀에서 AI 활용 4가지</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AI는 옆자리 엑셀 선배입니다</a:t>
            </a:r>
            <a:endParaRPr lang="en-US" sz="3200" dirty="0"/>
          </a:p>
        </p:txBody>
      </p:sp>
      <p:sp>
        <p:nvSpPr>
          <p:cNvPr id="4" name="Shape 2"/>
          <p:cNvSpPr/>
          <p:nvPr/>
        </p:nvSpPr>
        <p:spPr>
          <a:xfrm>
            <a:off x="815975" y="1887736"/>
            <a:ext cx="5200650" cy="998141"/>
          </a:xfrm>
          <a:prstGeom prst="roundRect">
            <a:avLst>
              <a:gd name="adj" fmla="val 9861"/>
            </a:avLst>
          </a:prstGeom>
          <a:solidFill>
            <a:srgbClr val="FCFCFA"/>
          </a:solidFill>
          <a:ln w="6350">
            <a:solidFill>
              <a:srgbClr val="D9DDE1"/>
            </a:solidFill>
            <a:prstDash val="solid"/>
          </a:ln>
        </p:spPr>
      </p:sp>
      <p:sp>
        <p:nvSpPr>
          <p:cNvPr id="5" name="Text 3"/>
          <p:cNvSpPr/>
          <p:nvPr/>
        </p:nvSpPr>
        <p:spPr>
          <a:xfrm>
            <a:off x="1022350" y="2094111"/>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수식 만들기</a:t>
            </a:r>
            <a:endParaRPr lang="en-US" sz="1800" dirty="0"/>
          </a:p>
        </p:txBody>
      </p:sp>
      <p:sp>
        <p:nvSpPr>
          <p:cNvPr id="6" name="Text 4"/>
          <p:cNvSpPr/>
          <p:nvPr/>
        </p:nvSpPr>
        <p:spPr>
          <a:xfrm>
            <a:off x="1022350" y="2431852"/>
            <a:ext cx="493153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F6F78"/>
                </a:solidFill>
                <a:latin typeface="Arial" pitchFamily="34" charset="0"/>
                <a:ea typeface="Arial" pitchFamily="34" charset="-122"/>
                <a:cs typeface="Arial" pitchFamily="34" charset="-120"/>
              </a:rPr>
              <a:t>“B열이 ‘부산’인 행의 F열 합계를 구하는 수식 알려 줘”</a:t>
            </a:r>
            <a:endParaRPr lang="en-US" sz="1300" dirty="0"/>
          </a:p>
        </p:txBody>
      </p:sp>
      <p:sp>
        <p:nvSpPr>
          <p:cNvPr id="7" name="Shape 5"/>
          <p:cNvSpPr/>
          <p:nvPr/>
        </p:nvSpPr>
        <p:spPr>
          <a:xfrm>
            <a:off x="6175375" y="1887736"/>
            <a:ext cx="5200650" cy="998141"/>
          </a:xfrm>
          <a:prstGeom prst="roundRect">
            <a:avLst>
              <a:gd name="adj" fmla="val 9861"/>
            </a:avLst>
          </a:prstGeom>
          <a:solidFill>
            <a:srgbClr val="FCFCFA"/>
          </a:solidFill>
          <a:ln w="6350">
            <a:solidFill>
              <a:srgbClr val="D9DDE1"/>
            </a:solidFill>
            <a:prstDash val="solid"/>
          </a:ln>
        </p:spPr>
      </p:sp>
      <p:sp>
        <p:nvSpPr>
          <p:cNvPr id="8" name="Text 6"/>
          <p:cNvSpPr/>
          <p:nvPr/>
        </p:nvSpPr>
        <p:spPr>
          <a:xfrm>
            <a:off x="6381750" y="2094111"/>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수식 설명 듣기</a:t>
            </a:r>
            <a:endParaRPr lang="en-US" sz="1800" dirty="0"/>
          </a:p>
        </p:txBody>
      </p:sp>
      <p:sp>
        <p:nvSpPr>
          <p:cNvPr id="9" name="Text 7"/>
          <p:cNvSpPr/>
          <p:nvPr/>
        </p:nvSpPr>
        <p:spPr>
          <a:xfrm>
            <a:off x="6381750" y="2431852"/>
            <a:ext cx="493153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F6F78"/>
                </a:solidFill>
                <a:latin typeface="Arial" pitchFamily="34" charset="0"/>
                <a:ea typeface="Arial" pitchFamily="34" charset="-122"/>
                <a:cs typeface="Arial" pitchFamily="34" charset="-120"/>
              </a:rPr>
              <a:t>“이 수식이 무슨 뜻인지 한 단계씩 설명해 줘”</a:t>
            </a:r>
            <a:endParaRPr lang="en-US" sz="1300" dirty="0"/>
          </a:p>
        </p:txBody>
      </p:sp>
      <p:sp>
        <p:nvSpPr>
          <p:cNvPr id="10" name="Shape 8"/>
          <p:cNvSpPr/>
          <p:nvPr/>
        </p:nvSpPr>
        <p:spPr>
          <a:xfrm>
            <a:off x="815975" y="3044627"/>
            <a:ext cx="5200650" cy="998141"/>
          </a:xfrm>
          <a:prstGeom prst="roundRect">
            <a:avLst>
              <a:gd name="adj" fmla="val 9861"/>
            </a:avLst>
          </a:prstGeom>
          <a:solidFill>
            <a:srgbClr val="FCFCFA"/>
          </a:solidFill>
          <a:ln w="6350">
            <a:solidFill>
              <a:srgbClr val="D9DDE1"/>
            </a:solidFill>
            <a:prstDash val="solid"/>
          </a:ln>
        </p:spPr>
      </p:sp>
      <p:sp>
        <p:nvSpPr>
          <p:cNvPr id="11" name="Text 9"/>
          <p:cNvSpPr/>
          <p:nvPr/>
        </p:nvSpPr>
        <p:spPr>
          <a:xfrm>
            <a:off x="1022350" y="3251002"/>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데이터 정리</a:t>
            </a:r>
            <a:endParaRPr lang="en-US" sz="1800" dirty="0"/>
          </a:p>
        </p:txBody>
      </p:sp>
      <p:sp>
        <p:nvSpPr>
          <p:cNvPr id="12" name="Text 10"/>
          <p:cNvSpPr/>
          <p:nvPr/>
        </p:nvSpPr>
        <p:spPr>
          <a:xfrm>
            <a:off x="1022350" y="3588742"/>
            <a:ext cx="493153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F6F78"/>
                </a:solidFill>
                <a:latin typeface="Arial" pitchFamily="34" charset="0"/>
                <a:ea typeface="Arial" pitchFamily="34" charset="-122"/>
                <a:cs typeface="Arial" pitchFamily="34" charset="-120"/>
              </a:rPr>
              <a:t>“이 글을 날짜, 이름, 금액 열이 있는 표로 바꿔 줘”</a:t>
            </a:r>
            <a:endParaRPr lang="en-US" sz="1300" dirty="0"/>
          </a:p>
        </p:txBody>
      </p:sp>
      <p:sp>
        <p:nvSpPr>
          <p:cNvPr id="13" name="Shape 11"/>
          <p:cNvSpPr/>
          <p:nvPr/>
        </p:nvSpPr>
        <p:spPr>
          <a:xfrm>
            <a:off x="6175375" y="3044627"/>
            <a:ext cx="5200650" cy="998141"/>
          </a:xfrm>
          <a:prstGeom prst="roundRect">
            <a:avLst>
              <a:gd name="adj" fmla="val 9861"/>
            </a:avLst>
          </a:prstGeom>
          <a:solidFill>
            <a:srgbClr val="FCFCFA"/>
          </a:solidFill>
          <a:ln w="6350">
            <a:solidFill>
              <a:srgbClr val="D9DDE1"/>
            </a:solidFill>
            <a:prstDash val="solid"/>
          </a:ln>
        </p:spPr>
      </p:sp>
      <p:sp>
        <p:nvSpPr>
          <p:cNvPr id="14" name="Text 12"/>
          <p:cNvSpPr/>
          <p:nvPr/>
        </p:nvSpPr>
        <p:spPr>
          <a:xfrm>
            <a:off x="6381750" y="3251002"/>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오류 해결</a:t>
            </a:r>
            <a:endParaRPr lang="en-US" sz="1800" dirty="0"/>
          </a:p>
        </p:txBody>
      </p:sp>
      <p:sp>
        <p:nvSpPr>
          <p:cNvPr id="15" name="Text 13"/>
          <p:cNvSpPr/>
          <p:nvPr/>
        </p:nvSpPr>
        <p:spPr>
          <a:xfrm>
            <a:off x="6381750" y="3588742"/>
            <a:ext cx="493153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F6F78"/>
                </a:solidFill>
                <a:latin typeface="Arial" pitchFamily="34" charset="0"/>
                <a:ea typeface="Arial" pitchFamily="34" charset="-122"/>
                <a:cs typeface="Arial" pitchFamily="34" charset="-120"/>
              </a:rPr>
              <a:t>“#VALUE! 오류가 나는 이유와 고치는 방법 알려 줘”</a:t>
            </a:r>
            <a:endParaRPr lang="en-US" sz="1300" dirty="0"/>
          </a:p>
        </p:txBody>
      </p:sp>
      <p:sp>
        <p:nvSpPr>
          <p:cNvPr id="16" name="Shape 14"/>
          <p:cNvSpPr/>
          <p:nvPr/>
        </p:nvSpPr>
        <p:spPr>
          <a:xfrm>
            <a:off x="812800" y="4325342"/>
            <a:ext cx="10566400" cy="660400"/>
          </a:xfrm>
          <a:prstGeom prst="roundRect">
            <a:avLst>
              <a:gd name="adj" fmla="val 15385"/>
            </a:avLst>
          </a:prstGeom>
          <a:solidFill>
            <a:srgbClr val="12304D"/>
          </a:solidFill>
          <a:ln/>
        </p:spPr>
      </p:sp>
      <p:pic>
        <p:nvPicPr>
          <p:cNvPr id="17" name="Image 0" descr="Lock">    </p:cNvPr>
          <p:cNvPicPr>
            <a:picLocks noChangeAspect="1"/>
          </p:cNvPicPr>
          <p:nvPr/>
        </p:nvPicPr>
        <p:blipFill>
          <a:blip r:embed="rId1"/>
          <a:srcRect l="0" r="0" t="0" b="0"/>
          <a:stretch/>
        </p:blipFill>
        <p:spPr>
          <a:xfrm>
            <a:off x="1066800" y="4503142"/>
            <a:ext cx="304800" cy="304800"/>
          </a:xfrm>
          <a:prstGeom prst="rect">
            <a:avLst/>
          </a:prstGeom>
        </p:spPr>
      </p:pic>
      <p:sp>
        <p:nvSpPr>
          <p:cNvPr id="18" name="Text 15"/>
          <p:cNvSpPr/>
          <p:nvPr/>
        </p:nvSpPr>
        <p:spPr>
          <a:xfrm>
            <a:off x="1524000" y="4522192"/>
            <a:ext cx="859238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4EF"/>
                </a:solidFill>
                <a:latin typeface="Arial" pitchFamily="34" charset="0"/>
                <a:ea typeface="Arial" pitchFamily="34" charset="-122"/>
                <a:cs typeface="Arial" pitchFamily="34" charset="-120"/>
              </a:rPr>
              <a:t>실제 데이터 대신 </a:t>
            </a:r>
            <a:r>
              <a:rPr lang="en-US" sz="1500" b="1" dirty="0">
                <a:solidFill>
                  <a:srgbClr val="F2A65A"/>
                </a:solidFill>
                <a:latin typeface="Arial" pitchFamily="34" charset="0"/>
                <a:ea typeface="Arial" pitchFamily="34" charset="-122"/>
                <a:cs typeface="Arial" pitchFamily="34" charset="-120"/>
              </a:rPr>
              <a:t>열 이름과 예시 2~3행</a:t>
            </a:r>
            <a:r>
              <a:rPr lang="en-US" sz="1500" dirty="0">
                <a:solidFill>
                  <a:srgbClr val="F5F4EF"/>
                </a:solidFill>
                <a:latin typeface="Arial" pitchFamily="34" charset="0"/>
                <a:ea typeface="Arial" pitchFamily="34" charset="-122"/>
                <a:cs typeface="Arial" pitchFamily="34" charset="-120"/>
              </a:rPr>
              <a:t>만 알려 줘도 수식은 충분히 만들 수 있습니다.</a:t>
            </a:r>
            <a:endParaRPr lang="en-US" sz="15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수식 질문하기</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열 위치를 알려 주면 정확한 수식이 나옵니다</a:t>
            </a:r>
            <a:endParaRPr lang="en-US" sz="3200" dirty="0"/>
          </a:p>
        </p:txBody>
      </p:sp>
      <p:sp>
        <p:nvSpPr>
          <p:cNvPr id="4" name="Text 2"/>
          <p:cNvSpPr/>
          <p:nvPr/>
        </p:nvSpPr>
        <p:spPr>
          <a:xfrm>
            <a:off x="812800" y="1884561"/>
            <a:ext cx="53370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6F78"/>
                </a:solidFill>
                <a:latin typeface="Arial" pitchFamily="34" charset="0"/>
                <a:ea typeface="Arial" pitchFamily="34" charset="-122"/>
                <a:cs typeface="Arial" pitchFamily="34" charset="-120"/>
              </a:rPr>
              <a:t>질문</a:t>
            </a:r>
            <a:endParaRPr lang="en-US" sz="1400" dirty="0"/>
          </a:p>
        </p:txBody>
      </p:sp>
      <p:sp>
        <p:nvSpPr>
          <p:cNvPr id="5" name="Text 3"/>
          <p:cNvSpPr/>
          <p:nvPr/>
        </p:nvSpPr>
        <p:spPr>
          <a:xfrm>
            <a:off x="812800" y="2235002"/>
            <a:ext cx="5181600" cy="1666081"/>
          </a:xfrm>
          <a:prstGeom prst="roundRect">
            <a:avLst>
              <a:gd name="adj" fmla="val 6098"/>
            </a:avLst>
          </a:prstGeom>
          <a:solidFill>
            <a:srgbClr val="12304D"/>
          </a:solidFill>
          <a:ln/>
        </p:spPr>
        <p:txBody>
          <a:bodyPr wrap="square" lIns="198842" tIns="198842" rIns="57110" bIns="173442" rtlCol="0" anchor="t">
            <a:normAutofit/>
          </a:bodyPr>
          <a:lstStyle/>
          <a:p>
            <a:pPr algn="l" indent="0" marL="0">
              <a:lnSpc>
                <a:spcPts val="2380"/>
              </a:lnSpc>
              <a:buNone/>
            </a:pPr>
            <a:r>
              <a:rPr lang="en-US" sz="1400" dirty="0">
                <a:solidFill>
                  <a:srgbClr val="F5F4EF"/>
                </a:solidFill>
                <a:latin typeface="Arial" pitchFamily="34" charset="0"/>
                <a:ea typeface="Arial" pitchFamily="34" charset="-122"/>
                <a:cs typeface="Arial" pitchFamily="34" charset="-120"/>
              </a:rPr>
              <a:t>엑셀에서 A열은 주문일, B열은 지역, C열은 품목, D열은 수량, E열은 단가야. 데이터는 2행부터 있어. F열에 금액을 구하는 수식과, H2 셀에 ‘부산’ 지역 금액 합계를 구하는 수식을 알려 줘.</a:t>
            </a:r>
            <a:endParaRPr lang="en-US" sz="1400" dirty="0"/>
          </a:p>
        </p:txBody>
      </p:sp>
      <p:sp>
        <p:nvSpPr>
          <p:cNvPr id="6" name="Text 4"/>
          <p:cNvSpPr/>
          <p:nvPr/>
        </p:nvSpPr>
        <p:spPr>
          <a:xfrm>
            <a:off x="6197600" y="1884561"/>
            <a:ext cx="53370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6F78"/>
                </a:solidFill>
                <a:latin typeface="Arial" pitchFamily="34" charset="0"/>
                <a:ea typeface="Arial" pitchFamily="34" charset="-122"/>
                <a:cs typeface="Arial" pitchFamily="34" charset="-120"/>
              </a:rPr>
              <a:t>AI의 답(예시)</a:t>
            </a:r>
            <a:endParaRPr lang="en-US" sz="1400" dirty="0"/>
          </a:p>
        </p:txBody>
      </p:sp>
      <p:sp>
        <p:nvSpPr>
          <p:cNvPr id="7" name="Shape 5"/>
          <p:cNvSpPr/>
          <p:nvPr/>
        </p:nvSpPr>
        <p:spPr>
          <a:xfrm>
            <a:off x="6200775" y="2238177"/>
            <a:ext cx="5175250" cy="2032000"/>
          </a:xfrm>
          <a:prstGeom prst="roundRect">
            <a:avLst>
              <a:gd name="adj" fmla="val 4844"/>
            </a:avLst>
          </a:prstGeom>
          <a:solidFill>
            <a:srgbClr val="FCFCFA"/>
          </a:solidFill>
          <a:ln w="6350">
            <a:solidFill>
              <a:srgbClr val="D9DDE1"/>
            </a:solidFill>
            <a:prstDash val="solid"/>
          </a:ln>
        </p:spPr>
      </p:sp>
      <p:sp>
        <p:nvSpPr>
          <p:cNvPr id="8" name="Text 6"/>
          <p:cNvSpPr/>
          <p:nvPr/>
        </p:nvSpPr>
        <p:spPr>
          <a:xfrm>
            <a:off x="6432550" y="2469952"/>
            <a:ext cx="4853051"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304D"/>
                </a:solidFill>
                <a:latin typeface="Arial" pitchFamily="34" charset="0"/>
                <a:ea typeface="Arial" pitchFamily="34" charset="-122"/>
                <a:cs typeface="Arial" pitchFamily="34" charset="-120"/>
              </a:rPr>
              <a:t>F2 셀 · 금액</a:t>
            </a:r>
            <a:endParaRPr lang="en-US" sz="1400" dirty="0"/>
          </a:p>
          <a:p>
            <a:pPr algn="l" indent="0" marL="0">
              <a:lnSpc>
                <a:spcPts val="2100"/>
              </a:lnSpc>
              <a:buNone/>
            </a:pPr>
            <a:r>
              <a:rPr lang="en-US" sz="1400" b="1" dirty="0">
                <a:solidFill>
                  <a:srgbClr val="A64F16"/>
                </a:solidFill>
                <a:latin typeface="Arial" pitchFamily="34" charset="0"/>
                <a:ea typeface="Arial" pitchFamily="34" charset="-122"/>
                <a:cs typeface="Arial" pitchFamily="34" charset="-120"/>
              </a:rPr>
              <a:t>=D2*E2</a:t>
            </a:r>
            <a:r>
              <a:rPr lang="en-US" sz="1400" dirty="0">
                <a:solidFill>
                  <a:srgbClr val="12304D"/>
                </a:solidFill>
                <a:latin typeface="Arial" pitchFamily="34" charset="0"/>
                <a:ea typeface="Arial" pitchFamily="34" charset="-122"/>
                <a:cs typeface="Arial" pitchFamily="34" charset="-120"/>
              </a:rPr>
              <a:t>　→ 아래로 채우기</a:t>
            </a:r>
            <a:endParaRPr lang="en-US" sz="1400" dirty="0"/>
          </a:p>
        </p:txBody>
      </p:sp>
      <p:sp>
        <p:nvSpPr>
          <p:cNvPr id="9" name="Text 7"/>
          <p:cNvSpPr/>
          <p:nvPr/>
        </p:nvSpPr>
        <p:spPr>
          <a:xfrm>
            <a:off x="6432550" y="3130352"/>
            <a:ext cx="4853051"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304D"/>
                </a:solidFill>
                <a:latin typeface="Arial" pitchFamily="34" charset="0"/>
                <a:ea typeface="Arial" pitchFamily="34" charset="-122"/>
                <a:cs typeface="Arial" pitchFamily="34" charset="-120"/>
              </a:rPr>
              <a:t>H2 셀 · 부산 합계</a:t>
            </a:r>
            <a:endParaRPr lang="en-US" sz="1400" dirty="0"/>
          </a:p>
          <a:p>
            <a:pPr algn="l" indent="0" marL="0">
              <a:lnSpc>
                <a:spcPts val="2100"/>
              </a:lnSpc>
              <a:buNone/>
            </a:pPr>
            <a:r>
              <a:rPr lang="en-US" sz="1400" b="1" dirty="0">
                <a:solidFill>
                  <a:srgbClr val="A64F16"/>
                </a:solidFill>
                <a:latin typeface="Arial" pitchFamily="34" charset="0"/>
                <a:ea typeface="Arial" pitchFamily="34" charset="-122"/>
                <a:cs typeface="Arial" pitchFamily="34" charset="-120"/>
              </a:rPr>
              <a:t>=SUMIF(B:B,"부산",F:F)</a:t>
            </a:r>
            <a:endParaRPr lang="en-US" sz="1400" dirty="0"/>
          </a:p>
        </p:txBody>
      </p:sp>
      <p:sp>
        <p:nvSpPr>
          <p:cNvPr id="10" name="Text 8"/>
          <p:cNvSpPr/>
          <p:nvPr/>
        </p:nvSpPr>
        <p:spPr>
          <a:xfrm>
            <a:off x="6432550" y="3790752"/>
            <a:ext cx="485305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SUMIF(조건 범위, 조건, 합계 범위)</a:t>
            </a:r>
            <a:endParaRPr lang="en-US" sz="13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8EEF2"/>
        </a:solidFill>
      </p:bgPr>
    </p:bg>
    <p:spTree>
      <p:nvGrpSpPr>
        <p:cNvPr id="1" name=""/>
        <p:cNvGrpSpPr/>
        <p:nvPr/>
      </p:nvGrpSpPr>
      <p:grpSpPr>
        <a:xfrm>
          <a:off x="0" y="0"/>
          <a:ext cx="0" cy="0"/>
          <a:chOff x="0" y="0"/>
          <a:chExt cx="0" cy="0"/>
        </a:xfrm>
      </p:grpSpPr>
      <p:sp>
        <p:nvSpPr>
          <p:cNvPr id="2" name="Text 0"/>
          <p:cNvSpPr/>
          <p:nvPr/>
        </p:nvSpPr>
        <p:spPr>
          <a:xfrm>
            <a:off x="812800" y="812800"/>
            <a:ext cx="1342330" cy="350441"/>
          </a:xfrm>
          <a:prstGeom prst="roundRect">
            <a:avLst>
              <a:gd name="adj" fmla="val 50000"/>
            </a:avLst>
          </a:prstGeom>
          <a:solidFill>
            <a:srgbClr val="1F6F78"/>
          </a:solidFill>
          <a:ln/>
        </p:spPr>
        <p:txBody>
          <a:bodyPr wrap="none" lIns="0" tIns="0" rIns="0" bIns="0" rtlCol="0" anchor="ctr">
            <a:normAutofit/>
          </a:bodyPr>
          <a:lstStyle/>
          <a:p>
            <a:pPr algn="ctr" indent="0" marL="0">
              <a:lnSpc>
                <a:spcPts val="1960"/>
              </a:lnSpc>
              <a:buNone/>
            </a:pPr>
            <a:r>
              <a:rPr lang="en-US" sz="1400" b="1" dirty="0">
                <a:solidFill>
                  <a:srgbClr val="F5F4EF"/>
                </a:solidFill>
                <a:latin typeface="Arial" pitchFamily="34" charset="0"/>
                <a:ea typeface="Arial" pitchFamily="34" charset="-122"/>
                <a:cs typeface="Arial" pitchFamily="34" charset="-120"/>
              </a:rPr>
              <a:t>실습 5 · 30분</a:t>
            </a:r>
            <a:endParaRPr lang="en-US" sz="1400" dirty="0"/>
          </a:p>
        </p:txBody>
      </p:sp>
      <p:sp>
        <p:nvSpPr>
          <p:cNvPr id="3" name="Text 1"/>
          <p:cNvSpPr/>
          <p:nvPr>
            <p:ph type="title"/>
          </p:nvPr>
        </p:nvSpPr>
        <p:spPr>
          <a:xfrm>
            <a:off x="812800" y="1264841"/>
            <a:ext cx="6881813"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AI와 함께 주문 데이터 계산하기</a:t>
            </a:r>
            <a:endParaRPr lang="en-US" sz="3200" dirty="0"/>
          </a:p>
        </p:txBody>
      </p:sp>
      <p:sp>
        <p:nvSpPr>
          <p:cNvPr id="4" name="Text 2"/>
          <p:cNvSpPr/>
          <p:nvPr/>
        </p:nvSpPr>
        <p:spPr>
          <a:xfrm>
            <a:off x="812800" y="1986161"/>
            <a:ext cx="575564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64F16"/>
                </a:solidFill>
                <a:latin typeface="Arial" pitchFamily="34" charset="0"/>
                <a:ea typeface="Arial" pitchFamily="34" charset="-122"/>
                <a:cs typeface="Arial" pitchFamily="34" charset="-120"/>
              </a:rPr>
              <a:t>엑셀에 그대로 입력 (A1부터)</a:t>
            </a:r>
            <a:endParaRPr lang="en-US" sz="1300" dirty="0"/>
          </a:p>
        </p:txBody>
      </p:sp>
      <p:sp>
        <p:nvSpPr>
          <p:cNvPr id="5" name="Shape 3"/>
          <p:cNvSpPr/>
          <p:nvPr/>
        </p:nvSpPr>
        <p:spPr>
          <a:xfrm>
            <a:off x="812800" y="2293441"/>
            <a:ext cx="5588000" cy="2340769"/>
          </a:xfrm>
          <a:prstGeom prst="rect">
            <a:avLst/>
          </a:prstGeom>
          <a:solidFill>
            <a:srgbClr val="FCFCFA"/>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06141"/>
          <a:ext cx="5575300" cy="2328069"/>
        </p:xfrm>
        <a:graphic>
          <a:graphicData uri="http://schemas.openxmlformats.org/drawingml/2006/table">
            <a:tbl>
              <a:tblPr/>
              <a:tblGrid>
                <a:gridCol w="1449578"/>
                <a:gridCol w="892048"/>
                <a:gridCol w="892048"/>
                <a:gridCol w="1003554"/>
                <a:gridCol w="1338072"/>
              </a:tblGrid>
              <a:tr h="332581">
                <a:tc>
                  <a:txBody>
                    <a:bodyPr/>
                    <a:lstStyle/>
                    <a:p>
                      <a:pPr indent="0" marL="0">
                        <a:lnSpc>
                          <a:spcPts val="1680"/>
                        </a:lnSpc>
                        <a:buNone/>
                      </a:pPr>
                      <a:r>
                        <a:rPr lang="en-US" sz="1200" b="1" dirty="0">
                          <a:solidFill>
                            <a:srgbClr val="F5F4EF"/>
                          </a:solidFill>
                          <a:latin typeface="Arial" pitchFamily="34" charset="0"/>
                          <a:ea typeface="Arial" pitchFamily="34" charset="-122"/>
                          <a:cs typeface="Arial" pitchFamily="34" charset="-120"/>
                        </a:rPr>
                        <a:t>주문일</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indent="0" marL="0">
                        <a:lnSpc>
                          <a:spcPts val="1680"/>
                        </a:lnSpc>
                        <a:buNone/>
                      </a:pPr>
                      <a:r>
                        <a:rPr lang="en-US" sz="1200" b="1" dirty="0">
                          <a:solidFill>
                            <a:srgbClr val="F5F4EF"/>
                          </a:solidFill>
                          <a:latin typeface="Arial" pitchFamily="34" charset="0"/>
                          <a:ea typeface="Arial" pitchFamily="34" charset="-122"/>
                          <a:cs typeface="Arial" pitchFamily="34" charset="-120"/>
                        </a:rPr>
                        <a:t>지역</a:t>
                      </a:r>
                      <a:endParaRPr lang="en-US" sz="1200" dirty="0">
                        <a:latin typeface="Arial" charset="0"/>
                        <a:ea typeface="Arial" charset="0"/>
                        <a:cs typeface="Arial" charset="0"/>
                      </a:endParaRPr>
                    </a:p>
                  </a:txBody>
                  <a:tcPr marL="53340" marR="53340" marT="53340" marB="5334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indent="0" marL="0">
                        <a:lnSpc>
                          <a:spcPts val="1680"/>
                        </a:lnSpc>
                        <a:buNone/>
                      </a:pPr>
                      <a:r>
                        <a:rPr lang="en-US" sz="1200" b="1" dirty="0">
                          <a:solidFill>
                            <a:srgbClr val="F5F4EF"/>
                          </a:solidFill>
                          <a:latin typeface="Arial" pitchFamily="34" charset="0"/>
                          <a:ea typeface="Arial" pitchFamily="34" charset="-122"/>
                          <a:cs typeface="Arial" pitchFamily="34" charset="-120"/>
                        </a:rPr>
                        <a:t>품목</a:t>
                      </a:r>
                      <a:endParaRPr lang="en-US" sz="1200" dirty="0">
                        <a:latin typeface="Arial" charset="0"/>
                        <a:ea typeface="Arial" charset="0"/>
                        <a:cs typeface="Arial" charset="0"/>
                      </a:endParaRPr>
                    </a:p>
                  </a:txBody>
                  <a:tcPr marL="53340" marR="53340" marT="53340" marB="5334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algn="r" indent="0" marL="0">
                        <a:lnSpc>
                          <a:spcPts val="1680"/>
                        </a:lnSpc>
                        <a:buNone/>
                      </a:pPr>
                      <a:r>
                        <a:rPr lang="en-US" sz="1200" b="1" dirty="0">
                          <a:solidFill>
                            <a:srgbClr val="F5F4EF"/>
                          </a:solidFill>
                          <a:latin typeface="Arial" pitchFamily="34" charset="0"/>
                          <a:ea typeface="Arial" pitchFamily="34" charset="-122"/>
                          <a:cs typeface="Arial" pitchFamily="34" charset="-120"/>
                        </a:rPr>
                        <a:t>수량</a:t>
                      </a:r>
                      <a:endParaRPr lang="en-US" sz="1200" dirty="0">
                        <a:latin typeface="Arial" charset="0"/>
                        <a:ea typeface="Arial" charset="0"/>
                        <a:cs typeface="Arial" charset="0"/>
                      </a:endParaRPr>
                    </a:p>
                  </a:txBody>
                  <a:tcPr marL="53340" marR="53340" marT="53340" marB="5334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algn="r" indent="0" marL="0">
                        <a:lnSpc>
                          <a:spcPts val="1680"/>
                        </a:lnSpc>
                        <a:buNone/>
                      </a:pPr>
                      <a:r>
                        <a:rPr lang="en-US" sz="1200" b="1" dirty="0">
                          <a:solidFill>
                            <a:srgbClr val="F5F4EF"/>
                          </a:solidFill>
                          <a:latin typeface="Arial" pitchFamily="34" charset="0"/>
                          <a:ea typeface="Arial" pitchFamily="34" charset="-122"/>
                          <a:cs typeface="Arial" pitchFamily="34" charset="-120"/>
                        </a:rPr>
                        <a:t>단가</a:t>
                      </a:r>
                      <a:endParaRPr lang="en-US" sz="1200" dirty="0">
                        <a:latin typeface="Arial" charset="0"/>
                        <a:ea typeface="Arial" charset="0"/>
                        <a:cs typeface="Arial" charset="0"/>
                      </a:endParaRPr>
                    </a:p>
                  </a:txBody>
                  <a:tcPr marL="53340" marR="53340" marT="53340" marB="5334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2026-10-01</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부산</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노트</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1500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2026-10-02</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서울</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볼펜</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120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800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2026-10-03</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부산</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볼펜</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80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800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2026-10-05</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대구</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파일</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2000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2026-10-06</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서울</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노트</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50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1500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2026-10-08</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부산</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파일</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2000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bl>
          </a:graphicData>
        </a:graphic>
      </p:graphicFrame>
      <p:sp>
        <p:nvSpPr>
          <p:cNvPr id="7" name="Text 4"/>
          <p:cNvSpPr/>
          <p:nvPr/>
        </p:nvSpPr>
        <p:spPr>
          <a:xfrm>
            <a:off x="6629400" y="1986161"/>
            <a:ext cx="4749800" cy="501650"/>
          </a:xfrm>
          <a:prstGeom prst="roundRect">
            <a:avLst>
              <a:gd name="adj" fmla="val 20253"/>
            </a:avLst>
          </a:prstGeom>
          <a:solidFill>
            <a:srgbClr val="FCFCFA"/>
          </a:solidFill>
          <a:ln/>
        </p:spPr>
        <p:txBody>
          <a:bodyPr wrap="square" lIns="148042" tIns="97242" rIns="16216" bIns="71842" rtlCol="0" anchor="t">
            <a:normAutofit/>
          </a:bodyPr>
          <a:lstStyle/>
          <a:p>
            <a:pPr algn="l" indent="0" marL="0">
              <a:lnSpc>
                <a:spcPts val="1950"/>
              </a:lnSpc>
              <a:buNone/>
            </a:pPr>
            <a:r>
              <a:rPr lang="en-US" sz="1300" b="1" dirty="0">
                <a:solidFill>
                  <a:srgbClr val="1F6F78"/>
                </a:solidFill>
                <a:latin typeface="Arial" pitchFamily="34" charset="0"/>
                <a:ea typeface="Arial" pitchFamily="34" charset="-122"/>
                <a:cs typeface="Arial" pitchFamily="34" charset="-120"/>
              </a:rPr>
              <a:t>①</a:t>
            </a:r>
            <a:r>
              <a:rPr lang="en-US" sz="1300" dirty="0">
                <a:solidFill>
                  <a:srgbClr val="12304D"/>
                </a:solidFill>
                <a:latin typeface="Arial" pitchFamily="34" charset="0"/>
                <a:ea typeface="Arial" pitchFamily="34" charset="-122"/>
                <a:cs typeface="Arial" pitchFamily="34" charset="-120"/>
              </a:rPr>
              <a:t> F열 ‘금액’ 수식 받기</a:t>
            </a:r>
            <a:endParaRPr lang="en-US" sz="1300" dirty="0"/>
          </a:p>
        </p:txBody>
      </p:sp>
      <p:sp>
        <p:nvSpPr>
          <p:cNvPr id="8" name="Text 5"/>
          <p:cNvSpPr/>
          <p:nvPr/>
        </p:nvSpPr>
        <p:spPr>
          <a:xfrm>
            <a:off x="6629400" y="2576711"/>
            <a:ext cx="4749800" cy="501650"/>
          </a:xfrm>
          <a:prstGeom prst="roundRect">
            <a:avLst>
              <a:gd name="adj" fmla="val 20253"/>
            </a:avLst>
          </a:prstGeom>
          <a:solidFill>
            <a:srgbClr val="FCFCFA"/>
          </a:solidFill>
          <a:ln/>
        </p:spPr>
        <p:txBody>
          <a:bodyPr wrap="square" lIns="148042" tIns="97242" rIns="16216" bIns="71842" rtlCol="0" anchor="t">
            <a:normAutofit/>
          </a:bodyPr>
          <a:lstStyle/>
          <a:p>
            <a:pPr algn="l" indent="0" marL="0">
              <a:lnSpc>
                <a:spcPts val="1950"/>
              </a:lnSpc>
              <a:buNone/>
            </a:pPr>
            <a:r>
              <a:rPr lang="en-US" sz="1300" b="1" dirty="0">
                <a:solidFill>
                  <a:srgbClr val="1F6F78"/>
                </a:solidFill>
                <a:latin typeface="Arial" pitchFamily="34" charset="0"/>
                <a:ea typeface="Arial" pitchFamily="34" charset="-122"/>
                <a:cs typeface="Arial" pitchFamily="34" charset="-120"/>
              </a:rPr>
              <a:t>②</a:t>
            </a:r>
            <a:r>
              <a:rPr lang="en-US" sz="1300" dirty="0">
                <a:solidFill>
                  <a:srgbClr val="12304D"/>
                </a:solidFill>
                <a:latin typeface="Arial" pitchFamily="34" charset="0"/>
                <a:ea typeface="Arial" pitchFamily="34" charset="-122"/>
                <a:cs typeface="Arial" pitchFamily="34" charset="-120"/>
              </a:rPr>
              <a:t> 지역별 금액 합계 수식 받기</a:t>
            </a:r>
            <a:endParaRPr lang="en-US" sz="1300" dirty="0"/>
          </a:p>
        </p:txBody>
      </p:sp>
      <p:sp>
        <p:nvSpPr>
          <p:cNvPr id="9" name="Text 6"/>
          <p:cNvSpPr/>
          <p:nvPr/>
        </p:nvSpPr>
        <p:spPr>
          <a:xfrm>
            <a:off x="6629400" y="3167261"/>
            <a:ext cx="4749800" cy="501650"/>
          </a:xfrm>
          <a:prstGeom prst="roundRect">
            <a:avLst>
              <a:gd name="adj" fmla="val 20253"/>
            </a:avLst>
          </a:prstGeom>
          <a:solidFill>
            <a:srgbClr val="FCFCFA"/>
          </a:solidFill>
          <a:ln/>
        </p:spPr>
        <p:txBody>
          <a:bodyPr wrap="square" lIns="148042" tIns="97242" rIns="16216" bIns="71842" rtlCol="0" anchor="t">
            <a:normAutofit/>
          </a:bodyPr>
          <a:lstStyle/>
          <a:p>
            <a:pPr algn="l" indent="0" marL="0">
              <a:lnSpc>
                <a:spcPts val="1950"/>
              </a:lnSpc>
              <a:buNone/>
            </a:pPr>
            <a:r>
              <a:rPr lang="en-US" sz="1300" b="1" dirty="0">
                <a:solidFill>
                  <a:srgbClr val="1F6F78"/>
                </a:solidFill>
                <a:latin typeface="Arial" pitchFamily="34" charset="0"/>
                <a:ea typeface="Arial" pitchFamily="34" charset="-122"/>
                <a:cs typeface="Arial" pitchFamily="34" charset="-120"/>
              </a:rPr>
              <a:t>③</a:t>
            </a:r>
            <a:r>
              <a:rPr lang="en-US" sz="1300" dirty="0">
                <a:solidFill>
                  <a:srgbClr val="12304D"/>
                </a:solidFill>
                <a:latin typeface="Arial" pitchFamily="34" charset="0"/>
                <a:ea typeface="Arial" pitchFamily="34" charset="-122"/>
                <a:cs typeface="Arial" pitchFamily="34" charset="-120"/>
              </a:rPr>
              <a:t> 품목별 수량 합계와 1위 품목 찾기</a:t>
            </a:r>
            <a:endParaRPr lang="en-US" sz="1300" dirty="0"/>
          </a:p>
        </p:txBody>
      </p:sp>
      <p:sp>
        <p:nvSpPr>
          <p:cNvPr id="10" name="Text 7"/>
          <p:cNvSpPr/>
          <p:nvPr/>
        </p:nvSpPr>
        <p:spPr>
          <a:xfrm>
            <a:off x="6629400" y="3757811"/>
            <a:ext cx="4749800" cy="501650"/>
          </a:xfrm>
          <a:prstGeom prst="roundRect">
            <a:avLst>
              <a:gd name="adj" fmla="val 20253"/>
            </a:avLst>
          </a:prstGeom>
          <a:solidFill>
            <a:srgbClr val="12304D"/>
          </a:solidFill>
          <a:ln/>
        </p:spPr>
        <p:txBody>
          <a:bodyPr wrap="square" lIns="148042" tIns="97242" rIns="16216" bIns="71842" rtlCol="0" anchor="t">
            <a:normAutofit/>
          </a:bodyPr>
          <a:lstStyle/>
          <a:p>
            <a:pPr algn="l" indent="0" marL="0">
              <a:lnSpc>
                <a:spcPts val="1950"/>
              </a:lnSpc>
              <a:buNone/>
            </a:pPr>
            <a:r>
              <a:rPr lang="en-US" sz="1300" b="1" dirty="0">
                <a:solidFill>
                  <a:srgbClr val="F2A65A"/>
                </a:solidFill>
                <a:latin typeface="Arial" pitchFamily="34" charset="0"/>
                <a:ea typeface="Arial" pitchFamily="34" charset="-122"/>
                <a:cs typeface="Arial" pitchFamily="34" charset="-120"/>
              </a:rPr>
              <a:t>④</a:t>
            </a:r>
            <a:r>
              <a:rPr lang="en-US" sz="1300" dirty="0">
                <a:solidFill>
                  <a:srgbClr val="F5F4EF"/>
                </a:solidFill>
                <a:latin typeface="Arial" pitchFamily="34" charset="0"/>
                <a:ea typeface="Arial" pitchFamily="34" charset="-122"/>
                <a:cs typeface="Arial" pitchFamily="34" charset="-120"/>
              </a:rPr>
              <a:t> 수식을 엑셀에 넣고 결과를 손으로 한 번 검산</a:t>
            </a:r>
            <a:endParaRPr lang="en-US" sz="13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2304D"/>
        </a:solidFill>
      </p:bgPr>
    </p:bg>
    <p:spTree>
      <p:nvGrpSpPr>
        <p:cNvPr id="1" name=""/>
        <p:cNvGrpSpPr/>
        <p:nvPr/>
      </p:nvGrpSpPr>
      <p:grpSpPr>
        <a:xfrm>
          <a:off x="0" y="0"/>
          <a:ext cx="0" cy="0"/>
          <a:chOff x="0" y="0"/>
          <a:chExt cx="0" cy="0"/>
        </a:xfrm>
      </p:grpSpPr>
      <p:sp>
        <p:nvSpPr>
          <p:cNvPr id="2" name="Text 0"/>
          <p:cNvSpPr/>
          <p:nvPr/>
        </p:nvSpPr>
        <p:spPr>
          <a:xfrm>
            <a:off x="6800850" y="1270000"/>
            <a:ext cx="4578350" cy="2565400"/>
          </a:xfrm>
          <a:prstGeom prst="rect">
            <a:avLst/>
          </a:prstGeom>
          <a:noFill/>
          <a:ln/>
        </p:spPr>
        <p:txBody>
          <a:bodyPr wrap="square" lIns="0" tIns="0" rIns="0" bIns="0" rtlCol="0" anchor="t">
            <a:normAutofit/>
          </a:bodyPr>
          <a:lstStyle/>
          <a:p>
            <a:pPr algn="r" indent="0" marL="0">
              <a:lnSpc>
                <a:spcPts val="20000"/>
              </a:lnSpc>
              <a:buNone/>
            </a:pPr>
            <a:r>
              <a:rPr lang="en-US" sz="20000" b="1" dirty="0">
                <a:solidFill>
                  <a:srgbClr val="1C3F62"/>
                </a:solidFill>
                <a:latin typeface="Arial" pitchFamily="34" charset="0"/>
                <a:ea typeface="Arial" pitchFamily="34" charset="-122"/>
                <a:cs typeface="Arial" pitchFamily="34" charset="-120"/>
              </a:rPr>
              <a:t>07</a:t>
            </a:r>
            <a:endParaRPr lang="en-US" sz="20000" dirty="0"/>
          </a:p>
        </p:txBody>
      </p:sp>
      <p:sp>
        <p:nvSpPr>
          <p:cNvPr id="3" name="Text 1"/>
          <p:cNvSpPr/>
          <p:nvPr/>
        </p:nvSpPr>
        <p:spPr>
          <a:xfrm>
            <a:off x="812800" y="224799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A65A"/>
                </a:solidFill>
                <a:latin typeface="Arial" pitchFamily="34" charset="0"/>
                <a:ea typeface="Arial" pitchFamily="34" charset="-122"/>
                <a:cs typeface="Arial" pitchFamily="34" charset="-120"/>
              </a:rPr>
              <a:t>7교시 · 50분</a:t>
            </a:r>
            <a:endParaRPr lang="en-US" sz="1600" dirty="0"/>
          </a:p>
        </p:txBody>
      </p:sp>
      <p:sp>
        <p:nvSpPr>
          <p:cNvPr id="4" name="Text 2"/>
          <p:cNvSpPr/>
          <p:nvPr>
            <p:ph type="title"/>
          </p:nvPr>
        </p:nvSpPr>
        <p:spPr>
          <a:xfrm>
            <a:off x="812800" y="2761059"/>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4EF"/>
                </a:solidFill>
                <a:latin typeface="Arial" pitchFamily="34" charset="0"/>
                <a:ea typeface="Arial" pitchFamily="34" charset="-122"/>
                <a:cs typeface="Arial" pitchFamily="34" charset="-120"/>
              </a:rPr>
              <a:t>결과 검증 · 윤리 · 보안</a:t>
            </a:r>
            <a:endParaRPr lang="en-US" sz="4800" dirty="0"/>
          </a:p>
        </p:txBody>
      </p:sp>
      <p:sp>
        <p:nvSpPr>
          <p:cNvPr id="5" name="Text 3"/>
          <p:cNvSpPr/>
          <p:nvPr/>
        </p:nvSpPr>
        <p:spPr>
          <a:xfrm>
            <a:off x="812800" y="366018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D0DE"/>
                </a:solidFill>
                <a:latin typeface="Arial" pitchFamily="34" charset="0"/>
                <a:ea typeface="Arial" pitchFamily="34" charset="-122"/>
                <a:cs typeface="Arial" pitchFamily="34" charset="-120"/>
              </a:rPr>
              <a:t>AI가 만든 결과의 책임은 결국 내가 집니다</a:t>
            </a:r>
            <a:endParaRPr lang="en-US" sz="1800" dirty="0"/>
          </a:p>
        </p:txBody>
      </p:sp>
      <p:sp>
        <p:nvSpPr>
          <p:cNvPr id="6" name="Text 4"/>
          <p:cNvSpPr/>
          <p:nvPr/>
        </p:nvSpPr>
        <p:spPr>
          <a:xfrm>
            <a:off x="812800" y="4208760"/>
            <a:ext cx="711200"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환각</a:t>
            </a:r>
            <a:endParaRPr lang="en-US" sz="1400" dirty="0"/>
          </a:p>
        </p:txBody>
      </p:sp>
      <p:sp>
        <p:nvSpPr>
          <p:cNvPr id="7" name="Text 5"/>
          <p:cNvSpPr/>
          <p:nvPr/>
        </p:nvSpPr>
        <p:spPr>
          <a:xfrm>
            <a:off x="1625600" y="4208760"/>
            <a:ext cx="1649611"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검증 체크리스트</a:t>
            </a:r>
            <a:endParaRPr lang="en-US" sz="1400" dirty="0"/>
          </a:p>
        </p:txBody>
      </p:sp>
      <p:sp>
        <p:nvSpPr>
          <p:cNvPr id="8" name="Text 6"/>
          <p:cNvSpPr/>
          <p:nvPr/>
        </p:nvSpPr>
        <p:spPr>
          <a:xfrm>
            <a:off x="3376811" y="4208760"/>
            <a:ext cx="1066800"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정보보안</a:t>
            </a:r>
            <a:endParaRPr lang="en-US" sz="1400" dirty="0"/>
          </a:p>
        </p:txBody>
      </p:sp>
      <p:sp>
        <p:nvSpPr>
          <p:cNvPr id="9" name="Text 7"/>
          <p:cNvSpPr/>
          <p:nvPr/>
        </p:nvSpPr>
        <p:spPr>
          <a:xfrm>
            <a:off x="4545211" y="4208760"/>
            <a:ext cx="1402655"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저작권 · 편향</a:t>
            </a:r>
            <a:endParaRPr lang="en-US" sz="1400" dirty="0"/>
          </a:p>
        </p:txBody>
      </p:sp>
      <p:sp>
        <p:nvSpPr>
          <p:cNvPr id="10" name="Text 8"/>
          <p:cNvSpPr/>
          <p:nvPr/>
        </p:nvSpPr>
        <p:spPr>
          <a:xfrm>
            <a:off x="6049466" y="4208760"/>
            <a:ext cx="859532" cy="401241"/>
          </a:xfrm>
          <a:prstGeom prst="roundRect">
            <a:avLst>
              <a:gd name="adj" fmla="val 50000"/>
            </a:avLst>
          </a:prstGeom>
          <a:solidFill>
            <a:srgbClr val="1F6F7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실습 6</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환각 (Hallucination)</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AI는 모를 때도 자신 있게 답합니다</a:t>
            </a:r>
            <a:endParaRPr lang="en-US" sz="3200" dirty="0"/>
          </a:p>
        </p:txBody>
      </p:sp>
      <p:sp>
        <p:nvSpPr>
          <p:cNvPr id="4" name="Shape 2"/>
          <p:cNvSpPr/>
          <p:nvPr/>
        </p:nvSpPr>
        <p:spPr>
          <a:xfrm>
            <a:off x="815975" y="1887736"/>
            <a:ext cx="5200650" cy="970260"/>
          </a:xfrm>
          <a:prstGeom prst="roundRect">
            <a:avLst>
              <a:gd name="adj" fmla="val 10144"/>
            </a:avLst>
          </a:prstGeom>
          <a:solidFill>
            <a:srgbClr val="FCFCFA"/>
          </a:solidFill>
          <a:ln w="6350">
            <a:solidFill>
              <a:srgbClr val="D9DDE1"/>
            </a:solidFill>
            <a:prstDash val="solid"/>
          </a:ln>
        </p:spPr>
      </p:sp>
      <p:sp>
        <p:nvSpPr>
          <p:cNvPr id="5" name="Text 3"/>
          <p:cNvSpPr/>
          <p:nvPr/>
        </p:nvSpPr>
        <p:spPr>
          <a:xfrm>
            <a:off x="1022350" y="2094111"/>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304D"/>
                </a:solidFill>
                <a:latin typeface="Arial" pitchFamily="34" charset="0"/>
                <a:ea typeface="Arial" pitchFamily="34" charset="-122"/>
                <a:cs typeface="Arial" pitchFamily="34" charset="-120"/>
              </a:rPr>
              <a:t>없는 자료 만들기</a:t>
            </a:r>
            <a:endParaRPr lang="en-US" sz="1700" dirty="0"/>
          </a:p>
        </p:txBody>
      </p:sp>
      <p:sp>
        <p:nvSpPr>
          <p:cNvPr id="6" name="Text 4"/>
          <p:cNvSpPr/>
          <p:nvPr/>
        </p:nvSpPr>
        <p:spPr>
          <a:xfrm>
            <a:off x="1022350" y="2403971"/>
            <a:ext cx="493153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존재하지 않는 통계, 논문, 판례, 법 조항</a:t>
            </a:r>
            <a:endParaRPr lang="en-US" sz="1300" dirty="0"/>
          </a:p>
        </p:txBody>
      </p:sp>
      <p:sp>
        <p:nvSpPr>
          <p:cNvPr id="7" name="Shape 5"/>
          <p:cNvSpPr/>
          <p:nvPr/>
        </p:nvSpPr>
        <p:spPr>
          <a:xfrm>
            <a:off x="6175375" y="1887736"/>
            <a:ext cx="5200650" cy="970260"/>
          </a:xfrm>
          <a:prstGeom prst="roundRect">
            <a:avLst>
              <a:gd name="adj" fmla="val 10144"/>
            </a:avLst>
          </a:prstGeom>
          <a:solidFill>
            <a:srgbClr val="FCFCFA"/>
          </a:solidFill>
          <a:ln w="6350">
            <a:solidFill>
              <a:srgbClr val="D9DDE1"/>
            </a:solidFill>
            <a:prstDash val="solid"/>
          </a:ln>
        </p:spPr>
      </p:sp>
      <p:sp>
        <p:nvSpPr>
          <p:cNvPr id="8" name="Text 6"/>
          <p:cNvSpPr/>
          <p:nvPr/>
        </p:nvSpPr>
        <p:spPr>
          <a:xfrm>
            <a:off x="6381750" y="2094111"/>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304D"/>
                </a:solidFill>
                <a:latin typeface="Arial" pitchFamily="34" charset="0"/>
                <a:ea typeface="Arial" pitchFamily="34" charset="-122"/>
                <a:cs typeface="Arial" pitchFamily="34" charset="-120"/>
              </a:rPr>
              <a:t>정보 섞기</a:t>
            </a:r>
            <a:endParaRPr lang="en-US" sz="1700" dirty="0"/>
          </a:p>
        </p:txBody>
      </p:sp>
      <p:sp>
        <p:nvSpPr>
          <p:cNvPr id="9" name="Text 7"/>
          <p:cNvSpPr/>
          <p:nvPr/>
        </p:nvSpPr>
        <p:spPr>
          <a:xfrm>
            <a:off x="6381750" y="2403971"/>
            <a:ext cx="493153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비슷한 이름의 사람·회사·제품 정보를 혼동</a:t>
            </a:r>
            <a:endParaRPr lang="en-US" sz="1300" dirty="0"/>
          </a:p>
        </p:txBody>
      </p:sp>
      <p:sp>
        <p:nvSpPr>
          <p:cNvPr id="10" name="Shape 8"/>
          <p:cNvSpPr/>
          <p:nvPr/>
        </p:nvSpPr>
        <p:spPr>
          <a:xfrm>
            <a:off x="815975" y="3016746"/>
            <a:ext cx="5200650" cy="970260"/>
          </a:xfrm>
          <a:prstGeom prst="roundRect">
            <a:avLst>
              <a:gd name="adj" fmla="val 10144"/>
            </a:avLst>
          </a:prstGeom>
          <a:solidFill>
            <a:srgbClr val="FCFCFA"/>
          </a:solidFill>
          <a:ln w="6350">
            <a:solidFill>
              <a:srgbClr val="D9DDE1"/>
            </a:solidFill>
            <a:prstDash val="solid"/>
          </a:ln>
        </p:spPr>
      </p:sp>
      <p:sp>
        <p:nvSpPr>
          <p:cNvPr id="11" name="Text 9"/>
          <p:cNvSpPr/>
          <p:nvPr/>
        </p:nvSpPr>
        <p:spPr>
          <a:xfrm>
            <a:off x="1022350" y="3223121"/>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304D"/>
                </a:solidFill>
                <a:latin typeface="Arial" pitchFamily="34" charset="0"/>
                <a:ea typeface="Arial" pitchFamily="34" charset="-122"/>
                <a:cs typeface="Arial" pitchFamily="34" charset="-120"/>
              </a:rPr>
              <a:t>가짜 출처</a:t>
            </a:r>
            <a:endParaRPr lang="en-US" sz="1700" dirty="0"/>
          </a:p>
        </p:txBody>
      </p:sp>
      <p:sp>
        <p:nvSpPr>
          <p:cNvPr id="12" name="Text 10"/>
          <p:cNvSpPr/>
          <p:nvPr/>
        </p:nvSpPr>
        <p:spPr>
          <a:xfrm>
            <a:off x="1022350" y="3532981"/>
            <a:ext cx="493153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그럴듯하지만 열리지 않거나 내용이 다른 링크</a:t>
            </a:r>
            <a:endParaRPr lang="en-US" sz="1300" dirty="0"/>
          </a:p>
        </p:txBody>
      </p:sp>
      <p:sp>
        <p:nvSpPr>
          <p:cNvPr id="13" name="Shape 11"/>
          <p:cNvSpPr/>
          <p:nvPr/>
        </p:nvSpPr>
        <p:spPr>
          <a:xfrm>
            <a:off x="6175375" y="3016746"/>
            <a:ext cx="5200650" cy="970260"/>
          </a:xfrm>
          <a:prstGeom prst="roundRect">
            <a:avLst>
              <a:gd name="adj" fmla="val 10144"/>
            </a:avLst>
          </a:prstGeom>
          <a:solidFill>
            <a:srgbClr val="FCFCFA"/>
          </a:solidFill>
          <a:ln w="6350">
            <a:solidFill>
              <a:srgbClr val="D9DDE1"/>
            </a:solidFill>
            <a:prstDash val="solid"/>
          </a:ln>
        </p:spPr>
      </p:sp>
      <p:sp>
        <p:nvSpPr>
          <p:cNvPr id="14" name="Text 12"/>
          <p:cNvSpPr/>
          <p:nvPr/>
        </p:nvSpPr>
        <p:spPr>
          <a:xfrm>
            <a:off x="6381750" y="3223121"/>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304D"/>
                </a:solidFill>
                <a:latin typeface="Arial" pitchFamily="34" charset="0"/>
                <a:ea typeface="Arial" pitchFamily="34" charset="-122"/>
                <a:cs typeface="Arial" pitchFamily="34" charset="-120"/>
              </a:rPr>
              <a:t>계산 · 날짜 실수</a:t>
            </a:r>
            <a:endParaRPr lang="en-US" sz="1700" dirty="0"/>
          </a:p>
        </p:txBody>
      </p:sp>
      <p:sp>
        <p:nvSpPr>
          <p:cNvPr id="15" name="Text 13"/>
          <p:cNvSpPr/>
          <p:nvPr/>
        </p:nvSpPr>
        <p:spPr>
          <a:xfrm>
            <a:off x="6381750" y="3532981"/>
            <a:ext cx="493153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합계, 비율, 요일 계산이 틀림</a:t>
            </a:r>
            <a:endParaRPr lang="en-US" sz="1300" dirty="0"/>
          </a:p>
        </p:txBody>
      </p:sp>
      <p:sp>
        <p:nvSpPr>
          <p:cNvPr id="16" name="Text 14"/>
          <p:cNvSpPr/>
          <p:nvPr/>
        </p:nvSpPr>
        <p:spPr>
          <a:xfrm>
            <a:off x="812800" y="4269581"/>
            <a:ext cx="10566400" cy="622300"/>
          </a:xfrm>
          <a:prstGeom prst="roundRect">
            <a:avLst>
              <a:gd name="adj" fmla="val 16327"/>
            </a:avLst>
          </a:prstGeom>
          <a:solidFill>
            <a:srgbClr val="12304D"/>
          </a:solidFill>
          <a:ln/>
        </p:spPr>
        <p:txBody>
          <a:bodyPr wrap="square" lIns="224242" tIns="148042" rIns="0" bIns="122642" rtlCol="0" anchor="t">
            <a:normAutofit/>
          </a:bodyPr>
          <a:lstStyle/>
          <a:p>
            <a:pPr algn="l" indent="0" marL="0">
              <a:lnSpc>
                <a:spcPts val="2100"/>
              </a:lnSpc>
              <a:buNone/>
            </a:pPr>
            <a:r>
              <a:rPr lang="en-US" sz="1500" dirty="0">
                <a:solidFill>
                  <a:srgbClr val="F5F4EF"/>
                </a:solidFill>
                <a:latin typeface="Arial" pitchFamily="34" charset="0"/>
                <a:ea typeface="Arial" pitchFamily="34" charset="-122"/>
                <a:cs typeface="Arial" pitchFamily="34" charset="-120"/>
              </a:rPr>
              <a:t>이유 · AI는 정답을 찾는 것이 아니라 </a:t>
            </a:r>
            <a:r>
              <a:rPr lang="en-US" sz="1500" b="1" dirty="0">
                <a:solidFill>
                  <a:srgbClr val="F2A65A"/>
                </a:solidFill>
                <a:latin typeface="Arial" pitchFamily="34" charset="0"/>
                <a:ea typeface="Arial" pitchFamily="34" charset="-122"/>
                <a:cs typeface="Arial" pitchFamily="34" charset="-120"/>
              </a:rPr>
              <a:t>가장 그럴듯한 문장</a:t>
            </a:r>
            <a:r>
              <a:rPr lang="en-US" sz="1500" dirty="0">
                <a:solidFill>
                  <a:srgbClr val="F5F4EF"/>
                </a:solidFill>
                <a:latin typeface="Arial" pitchFamily="34" charset="0"/>
                <a:ea typeface="Arial" pitchFamily="34" charset="-122"/>
                <a:cs typeface="Arial" pitchFamily="34" charset="-120"/>
              </a:rPr>
              <a:t>을 만들기 때문입니다 (2교시 복습)</a:t>
            </a:r>
            <a:endParaRPr lang="en-US" sz="15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검증 체크리스트</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보내기 전에 다섯 가지를 확인합니다</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261"/>
          <a:ext cx="10553700" cy="2315766"/>
        </p:xfrm>
        <a:graphic>
          <a:graphicData uri="http://schemas.openxmlformats.org/drawingml/2006/table">
            <a:tbl>
              <a:tblPr/>
              <a:tblGrid>
                <a:gridCol w="1688592"/>
                <a:gridCol w="5065776"/>
                <a:gridCol w="3799332"/>
              </a:tblGrid>
              <a:tr h="385961">
                <a:tc>
                  <a:txBody>
                    <a:bodyPr/>
                    <a:lstStyle/>
                    <a:p>
                      <a:pPr indent="0" marL="0">
                        <a:lnSpc>
                          <a:spcPts val="1960"/>
                        </a:lnSpc>
                        <a:buNone/>
                      </a:pPr>
                      <a:r>
                        <a:rPr lang="en-US" sz="1400" b="1" dirty="0">
                          <a:solidFill>
                            <a:srgbClr val="F5F4EF"/>
                          </a:solidFill>
                          <a:latin typeface="Arial" pitchFamily="34" charset="0"/>
                          <a:ea typeface="Arial" pitchFamily="34" charset="-122"/>
                          <a:cs typeface="Arial" pitchFamily="34" charset="-120"/>
                        </a:rPr>
                        <a:t>확인</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indent="0" marL="0">
                        <a:lnSpc>
                          <a:spcPts val="1960"/>
                        </a:lnSpc>
                        <a:buNone/>
                      </a:pPr>
                      <a:r>
                        <a:rPr lang="en-US" sz="1400" b="1" dirty="0">
                          <a:solidFill>
                            <a:srgbClr val="F5F4EF"/>
                          </a:solidFill>
                          <a:latin typeface="Arial" pitchFamily="34" charset="0"/>
                          <a:ea typeface="Arial" pitchFamily="34" charset="-122"/>
                          <a:cs typeface="Arial" pitchFamily="34" charset="-120"/>
                        </a:rPr>
                        <a:t>질문</a:t>
                      </a:r>
                      <a:endParaRPr lang="en-US" sz="1400" dirty="0">
                        <a:latin typeface="Arial" charset="0"/>
                        <a:ea typeface="Arial" charset="0"/>
                        <a:cs typeface="Arial" charset="0"/>
                      </a:endParaRPr>
                    </a:p>
                  </a:txBody>
                  <a:tcPr marL="62230" marR="62230" marT="62230" marB="6223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indent="0" marL="0">
                        <a:lnSpc>
                          <a:spcPts val="1960"/>
                        </a:lnSpc>
                        <a:buNone/>
                      </a:pPr>
                      <a:r>
                        <a:rPr lang="en-US" sz="1400" b="1" dirty="0">
                          <a:solidFill>
                            <a:srgbClr val="F5F4EF"/>
                          </a:solidFill>
                          <a:latin typeface="Arial" pitchFamily="34" charset="0"/>
                          <a:ea typeface="Arial" pitchFamily="34" charset="-122"/>
                          <a:cs typeface="Arial" pitchFamily="34" charset="-120"/>
                        </a:rPr>
                        <a:t>방법</a:t>
                      </a:r>
                      <a:endParaRPr lang="en-US" sz="1400" dirty="0">
                        <a:latin typeface="Arial" charset="0"/>
                        <a:ea typeface="Arial" charset="0"/>
                        <a:cs typeface="Arial" charset="0"/>
                      </a:endParaRPr>
                    </a:p>
                  </a:txBody>
                  <a:tcPr marL="62230" marR="62230" marT="62230" marB="6223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r>
              <a:tr h="385961">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사실</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정말 그런가?</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공식 누리집·원문과 비교</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수치</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숫자·합계·비율이 맞나?</a:t>
                      </a:r>
                      <a:endParaRPr lang="en-US" sz="1400" dirty="0">
                        <a:latin typeface="Arial" charset="0"/>
                        <a:ea typeface="Arial" charset="0"/>
                        <a:cs typeface="Arial" charset="0"/>
                      </a:endParaRPr>
                    </a:p>
                  </a:txBody>
                  <a:tcPr marL="62230" marR="62230" marT="62230" marB="6223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원문 대조, 계산기·엑셀로 검산</a:t>
                      </a:r>
                      <a:endParaRPr lang="en-US" sz="1400" dirty="0">
                        <a:latin typeface="Arial" charset="0"/>
                        <a:ea typeface="Arial" charset="0"/>
                        <a:cs typeface="Arial" charset="0"/>
                      </a:endParaRPr>
                    </a:p>
                  </a:txBody>
                  <a:tcPr marL="62230" marR="62230" marT="62230" marB="6223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r h="385961">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출처</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근거가 실제로 있나?</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링크를 직접 열어 내용 확인</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날짜</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최신 정보인가?</a:t>
                      </a:r>
                      <a:endParaRPr lang="en-US" sz="1400" dirty="0">
                        <a:latin typeface="Arial" charset="0"/>
                        <a:ea typeface="Arial" charset="0"/>
                        <a:cs typeface="Arial" charset="0"/>
                      </a:endParaRPr>
                    </a:p>
                  </a:txBody>
                  <a:tcPr marL="62230" marR="62230" marT="62230" marB="6223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발표일·기준일 확인</a:t>
                      </a:r>
                      <a:endParaRPr lang="en-US" sz="1400" dirty="0">
                        <a:latin typeface="Arial" charset="0"/>
                        <a:ea typeface="Arial" charset="0"/>
                        <a:cs typeface="Arial" charset="0"/>
                      </a:endParaRPr>
                    </a:p>
                  </a:txBody>
                  <a:tcPr marL="62230" marR="62230" marT="62230" marB="6223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r h="385961">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맥락</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우리 상황에 맞나?</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회사 규정·담당자와 확인</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800" y="4492427"/>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7"/>
                </a:solidFill>
                <a:latin typeface="Arial" pitchFamily="34" charset="0"/>
                <a:ea typeface="Arial" pitchFamily="34" charset="-122"/>
                <a:cs typeface="Arial" pitchFamily="34" charset="-120"/>
              </a:rPr>
              <a:t>검증을 돕는 프롬프트 · </a:t>
            </a:r>
            <a:r>
              <a:rPr lang="en-US" sz="1500" dirty="0">
                <a:solidFill>
                  <a:srgbClr val="1F6F78"/>
                </a:solidFill>
                <a:latin typeface="Arial" pitchFamily="34" charset="0"/>
                <a:ea typeface="Arial" pitchFamily="34" charset="-122"/>
                <a:cs typeface="Arial" pitchFamily="34" charset="-120"/>
              </a:rPr>
              <a:t>“근거가 된 원문 문장을 함께 보여 줘” “확실하지 않은 부분은 표시해 줘”</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정보보안</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AI 입력창은 회사 밖이라고 생각하세요</a:t>
            </a:r>
            <a:endParaRPr lang="en-US" sz="3200" dirty="0"/>
          </a:p>
        </p:txBody>
      </p:sp>
      <p:sp>
        <p:nvSpPr>
          <p:cNvPr id="4" name="Shape 2"/>
          <p:cNvSpPr/>
          <p:nvPr/>
        </p:nvSpPr>
        <p:spPr>
          <a:xfrm>
            <a:off x="815975" y="1887736"/>
            <a:ext cx="5175250" cy="2368451"/>
          </a:xfrm>
          <a:prstGeom prst="roundRect">
            <a:avLst>
              <a:gd name="adj" fmla="val 4156"/>
            </a:avLst>
          </a:prstGeom>
          <a:solidFill>
            <a:srgbClr val="FCFCFA"/>
          </a:solidFill>
          <a:ln w="6350">
            <a:solidFill>
              <a:srgbClr val="D9DDE1"/>
            </a:solidFill>
            <a:prstDash val="solid"/>
          </a:ln>
        </p:spPr>
      </p:sp>
      <p:pic>
        <p:nvPicPr>
          <p:cNvPr id="5" name="Image 0" descr="Lock">    </p:cNvPr>
          <p:cNvPicPr>
            <a:picLocks noChangeAspect="1"/>
          </p:cNvPicPr>
          <p:nvPr/>
        </p:nvPicPr>
        <p:blipFill>
          <a:blip r:embed="rId1"/>
          <a:srcRect l="0" r="0" t="0" b="0"/>
          <a:stretch/>
        </p:blipFill>
        <p:spPr>
          <a:xfrm>
            <a:off x="1047750" y="2119511"/>
            <a:ext cx="304800" cy="304800"/>
          </a:xfrm>
          <a:prstGeom prst="rect">
            <a:avLst/>
          </a:prstGeom>
        </p:spPr>
      </p:pic>
      <p:sp>
        <p:nvSpPr>
          <p:cNvPr id="6" name="Text 3"/>
          <p:cNvSpPr/>
          <p:nvPr/>
        </p:nvSpPr>
        <p:spPr>
          <a:xfrm>
            <a:off x="1454150" y="2134791"/>
            <a:ext cx="242327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넣으면 안 되는 정보</a:t>
            </a:r>
            <a:endParaRPr lang="en-US" sz="1800" dirty="0"/>
          </a:p>
        </p:txBody>
      </p:sp>
      <p:sp>
        <p:nvSpPr>
          <p:cNvPr id="7" name="Text 4"/>
          <p:cNvSpPr/>
          <p:nvPr/>
        </p:nvSpPr>
        <p:spPr>
          <a:xfrm>
            <a:off x="1145032" y="2525911"/>
            <a:ext cx="4748149" cy="1305322"/>
          </a:xfrm>
          <a:prstGeom prst="rect">
            <a:avLst/>
          </a:prstGeom>
          <a:noFill/>
          <a:ln/>
        </p:spPr>
        <p:txBody>
          <a:bodyPr wrap="square" lIns="0" tIns="0" rIns="0" bIns="0" rtlCol="0" anchor="t">
            <a:normAutofit/>
          </a:bodyPr>
          <a:lstStyle/>
          <a:p>
            <a:pPr algn="l" marL="156718" indent="-156718">
              <a:lnSpc>
                <a:spcPts val="2520"/>
              </a:lnSpc>
              <a:buSzPct val="100000"/>
              <a:buChar char="•"/>
            </a:pPr>
            <a:r>
              <a:rPr lang="en-US" sz="1400" b="1" dirty="0">
                <a:solidFill>
                  <a:srgbClr val="12304D"/>
                </a:solidFill>
                <a:latin typeface="Arial" pitchFamily="34" charset="0"/>
                <a:ea typeface="Arial" pitchFamily="34" charset="-122"/>
                <a:cs typeface="Arial" pitchFamily="34" charset="-120"/>
              </a:rPr>
              <a:t>개인정보</a:t>
            </a:r>
            <a:r>
              <a:rPr lang="en-US" sz="1400" dirty="0">
                <a:solidFill>
                  <a:srgbClr val="3D4A57"/>
                </a:solidFill>
                <a:latin typeface="Arial" pitchFamily="34" charset="0"/>
                <a:ea typeface="Arial" pitchFamily="34" charset="-122"/>
                <a:cs typeface="Arial" pitchFamily="34" charset="-120"/>
              </a:rPr>
              <a:t> · 이름+연락처, 주소, 주민번호</a:t>
            </a:r>
            <a:endParaRPr lang="en-US" sz="1400" dirty="0"/>
          </a:p>
          <a:p>
            <a:pPr algn="l" marL="156718" indent="-156718">
              <a:lnSpc>
                <a:spcPts val="2520"/>
              </a:lnSpc>
              <a:buSzPct val="100000"/>
              <a:buChar char="•"/>
            </a:pPr>
            <a:r>
              <a:rPr lang="en-US" sz="1400" b="1" dirty="0">
                <a:solidFill>
                  <a:srgbClr val="12304D"/>
                </a:solidFill>
                <a:latin typeface="Arial" pitchFamily="34" charset="0"/>
                <a:ea typeface="Arial" pitchFamily="34" charset="-122"/>
                <a:cs typeface="Arial" pitchFamily="34" charset="-120"/>
              </a:rPr>
              <a:t>회사 기밀</a:t>
            </a:r>
            <a:r>
              <a:rPr lang="en-US" sz="1400" dirty="0">
                <a:solidFill>
                  <a:srgbClr val="3D4A57"/>
                </a:solidFill>
                <a:latin typeface="Arial" pitchFamily="34" charset="0"/>
                <a:ea typeface="Arial" pitchFamily="34" charset="-122"/>
                <a:cs typeface="Arial" pitchFamily="34" charset="-120"/>
              </a:rPr>
              <a:t> · 계약 단가, 미공개 실적</a:t>
            </a:r>
            <a:endParaRPr lang="en-US" sz="1400" dirty="0"/>
          </a:p>
          <a:p>
            <a:pPr algn="l" marL="156718" indent="-156718">
              <a:lnSpc>
                <a:spcPts val="2520"/>
              </a:lnSpc>
              <a:buSzPct val="100000"/>
              <a:buChar char="•"/>
            </a:pPr>
            <a:r>
              <a:rPr lang="en-US" sz="1400" b="1" dirty="0">
                <a:solidFill>
                  <a:srgbClr val="12304D"/>
                </a:solidFill>
                <a:latin typeface="Arial" pitchFamily="34" charset="0"/>
                <a:ea typeface="Arial" pitchFamily="34" charset="-122"/>
                <a:cs typeface="Arial" pitchFamily="34" charset="-120"/>
              </a:rPr>
              <a:t>계정 정보</a:t>
            </a:r>
            <a:r>
              <a:rPr lang="en-US" sz="1400" dirty="0">
                <a:solidFill>
                  <a:srgbClr val="3D4A57"/>
                </a:solidFill>
                <a:latin typeface="Arial" pitchFamily="34" charset="0"/>
                <a:ea typeface="Arial" pitchFamily="34" charset="-122"/>
                <a:cs typeface="Arial" pitchFamily="34" charset="-120"/>
              </a:rPr>
              <a:t> · 비밀번호, 인증 키</a:t>
            </a:r>
            <a:endParaRPr lang="en-US" sz="1400" dirty="0"/>
          </a:p>
          <a:p>
            <a:pPr algn="l" marL="156718" indent="-156718">
              <a:lnSpc>
                <a:spcPts val="2520"/>
              </a:lnSpc>
              <a:buSzPct val="100000"/>
              <a:buChar char="•"/>
            </a:pPr>
            <a:r>
              <a:rPr lang="en-US" sz="1400" b="1" dirty="0">
                <a:solidFill>
                  <a:srgbClr val="12304D"/>
                </a:solidFill>
                <a:latin typeface="Arial" pitchFamily="34" charset="0"/>
                <a:ea typeface="Arial" pitchFamily="34" charset="-122"/>
                <a:cs typeface="Arial" pitchFamily="34" charset="-120"/>
              </a:rPr>
              <a:t>고객 원본 데이터</a:t>
            </a:r>
            <a:r>
              <a:rPr lang="en-US" sz="1400" dirty="0">
                <a:solidFill>
                  <a:srgbClr val="3D4A57"/>
                </a:solidFill>
                <a:latin typeface="Arial" pitchFamily="34" charset="0"/>
                <a:ea typeface="Arial" pitchFamily="34" charset="-122"/>
                <a:cs typeface="Arial" pitchFamily="34" charset="-120"/>
              </a:rPr>
              <a:t> · 통째로 붙여 넣기</a:t>
            </a:r>
            <a:endParaRPr lang="en-US" sz="1400" dirty="0"/>
          </a:p>
        </p:txBody>
      </p:sp>
      <p:sp>
        <p:nvSpPr>
          <p:cNvPr id="8" name="Shape 5"/>
          <p:cNvSpPr/>
          <p:nvPr/>
        </p:nvSpPr>
        <p:spPr>
          <a:xfrm>
            <a:off x="6200775" y="1887736"/>
            <a:ext cx="5175250" cy="2368451"/>
          </a:xfrm>
          <a:prstGeom prst="roundRect">
            <a:avLst>
              <a:gd name="adj" fmla="val 4156"/>
            </a:avLst>
          </a:prstGeom>
          <a:solidFill>
            <a:srgbClr val="FCFCFA"/>
          </a:solidFill>
          <a:ln w="6350">
            <a:solidFill>
              <a:srgbClr val="D9DDE1"/>
            </a:solidFill>
            <a:prstDash val="solid"/>
          </a:ln>
        </p:spPr>
      </p:sp>
      <p:pic>
        <p:nvPicPr>
          <p:cNvPr id="9" name="Image 1" descr="Verified">    </p:cNvPr>
          <p:cNvPicPr>
            <a:picLocks noChangeAspect="1"/>
          </p:cNvPicPr>
          <p:nvPr/>
        </p:nvPicPr>
        <p:blipFill>
          <a:blip r:embed="rId2"/>
          <a:srcRect l="0" r="0" t="0" b="0"/>
          <a:stretch/>
        </p:blipFill>
        <p:spPr>
          <a:xfrm>
            <a:off x="6432550" y="2119511"/>
            <a:ext cx="304800" cy="304800"/>
          </a:xfrm>
          <a:prstGeom prst="rect">
            <a:avLst/>
          </a:prstGeom>
        </p:spPr>
      </p:pic>
      <p:sp>
        <p:nvSpPr>
          <p:cNvPr id="10" name="Text 6"/>
          <p:cNvSpPr/>
          <p:nvPr/>
        </p:nvSpPr>
        <p:spPr>
          <a:xfrm>
            <a:off x="6838950" y="2134791"/>
            <a:ext cx="234707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이렇게 바꿔서 입력</a:t>
            </a:r>
            <a:endParaRPr lang="en-US" sz="1800" dirty="0"/>
          </a:p>
        </p:txBody>
      </p:sp>
      <p:sp>
        <p:nvSpPr>
          <p:cNvPr id="11" name="Text 7"/>
          <p:cNvSpPr/>
          <p:nvPr/>
        </p:nvSpPr>
        <p:spPr>
          <a:xfrm>
            <a:off x="6432550" y="2525911"/>
            <a:ext cx="48530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7"/>
                </a:solidFill>
                <a:latin typeface="Arial" pitchFamily="34" charset="0"/>
                <a:ea typeface="Arial" pitchFamily="34" charset="-122"/>
                <a:cs typeface="Arial" pitchFamily="34" charset="-120"/>
              </a:rPr>
              <a:t>비식별화 · 누구인지 알 수 없게 바꾸기</a:t>
            </a:r>
            <a:endParaRPr lang="en-US" sz="1300" dirty="0"/>
          </a:p>
        </p:txBody>
      </p:sp>
      <p:sp>
        <p:nvSpPr>
          <p:cNvPr id="12" name="Text 8"/>
          <p:cNvSpPr/>
          <p:nvPr/>
        </p:nvSpPr>
        <p:spPr>
          <a:xfrm>
            <a:off x="6432550" y="2858591"/>
            <a:ext cx="4853051"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2304D"/>
                </a:solidFill>
                <a:latin typeface="Arial" pitchFamily="34" charset="0"/>
                <a:ea typeface="Arial" pitchFamily="34" charset="-122"/>
                <a:cs typeface="Arial" pitchFamily="34" charset="-120"/>
              </a:rPr>
              <a:t>홍길동(010-1234-5678) 고객님</a:t>
            </a:r>
            <a:endParaRPr lang="en-US" sz="1400" dirty="0"/>
          </a:p>
          <a:p>
            <a:pPr algn="l" indent="0" marL="0">
              <a:lnSpc>
                <a:spcPts val="2240"/>
              </a:lnSpc>
              <a:buNone/>
            </a:pPr>
            <a:r>
              <a:rPr lang="en-US" sz="1400" dirty="0">
                <a:solidFill>
                  <a:srgbClr val="12304D"/>
                </a:solidFill>
                <a:latin typeface="Arial" pitchFamily="34" charset="0"/>
                <a:ea typeface="Arial" pitchFamily="34" charset="-122"/>
                <a:cs typeface="Arial" pitchFamily="34" charset="-120"/>
              </a:rPr>
              <a:t>→ </a:t>
            </a:r>
            <a:r>
              <a:rPr lang="en-US" sz="1400" b="1" dirty="0">
                <a:solidFill>
                  <a:srgbClr val="1F6F78"/>
                </a:solidFill>
                <a:latin typeface="Arial" pitchFamily="34" charset="0"/>
                <a:ea typeface="Arial" pitchFamily="34" charset="-122"/>
                <a:cs typeface="Arial" pitchFamily="34" charset="-120"/>
              </a:rPr>
              <a:t>[고객A]([연락처]) 고객님</a:t>
            </a:r>
            <a:endParaRPr lang="en-US" sz="1400" dirty="0"/>
          </a:p>
        </p:txBody>
      </p:sp>
      <p:sp>
        <p:nvSpPr>
          <p:cNvPr id="13" name="Text 9"/>
          <p:cNvSpPr/>
          <p:nvPr/>
        </p:nvSpPr>
        <p:spPr>
          <a:xfrm>
            <a:off x="6432550" y="3529112"/>
            <a:ext cx="4853051"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회사의 AI 사용 지침과 서비스의</a:t>
            </a:r>
            <a:endParaRPr lang="en-US" sz="1300" dirty="0"/>
          </a:p>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데이터 학습 설정도 확인하기</a:t>
            </a:r>
            <a:endParaRPr lang="en-US" sz="1300" dirty="0"/>
          </a:p>
        </p:txBody>
      </p:sp>
      <p:sp>
        <p:nvSpPr>
          <p:cNvPr id="14"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저작권 · 편향 · 책임</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AI 결과물을 쓸 때 지켜야 할 네 가지</a:t>
            </a:r>
            <a:endParaRPr lang="en-US" sz="3200" dirty="0"/>
          </a:p>
        </p:txBody>
      </p:sp>
      <p:sp>
        <p:nvSpPr>
          <p:cNvPr id="4" name="Shape 2"/>
          <p:cNvSpPr/>
          <p:nvPr/>
        </p:nvSpPr>
        <p:spPr>
          <a:xfrm>
            <a:off x="815975" y="1887736"/>
            <a:ext cx="5200650" cy="1245791"/>
          </a:xfrm>
          <a:prstGeom prst="roundRect">
            <a:avLst>
              <a:gd name="adj" fmla="val 7901"/>
            </a:avLst>
          </a:prstGeom>
          <a:solidFill>
            <a:srgbClr val="FCFCFA"/>
          </a:solidFill>
          <a:ln w="6350">
            <a:solidFill>
              <a:srgbClr val="D9DDE1"/>
            </a:solidFill>
            <a:prstDash val="solid"/>
          </a:ln>
        </p:spPr>
      </p:sp>
      <p:sp>
        <p:nvSpPr>
          <p:cNvPr id="5" name="Text 3"/>
          <p:cNvSpPr/>
          <p:nvPr/>
        </p:nvSpPr>
        <p:spPr>
          <a:xfrm>
            <a:off x="1022350" y="2094111"/>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저작권</a:t>
            </a:r>
            <a:endParaRPr lang="en-US" sz="1800" dirty="0"/>
          </a:p>
        </p:txBody>
      </p:sp>
      <p:sp>
        <p:nvSpPr>
          <p:cNvPr id="6" name="Text 4"/>
          <p:cNvSpPr/>
          <p:nvPr/>
        </p:nvSpPr>
        <p:spPr>
          <a:xfrm>
            <a:off x="1022350" y="2431852"/>
            <a:ext cx="493153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다른 사람의 글·그림을 그대로 베끼게 하지 않기</a:t>
            </a:r>
            <a:endParaRPr lang="en-US" sz="1300" dirty="0"/>
          </a:p>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이미지는 서비스 이용약관의 사용 범위 확인</a:t>
            </a:r>
            <a:endParaRPr lang="en-US" sz="1300" dirty="0"/>
          </a:p>
        </p:txBody>
      </p:sp>
      <p:sp>
        <p:nvSpPr>
          <p:cNvPr id="7" name="Shape 5"/>
          <p:cNvSpPr/>
          <p:nvPr/>
        </p:nvSpPr>
        <p:spPr>
          <a:xfrm>
            <a:off x="6175375" y="1887736"/>
            <a:ext cx="5200650" cy="1245791"/>
          </a:xfrm>
          <a:prstGeom prst="roundRect">
            <a:avLst>
              <a:gd name="adj" fmla="val 7901"/>
            </a:avLst>
          </a:prstGeom>
          <a:solidFill>
            <a:srgbClr val="FCFCFA"/>
          </a:solidFill>
          <a:ln w="6350">
            <a:solidFill>
              <a:srgbClr val="D9DDE1"/>
            </a:solidFill>
            <a:prstDash val="solid"/>
          </a:ln>
        </p:spPr>
      </p:sp>
      <p:sp>
        <p:nvSpPr>
          <p:cNvPr id="8" name="Text 6"/>
          <p:cNvSpPr/>
          <p:nvPr/>
        </p:nvSpPr>
        <p:spPr>
          <a:xfrm>
            <a:off x="6381750" y="2094111"/>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편향</a:t>
            </a:r>
            <a:endParaRPr lang="en-US" sz="1800" dirty="0"/>
          </a:p>
        </p:txBody>
      </p:sp>
      <p:sp>
        <p:nvSpPr>
          <p:cNvPr id="9" name="Text 7"/>
          <p:cNvSpPr/>
          <p:nvPr/>
        </p:nvSpPr>
        <p:spPr>
          <a:xfrm>
            <a:off x="6381750" y="2431852"/>
            <a:ext cx="493153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성별·나이·지역에 대한 고정관념이</a:t>
            </a:r>
            <a:endParaRPr lang="en-US" sz="1300" dirty="0"/>
          </a:p>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섞여 있지 않은지 점검</a:t>
            </a:r>
            <a:endParaRPr lang="en-US" sz="1300" dirty="0"/>
          </a:p>
        </p:txBody>
      </p:sp>
      <p:sp>
        <p:nvSpPr>
          <p:cNvPr id="10" name="Shape 8"/>
          <p:cNvSpPr/>
          <p:nvPr/>
        </p:nvSpPr>
        <p:spPr>
          <a:xfrm>
            <a:off x="815975" y="3292277"/>
            <a:ext cx="5200650" cy="1245791"/>
          </a:xfrm>
          <a:prstGeom prst="roundRect">
            <a:avLst>
              <a:gd name="adj" fmla="val 7901"/>
            </a:avLst>
          </a:prstGeom>
          <a:solidFill>
            <a:srgbClr val="FCFCFA"/>
          </a:solidFill>
          <a:ln w="6350">
            <a:solidFill>
              <a:srgbClr val="D9DDE1"/>
            </a:solidFill>
            <a:prstDash val="solid"/>
          </a:ln>
        </p:spPr>
      </p:sp>
      <p:sp>
        <p:nvSpPr>
          <p:cNvPr id="11" name="Text 9"/>
          <p:cNvSpPr/>
          <p:nvPr/>
        </p:nvSpPr>
        <p:spPr>
          <a:xfrm>
            <a:off x="1022350" y="3498652"/>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투명성</a:t>
            </a:r>
            <a:endParaRPr lang="en-US" sz="1800" dirty="0"/>
          </a:p>
        </p:txBody>
      </p:sp>
      <p:sp>
        <p:nvSpPr>
          <p:cNvPr id="12" name="Text 10"/>
          <p:cNvSpPr/>
          <p:nvPr/>
        </p:nvSpPr>
        <p:spPr>
          <a:xfrm>
            <a:off x="1022350" y="3836392"/>
            <a:ext cx="493153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회사 규정에 따라 AI를 활용했다는</a:t>
            </a:r>
            <a:endParaRPr lang="en-US" sz="1300" dirty="0"/>
          </a:p>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사실을 밝히기</a:t>
            </a:r>
            <a:endParaRPr lang="en-US" sz="1300" dirty="0"/>
          </a:p>
        </p:txBody>
      </p:sp>
      <p:sp>
        <p:nvSpPr>
          <p:cNvPr id="13" name="Shape 11"/>
          <p:cNvSpPr/>
          <p:nvPr/>
        </p:nvSpPr>
        <p:spPr>
          <a:xfrm>
            <a:off x="6172200" y="3289102"/>
            <a:ext cx="5207000" cy="1252141"/>
          </a:xfrm>
          <a:prstGeom prst="roundRect">
            <a:avLst>
              <a:gd name="adj" fmla="val 8114"/>
            </a:avLst>
          </a:prstGeom>
          <a:solidFill>
            <a:srgbClr val="12304D"/>
          </a:solidFill>
          <a:ln/>
        </p:spPr>
      </p:sp>
      <p:sp>
        <p:nvSpPr>
          <p:cNvPr id="14" name="Text 12"/>
          <p:cNvSpPr/>
          <p:nvPr/>
        </p:nvSpPr>
        <p:spPr>
          <a:xfrm>
            <a:off x="6375400" y="3492302"/>
            <a:ext cx="494461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4EF"/>
                </a:solidFill>
                <a:latin typeface="Arial" pitchFamily="34" charset="0"/>
                <a:ea typeface="Arial" pitchFamily="34" charset="-122"/>
                <a:cs typeface="Arial" pitchFamily="34" charset="-120"/>
              </a:rPr>
              <a:t>책임</a:t>
            </a:r>
            <a:endParaRPr lang="en-US" sz="1800" dirty="0"/>
          </a:p>
        </p:txBody>
      </p:sp>
      <p:sp>
        <p:nvSpPr>
          <p:cNvPr id="15" name="Text 13"/>
          <p:cNvSpPr/>
          <p:nvPr/>
        </p:nvSpPr>
        <p:spPr>
          <a:xfrm>
            <a:off x="6375400" y="3830042"/>
            <a:ext cx="4944618"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0DE"/>
                </a:solidFill>
                <a:latin typeface="Arial" pitchFamily="34" charset="0"/>
                <a:ea typeface="Arial" pitchFamily="34" charset="-122"/>
                <a:cs typeface="Arial" pitchFamily="34" charset="-120"/>
              </a:rPr>
              <a:t>“AI가 그렇게 썼어요”는 변명이 되지 않습니다</a:t>
            </a:r>
            <a:endParaRPr lang="en-US" sz="1300" dirty="0"/>
          </a:p>
          <a:p>
            <a:pPr algn="l" indent="0" marL="0">
              <a:lnSpc>
                <a:spcPts val="1950"/>
              </a:lnSpc>
              <a:buNone/>
            </a:pPr>
            <a:r>
              <a:rPr lang="en-US" sz="1300" dirty="0">
                <a:solidFill>
                  <a:srgbClr val="BFD0DE"/>
                </a:solidFill>
                <a:latin typeface="Arial" pitchFamily="34" charset="0"/>
                <a:ea typeface="Arial" pitchFamily="34" charset="-122"/>
                <a:cs typeface="Arial" pitchFamily="34" charset="-120"/>
              </a:rPr>
              <a:t>최종 판단과 책임은 사람에게</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8EEF2"/>
        </a:solidFill>
      </p:bgPr>
    </p:bg>
    <p:spTree>
      <p:nvGrpSpPr>
        <p:cNvPr id="1" name=""/>
        <p:cNvGrpSpPr/>
        <p:nvPr/>
      </p:nvGrpSpPr>
      <p:grpSpPr>
        <a:xfrm>
          <a:off x="0" y="0"/>
          <a:ext cx="0" cy="0"/>
          <a:chOff x="0" y="0"/>
          <a:chExt cx="0" cy="0"/>
        </a:xfrm>
      </p:grpSpPr>
      <p:sp>
        <p:nvSpPr>
          <p:cNvPr id="2" name="Text 0"/>
          <p:cNvSpPr/>
          <p:nvPr/>
        </p:nvSpPr>
        <p:spPr>
          <a:xfrm>
            <a:off x="812800" y="812800"/>
            <a:ext cx="1342330" cy="350441"/>
          </a:xfrm>
          <a:prstGeom prst="roundRect">
            <a:avLst>
              <a:gd name="adj" fmla="val 50000"/>
            </a:avLst>
          </a:prstGeom>
          <a:solidFill>
            <a:srgbClr val="1F6F78"/>
          </a:solidFill>
          <a:ln/>
        </p:spPr>
        <p:txBody>
          <a:bodyPr wrap="none" lIns="0" tIns="0" rIns="0" bIns="0" rtlCol="0" anchor="ctr">
            <a:normAutofit/>
          </a:bodyPr>
          <a:lstStyle/>
          <a:p>
            <a:pPr algn="ctr" indent="0" marL="0">
              <a:lnSpc>
                <a:spcPts val="1960"/>
              </a:lnSpc>
              <a:buNone/>
            </a:pPr>
            <a:r>
              <a:rPr lang="en-US" sz="1400" b="1" dirty="0">
                <a:solidFill>
                  <a:srgbClr val="F5F4EF"/>
                </a:solidFill>
                <a:latin typeface="Arial" pitchFamily="34" charset="0"/>
                <a:ea typeface="Arial" pitchFamily="34" charset="-122"/>
                <a:cs typeface="Arial" pitchFamily="34" charset="-120"/>
              </a:rPr>
              <a:t>실습 6 · 25분</a:t>
            </a:r>
            <a:endParaRPr lang="en-US" sz="1400" dirty="0"/>
          </a:p>
        </p:txBody>
      </p:sp>
      <p:sp>
        <p:nvSpPr>
          <p:cNvPr id="3" name="Text 1"/>
          <p:cNvSpPr/>
          <p:nvPr>
            <p:ph type="title"/>
          </p:nvPr>
        </p:nvSpPr>
        <p:spPr>
          <a:xfrm>
            <a:off x="812800" y="1264841"/>
            <a:ext cx="6258639"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오류 찾기와 개인정보 지우기</a:t>
            </a:r>
            <a:endParaRPr lang="en-US" sz="3200" dirty="0"/>
          </a:p>
        </p:txBody>
      </p:sp>
      <p:sp>
        <p:nvSpPr>
          <p:cNvPr id="4" name="Shape 2"/>
          <p:cNvSpPr/>
          <p:nvPr/>
        </p:nvSpPr>
        <p:spPr>
          <a:xfrm>
            <a:off x="812800" y="1986161"/>
            <a:ext cx="5181600" cy="2366963"/>
          </a:xfrm>
          <a:prstGeom prst="roundRect">
            <a:avLst>
              <a:gd name="adj" fmla="val 4292"/>
            </a:avLst>
          </a:prstGeom>
          <a:solidFill>
            <a:srgbClr val="FCFCFA"/>
          </a:solidFill>
          <a:ln/>
        </p:spPr>
      </p:sp>
      <p:sp>
        <p:nvSpPr>
          <p:cNvPr id="5" name="Text 3"/>
          <p:cNvSpPr/>
          <p:nvPr/>
        </p:nvSpPr>
        <p:spPr>
          <a:xfrm>
            <a:off x="1016000" y="2189361"/>
            <a:ext cx="491845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6F78"/>
                </a:solidFill>
                <a:latin typeface="Arial" pitchFamily="34" charset="0"/>
                <a:ea typeface="Arial" pitchFamily="34" charset="-122"/>
                <a:cs typeface="Arial" pitchFamily="34" charset="-120"/>
              </a:rPr>
              <a:t>미션 A · 틀린 문장 찾기</a:t>
            </a:r>
            <a:endParaRPr lang="en-US" sz="1400" dirty="0"/>
          </a:p>
        </p:txBody>
      </p:sp>
      <p:sp>
        <p:nvSpPr>
          <p:cNvPr id="6" name="Text 4"/>
          <p:cNvSpPr/>
          <p:nvPr/>
        </p:nvSpPr>
        <p:spPr>
          <a:xfrm>
            <a:off x="1016000" y="2527102"/>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Arial" pitchFamily="34" charset="0"/>
                <a:ea typeface="Arial" pitchFamily="34" charset="-122"/>
                <a:cs typeface="Arial" pitchFamily="34" charset="-120"/>
              </a:rPr>
              <a:t>AI가 쓴 글이라고 가정하고, 검색으로 확인해 고치기</a:t>
            </a:r>
            <a:endParaRPr lang="en-US" sz="1200" dirty="0"/>
          </a:p>
        </p:txBody>
      </p:sp>
      <p:sp>
        <p:nvSpPr>
          <p:cNvPr id="7" name="Text 5"/>
          <p:cNvSpPr/>
          <p:nvPr/>
        </p:nvSpPr>
        <p:spPr>
          <a:xfrm>
            <a:off x="1016000" y="2829322"/>
            <a:ext cx="4918456" cy="1346002"/>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2304D"/>
                </a:solidFill>
                <a:latin typeface="Arial" pitchFamily="34" charset="0"/>
                <a:ea typeface="Arial" pitchFamily="34" charset="-122"/>
                <a:cs typeface="Arial" pitchFamily="34" charset="-120"/>
              </a:rPr>
              <a:t>① 엑셀의 AVERAGE 함수는 선택한 범위의 합계를 구한다.</a:t>
            </a:r>
            <a:endParaRPr lang="en-US" sz="1300" dirty="0"/>
          </a:p>
          <a:p>
            <a:pPr algn="l" indent="0" marL="0">
              <a:lnSpc>
                <a:spcPts val="2080"/>
              </a:lnSpc>
              <a:buNone/>
            </a:pPr>
            <a:r>
              <a:rPr lang="en-US" sz="1300" dirty="0">
                <a:solidFill>
                  <a:srgbClr val="12304D"/>
                </a:solidFill>
                <a:latin typeface="Arial" pitchFamily="34" charset="0"/>
                <a:ea typeface="Arial" pitchFamily="34" charset="-122"/>
                <a:cs typeface="Arial" pitchFamily="34" charset="-120"/>
              </a:rPr>
              <a:t>② 1TB는 약 1,000GB에 해당한다.</a:t>
            </a:r>
            <a:endParaRPr lang="en-US" sz="1300" dirty="0"/>
          </a:p>
          <a:p>
            <a:pPr algn="l" indent="0" marL="0">
              <a:lnSpc>
                <a:spcPts val="2080"/>
              </a:lnSpc>
              <a:buNone/>
            </a:pPr>
            <a:r>
              <a:rPr lang="en-US" sz="1300" dirty="0">
                <a:solidFill>
                  <a:srgbClr val="12304D"/>
                </a:solidFill>
                <a:latin typeface="Arial" pitchFamily="34" charset="0"/>
                <a:ea typeface="Arial" pitchFamily="34" charset="-122"/>
                <a:cs typeface="Arial" pitchFamily="34" charset="-120"/>
              </a:rPr>
              <a:t>③ 세계보건기구(WHO)의 본부는 미국 뉴욕에 있다.</a:t>
            </a:r>
            <a:endParaRPr lang="en-US" sz="1300" dirty="0"/>
          </a:p>
          <a:p>
            <a:pPr algn="l" indent="0" marL="0">
              <a:lnSpc>
                <a:spcPts val="2080"/>
              </a:lnSpc>
              <a:buNone/>
            </a:pPr>
            <a:r>
              <a:rPr lang="en-US" sz="1300" dirty="0">
                <a:solidFill>
                  <a:srgbClr val="12304D"/>
                </a:solidFill>
                <a:latin typeface="Arial" pitchFamily="34" charset="0"/>
                <a:ea typeface="Arial" pitchFamily="34" charset="-122"/>
                <a:cs typeface="Arial" pitchFamily="34" charset="-120"/>
              </a:rPr>
              <a:t>④ 개인정보 보호법은 개인정보의 처리와 보호에 관한 사항을 정한 법률이다.</a:t>
            </a:r>
            <a:endParaRPr lang="en-US" sz="1300" dirty="0"/>
          </a:p>
        </p:txBody>
      </p:sp>
      <p:sp>
        <p:nvSpPr>
          <p:cNvPr id="8" name="Shape 6"/>
          <p:cNvSpPr/>
          <p:nvPr/>
        </p:nvSpPr>
        <p:spPr>
          <a:xfrm>
            <a:off x="6197600" y="1986161"/>
            <a:ext cx="5181600" cy="2366963"/>
          </a:xfrm>
          <a:prstGeom prst="roundRect">
            <a:avLst>
              <a:gd name="adj" fmla="val 4292"/>
            </a:avLst>
          </a:prstGeom>
          <a:solidFill>
            <a:srgbClr val="FCFCFA"/>
          </a:solidFill>
          <a:ln/>
        </p:spPr>
      </p:sp>
      <p:sp>
        <p:nvSpPr>
          <p:cNvPr id="9" name="Text 7"/>
          <p:cNvSpPr/>
          <p:nvPr/>
        </p:nvSpPr>
        <p:spPr>
          <a:xfrm>
            <a:off x="6400800" y="2189361"/>
            <a:ext cx="491845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6F78"/>
                </a:solidFill>
                <a:latin typeface="Arial" pitchFamily="34" charset="0"/>
                <a:ea typeface="Arial" pitchFamily="34" charset="-122"/>
                <a:cs typeface="Arial" pitchFamily="34" charset="-120"/>
              </a:rPr>
              <a:t>미션 B · 지우고 맡기기</a:t>
            </a:r>
            <a:endParaRPr lang="en-US" sz="1400" dirty="0"/>
          </a:p>
        </p:txBody>
      </p:sp>
      <p:sp>
        <p:nvSpPr>
          <p:cNvPr id="10" name="Text 8"/>
          <p:cNvSpPr/>
          <p:nvPr/>
        </p:nvSpPr>
        <p:spPr>
          <a:xfrm>
            <a:off x="6400800" y="2527102"/>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Arial" pitchFamily="34" charset="0"/>
                <a:ea typeface="Arial" pitchFamily="34" charset="-122"/>
                <a:cs typeface="Arial" pitchFamily="34" charset="-120"/>
              </a:rPr>
              <a:t>개인정보를 [ ]로 바꾼 뒤, AI에게 사과 답장을 요청</a:t>
            </a:r>
            <a:endParaRPr lang="en-US" sz="1200" dirty="0"/>
          </a:p>
        </p:txBody>
      </p:sp>
      <p:sp>
        <p:nvSpPr>
          <p:cNvPr id="11" name="Text 9"/>
          <p:cNvSpPr/>
          <p:nvPr/>
        </p:nvSpPr>
        <p:spPr>
          <a:xfrm>
            <a:off x="6400800" y="2829322"/>
            <a:ext cx="4918456" cy="81776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2304D"/>
                </a:solidFill>
                <a:latin typeface="Arial" pitchFamily="34" charset="0"/>
                <a:ea typeface="Arial" pitchFamily="34" charset="-122"/>
                <a:cs typeface="Arial" pitchFamily="34" charset="-120"/>
              </a:rPr>
              <a:t>고객 김민수 님(010-2345-6789, 부산시 해운대구 ○○로 12)께서 10월 15일 주문하신 상품(주문번호 20261015-0042)이 아직 도착하지 않았다고 문의하셨습니다.</a:t>
            </a:r>
            <a:endParaRPr lang="en-US" sz="1300" dirty="0"/>
          </a:p>
        </p:txBody>
      </p:sp>
      <p:sp>
        <p:nvSpPr>
          <p:cNvPr id="12" name="Text 10"/>
          <p:cNvSpPr/>
          <p:nvPr/>
        </p:nvSpPr>
        <p:spPr>
          <a:xfrm>
            <a:off x="812800" y="460712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4D"/>
                </a:solidFill>
                <a:latin typeface="Arial" pitchFamily="34" charset="0"/>
                <a:ea typeface="Arial" pitchFamily="34" charset="-122"/>
                <a:cs typeface="Arial" pitchFamily="34" charset="-120"/>
              </a:rPr>
              <a:t>결과물 · 고친 문장 2개와 비식별화한 문의, AI 답장을 실습 문서에 저장</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 · 실습 속 이름·번호·주소는 모두 가상 정보입니다</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2304D"/>
        </a:solidFill>
      </p:bgPr>
    </p:bg>
    <p:spTree>
      <p:nvGrpSpPr>
        <p:cNvPr id="1" name=""/>
        <p:cNvGrpSpPr/>
        <p:nvPr/>
      </p:nvGrpSpPr>
      <p:grpSpPr>
        <a:xfrm>
          <a:off x="0" y="0"/>
          <a:ext cx="0" cy="0"/>
          <a:chOff x="0" y="0"/>
          <a:chExt cx="0" cy="0"/>
        </a:xfrm>
      </p:grpSpPr>
      <p:sp>
        <p:nvSpPr>
          <p:cNvPr id="2" name="Text 0"/>
          <p:cNvSpPr/>
          <p:nvPr/>
        </p:nvSpPr>
        <p:spPr>
          <a:xfrm>
            <a:off x="6800850" y="1270000"/>
            <a:ext cx="4578350" cy="2565400"/>
          </a:xfrm>
          <a:prstGeom prst="rect">
            <a:avLst/>
          </a:prstGeom>
          <a:noFill/>
          <a:ln/>
        </p:spPr>
        <p:txBody>
          <a:bodyPr wrap="square" lIns="0" tIns="0" rIns="0" bIns="0" rtlCol="0" anchor="t">
            <a:normAutofit/>
          </a:bodyPr>
          <a:lstStyle/>
          <a:p>
            <a:pPr algn="r" indent="0" marL="0">
              <a:lnSpc>
                <a:spcPts val="20000"/>
              </a:lnSpc>
              <a:buNone/>
            </a:pPr>
            <a:r>
              <a:rPr lang="en-US" sz="20000" b="1" dirty="0">
                <a:solidFill>
                  <a:srgbClr val="1C3F62"/>
                </a:solidFill>
                <a:latin typeface="Arial" pitchFamily="34" charset="0"/>
                <a:ea typeface="Arial" pitchFamily="34" charset="-122"/>
                <a:cs typeface="Arial" pitchFamily="34" charset="-120"/>
              </a:rPr>
              <a:t>08</a:t>
            </a:r>
            <a:endParaRPr lang="en-US" sz="20000" dirty="0"/>
          </a:p>
        </p:txBody>
      </p:sp>
      <p:sp>
        <p:nvSpPr>
          <p:cNvPr id="3" name="Text 1"/>
          <p:cNvSpPr/>
          <p:nvPr/>
        </p:nvSpPr>
        <p:spPr>
          <a:xfrm>
            <a:off x="812800" y="224799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A65A"/>
                </a:solidFill>
                <a:latin typeface="Arial" pitchFamily="34" charset="0"/>
                <a:ea typeface="Arial" pitchFamily="34" charset="-122"/>
                <a:cs typeface="Arial" pitchFamily="34" charset="-120"/>
              </a:rPr>
              <a:t>8교시 · 50분</a:t>
            </a:r>
            <a:endParaRPr lang="en-US" sz="1600" dirty="0"/>
          </a:p>
        </p:txBody>
      </p:sp>
      <p:sp>
        <p:nvSpPr>
          <p:cNvPr id="4" name="Text 2"/>
          <p:cNvSpPr/>
          <p:nvPr>
            <p:ph type="title"/>
          </p:nvPr>
        </p:nvSpPr>
        <p:spPr>
          <a:xfrm>
            <a:off x="812800" y="2761059"/>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4EF"/>
                </a:solidFill>
                <a:latin typeface="Arial" pitchFamily="34" charset="0"/>
                <a:ea typeface="Arial" pitchFamily="34" charset="-122"/>
                <a:cs typeface="Arial" pitchFamily="34" charset="-120"/>
              </a:rPr>
              <a:t>종합 실습</a:t>
            </a:r>
            <a:endParaRPr lang="en-US" sz="4800" dirty="0"/>
          </a:p>
        </p:txBody>
      </p:sp>
      <p:sp>
        <p:nvSpPr>
          <p:cNvPr id="5" name="Text 3"/>
          <p:cNvSpPr/>
          <p:nvPr/>
        </p:nvSpPr>
        <p:spPr>
          <a:xfrm>
            <a:off x="812800" y="366018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D0DE"/>
                </a:solidFill>
                <a:latin typeface="Arial" pitchFamily="34" charset="0"/>
                <a:ea typeface="Arial" pitchFamily="34" charset="-122"/>
                <a:cs typeface="Arial" pitchFamily="34" charset="-120"/>
              </a:rPr>
              <a:t>오늘 배운 것을 모두 써서 업무 하나를 끝까지 완성합니다</a:t>
            </a:r>
            <a:endParaRPr lang="en-US" sz="1800" dirty="0"/>
          </a:p>
        </p:txBody>
      </p:sp>
      <p:sp>
        <p:nvSpPr>
          <p:cNvPr id="6" name="Text 4"/>
          <p:cNvSpPr/>
          <p:nvPr/>
        </p:nvSpPr>
        <p:spPr>
          <a:xfrm>
            <a:off x="812800" y="4208760"/>
            <a:ext cx="1116211"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미션 소개</a:t>
            </a:r>
            <a:endParaRPr lang="en-US" sz="1400" dirty="0"/>
          </a:p>
        </p:txBody>
      </p:sp>
      <p:sp>
        <p:nvSpPr>
          <p:cNvPr id="7" name="Text 5"/>
          <p:cNvSpPr/>
          <p:nvPr/>
        </p:nvSpPr>
        <p:spPr>
          <a:xfrm>
            <a:off x="2030611" y="4208760"/>
            <a:ext cx="1116211"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진행 순서</a:t>
            </a:r>
            <a:endParaRPr lang="en-US" sz="1400" dirty="0"/>
          </a:p>
        </p:txBody>
      </p:sp>
      <p:sp>
        <p:nvSpPr>
          <p:cNvPr id="8" name="Text 6"/>
          <p:cNvSpPr/>
          <p:nvPr/>
        </p:nvSpPr>
        <p:spPr>
          <a:xfrm>
            <a:off x="3248422" y="4208760"/>
            <a:ext cx="889000"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점검표</a:t>
            </a:r>
            <a:endParaRPr lang="en-US" sz="1400" dirty="0"/>
          </a:p>
        </p:txBody>
      </p:sp>
      <p:sp>
        <p:nvSpPr>
          <p:cNvPr id="9" name="Text 7"/>
          <p:cNvSpPr/>
          <p:nvPr/>
        </p:nvSpPr>
        <p:spPr>
          <a:xfrm>
            <a:off x="4239022" y="4208760"/>
            <a:ext cx="1224855" cy="401241"/>
          </a:xfrm>
          <a:prstGeom prst="roundRect">
            <a:avLst>
              <a:gd name="adj" fmla="val 50000"/>
            </a:avLst>
          </a:prstGeom>
          <a:solidFill>
            <a:srgbClr val="1F6F7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발표 · 정리</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8EEF2"/>
        </a:solidFill>
      </p:bgPr>
    </p:bg>
    <p:spTree>
      <p:nvGrpSpPr>
        <p:cNvPr id="1" name=""/>
        <p:cNvGrpSpPr/>
        <p:nvPr/>
      </p:nvGrpSpPr>
      <p:grpSpPr>
        <a:xfrm>
          <a:off x="0" y="0"/>
          <a:ext cx="0" cy="0"/>
          <a:chOff x="0" y="0"/>
          <a:chExt cx="0" cy="0"/>
        </a:xfrm>
      </p:grpSpPr>
      <p:sp>
        <p:nvSpPr>
          <p:cNvPr id="2" name="Text 0"/>
          <p:cNvSpPr/>
          <p:nvPr/>
        </p:nvSpPr>
        <p:spPr>
          <a:xfrm>
            <a:off x="812800" y="812800"/>
            <a:ext cx="1579066" cy="350441"/>
          </a:xfrm>
          <a:prstGeom prst="roundRect">
            <a:avLst>
              <a:gd name="adj" fmla="val 50000"/>
            </a:avLst>
          </a:prstGeom>
          <a:solidFill>
            <a:srgbClr val="1F6F78"/>
          </a:solidFill>
          <a:ln/>
        </p:spPr>
        <p:txBody>
          <a:bodyPr wrap="none" lIns="0" tIns="0" rIns="0" bIns="0" rtlCol="0" anchor="ctr">
            <a:normAutofit/>
          </a:bodyPr>
          <a:lstStyle/>
          <a:p>
            <a:pPr algn="ctr" indent="0" marL="0">
              <a:lnSpc>
                <a:spcPts val="1960"/>
              </a:lnSpc>
              <a:buNone/>
            </a:pPr>
            <a:r>
              <a:rPr lang="en-US" sz="1400" b="1" dirty="0">
                <a:solidFill>
                  <a:srgbClr val="F5F4EF"/>
                </a:solidFill>
                <a:latin typeface="Arial" pitchFamily="34" charset="0"/>
                <a:ea typeface="Arial" pitchFamily="34" charset="-122"/>
                <a:cs typeface="Arial" pitchFamily="34" charset="-120"/>
              </a:rPr>
              <a:t>종합 실습 · 미션</a:t>
            </a:r>
            <a:endParaRPr lang="en-US" sz="1400" dirty="0"/>
          </a:p>
        </p:txBody>
      </p:sp>
      <p:sp>
        <p:nvSpPr>
          <p:cNvPr id="3" name="Text 1"/>
          <p:cNvSpPr/>
          <p:nvPr>
            <p:ph type="title"/>
          </p:nvPr>
        </p:nvSpPr>
        <p:spPr>
          <a:xfrm>
            <a:off x="812800" y="1264841"/>
            <a:ext cx="7559754"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10월 주문 실적 보고 패키지 만들기</a:t>
            </a:r>
            <a:endParaRPr lang="en-US" sz="3200" dirty="0"/>
          </a:p>
        </p:txBody>
      </p:sp>
      <p:sp>
        <p:nvSpPr>
          <p:cNvPr id="4" name="Text 2"/>
          <p:cNvSpPr/>
          <p:nvPr/>
        </p:nvSpPr>
        <p:spPr>
          <a:xfrm>
            <a:off x="812800" y="2011561"/>
            <a:ext cx="10566400" cy="1066800"/>
          </a:xfrm>
          <a:prstGeom prst="roundRect">
            <a:avLst>
              <a:gd name="adj" fmla="val 9524"/>
            </a:avLst>
          </a:prstGeom>
          <a:solidFill>
            <a:srgbClr val="12304D"/>
          </a:solidFill>
          <a:ln/>
        </p:spPr>
        <p:txBody>
          <a:bodyPr wrap="square" lIns="249642" tIns="198842" rIns="0" bIns="173442" rtlCol="0" anchor="t">
            <a:normAutofit/>
          </a:bodyPr>
          <a:lstStyle/>
          <a:p>
            <a:pPr algn="l" indent="0" marL="0">
              <a:lnSpc>
                <a:spcPts val="2400"/>
              </a:lnSpc>
              <a:buNone/>
            </a:pPr>
            <a:r>
              <a:rPr lang="en-US" sz="1500" b="1" dirty="0">
                <a:solidFill>
                  <a:srgbClr val="F2A65A"/>
                </a:solidFill>
                <a:latin typeface="Arial" pitchFamily="34" charset="0"/>
                <a:ea typeface="Arial" pitchFamily="34" charset="-122"/>
                <a:cs typeface="Arial" pitchFamily="34" charset="-120"/>
              </a:rPr>
              <a:t>상황</a:t>
            </a:r>
            <a:r>
              <a:rPr lang="en-US" sz="1500" dirty="0">
                <a:solidFill>
                  <a:srgbClr val="F5F4EF"/>
                </a:solidFill>
                <a:latin typeface="Arial" pitchFamily="34" charset="0"/>
                <a:ea typeface="Arial" pitchFamily="34" charset="-122"/>
                <a:cs typeface="Arial" pitchFamily="34" charset="-120"/>
              </a:rPr>
              <a:t>　나는 문구 유통회사 영업지원팀 신입사원입니다. 실습 5의 10월 주문 데이터를 정리해 오늘 퇴근 전까지 팀장님께 보고해야 합니다.</a:t>
            </a:r>
            <a:endParaRPr lang="en-US" sz="1500" dirty="0"/>
          </a:p>
        </p:txBody>
      </p:sp>
      <p:sp>
        <p:nvSpPr>
          <p:cNvPr id="5" name="Shape 3"/>
          <p:cNvSpPr/>
          <p:nvPr/>
        </p:nvSpPr>
        <p:spPr>
          <a:xfrm>
            <a:off x="812800" y="3357761"/>
            <a:ext cx="3420467" cy="1627981"/>
          </a:xfrm>
          <a:prstGeom prst="roundRect">
            <a:avLst>
              <a:gd name="adj" fmla="val 6241"/>
            </a:avLst>
          </a:prstGeom>
          <a:solidFill>
            <a:srgbClr val="FCFCFA"/>
          </a:solidFill>
          <a:ln/>
        </p:spPr>
      </p:sp>
      <p:sp>
        <p:nvSpPr>
          <p:cNvPr id="6" name="Text 4"/>
          <p:cNvSpPr/>
          <p:nvPr/>
        </p:nvSpPr>
        <p:spPr>
          <a:xfrm>
            <a:off x="1041400" y="3586361"/>
            <a:ext cx="305216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산출물 1</a:t>
            </a:r>
            <a:endParaRPr lang="en-US" sz="1400" dirty="0"/>
          </a:p>
        </p:txBody>
      </p:sp>
      <p:sp>
        <p:nvSpPr>
          <p:cNvPr id="7" name="Text 5"/>
          <p:cNvSpPr/>
          <p:nvPr/>
        </p:nvSpPr>
        <p:spPr>
          <a:xfrm>
            <a:off x="1041400" y="3911402"/>
            <a:ext cx="305216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실적 요약 보고서</a:t>
            </a:r>
            <a:endParaRPr lang="en-US" sz="1800" dirty="0"/>
          </a:p>
        </p:txBody>
      </p:sp>
      <p:sp>
        <p:nvSpPr>
          <p:cNvPr id="8" name="Text 6"/>
          <p:cNvSpPr/>
          <p:nvPr/>
        </p:nvSpPr>
        <p:spPr>
          <a:xfrm>
            <a:off x="1041400" y="4261842"/>
            <a:ext cx="305216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1쪽 · 지역별·품목별 결과와 시사점 3가지</a:t>
            </a:r>
            <a:endParaRPr lang="en-US" sz="1300" dirty="0"/>
          </a:p>
        </p:txBody>
      </p:sp>
      <p:sp>
        <p:nvSpPr>
          <p:cNvPr id="9" name="Shape 7"/>
          <p:cNvSpPr/>
          <p:nvPr/>
        </p:nvSpPr>
        <p:spPr>
          <a:xfrm>
            <a:off x="4385667" y="3357761"/>
            <a:ext cx="3420566" cy="1627981"/>
          </a:xfrm>
          <a:prstGeom prst="roundRect">
            <a:avLst>
              <a:gd name="adj" fmla="val 6241"/>
            </a:avLst>
          </a:prstGeom>
          <a:solidFill>
            <a:srgbClr val="FCFCFA"/>
          </a:solidFill>
          <a:ln/>
        </p:spPr>
      </p:sp>
      <p:sp>
        <p:nvSpPr>
          <p:cNvPr id="10" name="Text 8"/>
          <p:cNvSpPr/>
          <p:nvPr/>
        </p:nvSpPr>
        <p:spPr>
          <a:xfrm>
            <a:off x="4614267" y="3586361"/>
            <a:ext cx="305226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산출물 2</a:t>
            </a:r>
            <a:endParaRPr lang="en-US" sz="1400" dirty="0"/>
          </a:p>
        </p:txBody>
      </p:sp>
      <p:sp>
        <p:nvSpPr>
          <p:cNvPr id="11" name="Text 9"/>
          <p:cNvSpPr/>
          <p:nvPr/>
        </p:nvSpPr>
        <p:spPr>
          <a:xfrm>
            <a:off x="4614267" y="3911402"/>
            <a:ext cx="305226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보고 메일</a:t>
            </a:r>
            <a:endParaRPr lang="en-US" sz="1800" dirty="0"/>
          </a:p>
        </p:txBody>
      </p:sp>
      <p:sp>
        <p:nvSpPr>
          <p:cNvPr id="12" name="Text 10"/>
          <p:cNvSpPr/>
          <p:nvPr/>
        </p:nvSpPr>
        <p:spPr>
          <a:xfrm>
            <a:off x="4614267" y="4261842"/>
            <a:ext cx="305226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팀장님께 보고서를 보내는 메일</a:t>
            </a:r>
            <a:endParaRPr lang="en-US" sz="1300" dirty="0"/>
          </a:p>
        </p:txBody>
      </p:sp>
      <p:sp>
        <p:nvSpPr>
          <p:cNvPr id="13" name="Shape 11"/>
          <p:cNvSpPr/>
          <p:nvPr/>
        </p:nvSpPr>
        <p:spPr>
          <a:xfrm>
            <a:off x="7958634" y="3357761"/>
            <a:ext cx="3420566" cy="1627981"/>
          </a:xfrm>
          <a:prstGeom prst="roundRect">
            <a:avLst>
              <a:gd name="adj" fmla="val 6241"/>
            </a:avLst>
          </a:prstGeom>
          <a:solidFill>
            <a:srgbClr val="FCFCFA"/>
          </a:solidFill>
          <a:ln/>
        </p:spPr>
      </p:sp>
      <p:sp>
        <p:nvSpPr>
          <p:cNvPr id="14" name="Text 12"/>
          <p:cNvSpPr/>
          <p:nvPr/>
        </p:nvSpPr>
        <p:spPr>
          <a:xfrm>
            <a:off x="8187234" y="3586361"/>
            <a:ext cx="305226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산출물 3</a:t>
            </a:r>
            <a:endParaRPr lang="en-US" sz="1400" dirty="0"/>
          </a:p>
        </p:txBody>
      </p:sp>
      <p:sp>
        <p:nvSpPr>
          <p:cNvPr id="15" name="Text 13"/>
          <p:cNvSpPr/>
          <p:nvPr/>
        </p:nvSpPr>
        <p:spPr>
          <a:xfrm>
            <a:off x="8187234" y="3911402"/>
            <a:ext cx="305226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304D"/>
                </a:solidFill>
                <a:latin typeface="Arial" pitchFamily="34" charset="0"/>
                <a:ea typeface="Arial" pitchFamily="34" charset="-122"/>
                <a:cs typeface="Arial" pitchFamily="34" charset="-120"/>
              </a:rPr>
              <a:t>팀 공지</a:t>
            </a:r>
            <a:endParaRPr lang="en-US" sz="1800" dirty="0"/>
          </a:p>
        </p:txBody>
      </p:sp>
      <p:sp>
        <p:nvSpPr>
          <p:cNvPr id="16" name="Text 14"/>
          <p:cNvSpPr/>
          <p:nvPr/>
        </p:nvSpPr>
        <p:spPr>
          <a:xfrm>
            <a:off x="8187234" y="4261842"/>
            <a:ext cx="305226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Arial" pitchFamily="34" charset="0"/>
                <a:ea typeface="Arial" pitchFamily="34" charset="-122"/>
                <a:cs typeface="Arial" pitchFamily="34" charset="-120"/>
              </a:rPr>
              <a:t>메신저용 3줄 요약 공지</a:t>
            </a:r>
            <a:endParaRPr lang="en-US" sz="13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진행 순서 · 30분</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오늘 배운 순서 그대로 진행합니다</a:t>
            </a:r>
            <a:endParaRPr lang="en-US" sz="3200" dirty="0"/>
          </a:p>
        </p:txBody>
      </p:sp>
      <p:sp>
        <p:nvSpPr>
          <p:cNvPr id="4" name="Shape 2"/>
          <p:cNvSpPr/>
          <p:nvPr/>
        </p:nvSpPr>
        <p:spPr>
          <a:xfrm>
            <a:off x="815975" y="1887736"/>
            <a:ext cx="10560050" cy="552450"/>
          </a:xfrm>
          <a:prstGeom prst="roundRect">
            <a:avLst>
              <a:gd name="adj" fmla="val 17816"/>
            </a:avLst>
          </a:prstGeom>
          <a:solidFill>
            <a:srgbClr val="FCFCFA"/>
          </a:solidFill>
          <a:ln w="6350">
            <a:solidFill>
              <a:srgbClr val="D9DDE1"/>
            </a:solidFill>
            <a:prstDash val="solid"/>
          </a:ln>
        </p:spPr>
      </p:sp>
      <p:sp>
        <p:nvSpPr>
          <p:cNvPr id="5" name="Text 3"/>
          <p:cNvSpPr/>
          <p:nvPr/>
        </p:nvSpPr>
        <p:spPr>
          <a:xfrm>
            <a:off x="1022350" y="2030611"/>
            <a:ext cx="1003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A64F16"/>
                </a:solidFill>
                <a:latin typeface="Arial" pitchFamily="34" charset="0"/>
                <a:ea typeface="Arial" pitchFamily="34" charset="-122"/>
                <a:cs typeface="Arial" pitchFamily="34" charset="-120"/>
              </a:rPr>
              <a:t>6교시</a:t>
            </a:r>
            <a:endParaRPr lang="en-US" sz="1500" dirty="0"/>
          </a:p>
        </p:txBody>
      </p:sp>
      <p:sp>
        <p:nvSpPr>
          <p:cNvPr id="6" name="Text 4"/>
          <p:cNvSpPr/>
          <p:nvPr/>
        </p:nvSpPr>
        <p:spPr>
          <a:xfrm>
            <a:off x="2152650" y="2039541"/>
            <a:ext cx="429077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304D"/>
                </a:solidFill>
                <a:latin typeface="Arial" pitchFamily="34" charset="0"/>
                <a:ea typeface="Arial" pitchFamily="34" charset="-122"/>
                <a:cs typeface="Arial" pitchFamily="34" charset="-120"/>
              </a:rPr>
              <a:t>엑셀 결과(지역별·품목별 합계) 확인하고 검산</a:t>
            </a:r>
            <a:endParaRPr lang="en-US" sz="1400" dirty="0"/>
          </a:p>
        </p:txBody>
      </p:sp>
      <p:sp>
        <p:nvSpPr>
          <p:cNvPr id="7" name="Shape 5"/>
          <p:cNvSpPr/>
          <p:nvPr/>
        </p:nvSpPr>
        <p:spPr>
          <a:xfrm>
            <a:off x="815975" y="2548136"/>
            <a:ext cx="10560050" cy="552450"/>
          </a:xfrm>
          <a:prstGeom prst="roundRect">
            <a:avLst>
              <a:gd name="adj" fmla="val 17816"/>
            </a:avLst>
          </a:prstGeom>
          <a:solidFill>
            <a:srgbClr val="FCFCFA"/>
          </a:solidFill>
          <a:ln w="6350">
            <a:solidFill>
              <a:srgbClr val="D9DDE1"/>
            </a:solidFill>
            <a:prstDash val="solid"/>
          </a:ln>
        </p:spPr>
      </p:sp>
      <p:sp>
        <p:nvSpPr>
          <p:cNvPr id="8" name="Text 6"/>
          <p:cNvSpPr/>
          <p:nvPr/>
        </p:nvSpPr>
        <p:spPr>
          <a:xfrm>
            <a:off x="1022350" y="2691011"/>
            <a:ext cx="1003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A64F16"/>
                </a:solidFill>
                <a:latin typeface="Arial" pitchFamily="34" charset="0"/>
                <a:ea typeface="Arial" pitchFamily="34" charset="-122"/>
                <a:cs typeface="Arial" pitchFamily="34" charset="-120"/>
              </a:rPr>
              <a:t>3교시</a:t>
            </a:r>
            <a:endParaRPr lang="en-US" sz="1500" dirty="0"/>
          </a:p>
        </p:txBody>
      </p:sp>
      <p:sp>
        <p:nvSpPr>
          <p:cNvPr id="9" name="Text 7"/>
          <p:cNvSpPr/>
          <p:nvPr/>
        </p:nvSpPr>
        <p:spPr>
          <a:xfrm>
            <a:off x="2152650" y="2699941"/>
            <a:ext cx="585573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304D"/>
                </a:solidFill>
                <a:latin typeface="Arial" pitchFamily="34" charset="0"/>
                <a:ea typeface="Arial" pitchFamily="34" charset="-122"/>
                <a:cs typeface="Arial" pitchFamily="34" charset="-120"/>
              </a:rPr>
              <a:t>5요소를 갖춘 프롬프트로 보고서 초안 요청 (수치는 직접 넣기)</a:t>
            </a:r>
            <a:endParaRPr lang="en-US" sz="1400" dirty="0"/>
          </a:p>
        </p:txBody>
      </p:sp>
      <p:sp>
        <p:nvSpPr>
          <p:cNvPr id="10" name="Shape 8"/>
          <p:cNvSpPr/>
          <p:nvPr/>
        </p:nvSpPr>
        <p:spPr>
          <a:xfrm>
            <a:off x="815975" y="3208536"/>
            <a:ext cx="10560050" cy="552450"/>
          </a:xfrm>
          <a:prstGeom prst="roundRect">
            <a:avLst>
              <a:gd name="adj" fmla="val 17816"/>
            </a:avLst>
          </a:prstGeom>
          <a:solidFill>
            <a:srgbClr val="FCFCFA"/>
          </a:solidFill>
          <a:ln w="6350">
            <a:solidFill>
              <a:srgbClr val="D9DDE1"/>
            </a:solidFill>
            <a:prstDash val="solid"/>
          </a:ln>
        </p:spPr>
      </p:sp>
      <p:sp>
        <p:nvSpPr>
          <p:cNvPr id="11" name="Text 9"/>
          <p:cNvSpPr/>
          <p:nvPr/>
        </p:nvSpPr>
        <p:spPr>
          <a:xfrm>
            <a:off x="1022350" y="3351411"/>
            <a:ext cx="1003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A64F16"/>
                </a:solidFill>
                <a:latin typeface="Arial" pitchFamily="34" charset="0"/>
                <a:ea typeface="Arial" pitchFamily="34" charset="-122"/>
                <a:cs typeface="Arial" pitchFamily="34" charset="-120"/>
              </a:rPr>
              <a:t>7교시</a:t>
            </a:r>
            <a:endParaRPr lang="en-US" sz="1500" dirty="0"/>
          </a:p>
        </p:txBody>
      </p:sp>
      <p:sp>
        <p:nvSpPr>
          <p:cNvPr id="12" name="Text 10"/>
          <p:cNvSpPr/>
          <p:nvPr/>
        </p:nvSpPr>
        <p:spPr>
          <a:xfrm>
            <a:off x="2152650" y="3360341"/>
            <a:ext cx="517993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304D"/>
                </a:solidFill>
                <a:latin typeface="Arial" pitchFamily="34" charset="0"/>
                <a:ea typeface="Arial" pitchFamily="34" charset="-122"/>
                <a:cs typeface="Arial" pitchFamily="34" charset="-120"/>
              </a:rPr>
              <a:t>검증 체크리스트로 수치·표현 확인, 지어낸 내용 지우기</a:t>
            </a:r>
            <a:endParaRPr lang="en-US" sz="1400" dirty="0"/>
          </a:p>
        </p:txBody>
      </p:sp>
      <p:sp>
        <p:nvSpPr>
          <p:cNvPr id="13" name="Shape 11"/>
          <p:cNvSpPr/>
          <p:nvPr/>
        </p:nvSpPr>
        <p:spPr>
          <a:xfrm>
            <a:off x="815975" y="3868936"/>
            <a:ext cx="10560050" cy="552450"/>
          </a:xfrm>
          <a:prstGeom prst="roundRect">
            <a:avLst>
              <a:gd name="adj" fmla="val 17816"/>
            </a:avLst>
          </a:prstGeom>
          <a:solidFill>
            <a:srgbClr val="FCFCFA"/>
          </a:solidFill>
          <a:ln w="6350">
            <a:solidFill>
              <a:srgbClr val="D9DDE1"/>
            </a:solidFill>
            <a:prstDash val="solid"/>
          </a:ln>
        </p:spPr>
      </p:sp>
      <p:sp>
        <p:nvSpPr>
          <p:cNvPr id="14" name="Text 12"/>
          <p:cNvSpPr/>
          <p:nvPr/>
        </p:nvSpPr>
        <p:spPr>
          <a:xfrm>
            <a:off x="1022350" y="4011811"/>
            <a:ext cx="1003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A64F16"/>
                </a:solidFill>
                <a:latin typeface="Arial" pitchFamily="34" charset="0"/>
                <a:ea typeface="Arial" pitchFamily="34" charset="-122"/>
                <a:cs typeface="Arial" pitchFamily="34" charset="-120"/>
              </a:rPr>
              <a:t>4·5교시</a:t>
            </a:r>
            <a:endParaRPr lang="en-US" sz="1500" dirty="0"/>
          </a:p>
        </p:txBody>
      </p:sp>
      <p:sp>
        <p:nvSpPr>
          <p:cNvPr id="15" name="Text 13"/>
          <p:cNvSpPr/>
          <p:nvPr/>
        </p:nvSpPr>
        <p:spPr>
          <a:xfrm>
            <a:off x="2152650" y="4020741"/>
            <a:ext cx="334291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304D"/>
                </a:solidFill>
                <a:latin typeface="Arial" pitchFamily="34" charset="0"/>
                <a:ea typeface="Arial" pitchFamily="34" charset="-122"/>
                <a:cs typeface="Arial" pitchFamily="34" charset="-120"/>
              </a:rPr>
              <a:t>보고서를 메일과 3줄 공지로 바꾸기</a:t>
            </a:r>
            <a:endParaRPr lang="en-US" sz="1400" dirty="0"/>
          </a:p>
        </p:txBody>
      </p:sp>
      <p:sp>
        <p:nvSpPr>
          <p:cNvPr id="16" name="Shape 14"/>
          <p:cNvSpPr/>
          <p:nvPr/>
        </p:nvSpPr>
        <p:spPr>
          <a:xfrm>
            <a:off x="812800" y="4526161"/>
            <a:ext cx="10566400" cy="546100"/>
          </a:xfrm>
          <a:prstGeom prst="roundRect">
            <a:avLst>
              <a:gd name="adj" fmla="val 18605"/>
            </a:avLst>
          </a:prstGeom>
          <a:solidFill>
            <a:srgbClr val="12304D"/>
          </a:solidFill>
          <a:ln/>
        </p:spPr>
      </p:sp>
      <p:sp>
        <p:nvSpPr>
          <p:cNvPr id="17" name="Text 15"/>
          <p:cNvSpPr/>
          <p:nvPr/>
        </p:nvSpPr>
        <p:spPr>
          <a:xfrm>
            <a:off x="1016000" y="4665861"/>
            <a:ext cx="1003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A65A"/>
                </a:solidFill>
                <a:latin typeface="Arial" pitchFamily="34" charset="0"/>
                <a:ea typeface="Arial" pitchFamily="34" charset="-122"/>
                <a:cs typeface="Arial" pitchFamily="34" charset="-120"/>
              </a:rPr>
              <a:t>마무리</a:t>
            </a:r>
            <a:endParaRPr lang="en-US" sz="1500" dirty="0"/>
          </a:p>
        </p:txBody>
      </p:sp>
      <p:sp>
        <p:nvSpPr>
          <p:cNvPr id="18" name="Text 16"/>
          <p:cNvSpPr/>
          <p:nvPr/>
        </p:nvSpPr>
        <p:spPr>
          <a:xfrm>
            <a:off x="2146300" y="4674791"/>
            <a:ext cx="468225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4EF"/>
                </a:solidFill>
                <a:latin typeface="Arial" pitchFamily="34" charset="0"/>
                <a:ea typeface="Arial" pitchFamily="34" charset="-122"/>
                <a:cs typeface="Arial" pitchFamily="34" charset="-120"/>
              </a:rPr>
              <a:t>짝과 결과물을 바꿔 다음 장의 점검표로 서로 확인</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점검표 · 짝과 서로 확인</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보내기 전에 다섯 가지를 체크하세요</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261"/>
          <a:ext cx="10553700" cy="2315766"/>
        </p:xfrm>
        <a:graphic>
          <a:graphicData uri="http://schemas.openxmlformats.org/drawingml/2006/table">
            <a:tbl>
              <a:tblPr/>
              <a:tblGrid>
                <a:gridCol w="1899666"/>
                <a:gridCol w="6754368"/>
                <a:gridCol w="1899666"/>
              </a:tblGrid>
              <a:tr h="385961">
                <a:tc>
                  <a:txBody>
                    <a:bodyPr/>
                    <a:lstStyle/>
                    <a:p>
                      <a:pPr indent="0" marL="0">
                        <a:lnSpc>
                          <a:spcPts val="1960"/>
                        </a:lnSpc>
                        <a:buNone/>
                      </a:pPr>
                      <a:r>
                        <a:rPr lang="en-US" sz="1400" b="1" dirty="0">
                          <a:solidFill>
                            <a:srgbClr val="F5F4EF"/>
                          </a:solidFill>
                          <a:latin typeface="Arial" pitchFamily="34" charset="0"/>
                          <a:ea typeface="Arial" pitchFamily="34" charset="-122"/>
                          <a:cs typeface="Arial" pitchFamily="34" charset="-120"/>
                        </a:rPr>
                        <a:t>항목</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indent="0" marL="0">
                        <a:lnSpc>
                          <a:spcPts val="1960"/>
                        </a:lnSpc>
                        <a:buNone/>
                      </a:pPr>
                      <a:r>
                        <a:rPr lang="en-US" sz="1400" b="1" dirty="0">
                          <a:solidFill>
                            <a:srgbClr val="F5F4EF"/>
                          </a:solidFill>
                          <a:latin typeface="Arial" pitchFamily="34" charset="0"/>
                          <a:ea typeface="Arial" pitchFamily="34" charset="-122"/>
                          <a:cs typeface="Arial" pitchFamily="34" charset="-120"/>
                        </a:rPr>
                        <a:t>확인 질문</a:t>
                      </a:r>
                      <a:endParaRPr lang="en-US" sz="1400" dirty="0">
                        <a:latin typeface="Arial" charset="0"/>
                        <a:ea typeface="Arial" charset="0"/>
                        <a:cs typeface="Arial" charset="0"/>
                      </a:endParaRPr>
                    </a:p>
                  </a:txBody>
                  <a:tcPr marL="62230" marR="62230" marT="62230" marB="6223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algn="ctr" indent="0" marL="0">
                        <a:lnSpc>
                          <a:spcPts val="1960"/>
                        </a:lnSpc>
                        <a:buNone/>
                      </a:pPr>
                      <a:r>
                        <a:rPr lang="en-US" sz="1400" b="1" dirty="0">
                          <a:solidFill>
                            <a:srgbClr val="F5F4EF"/>
                          </a:solidFill>
                          <a:latin typeface="Arial" pitchFamily="34" charset="0"/>
                          <a:ea typeface="Arial" pitchFamily="34" charset="-122"/>
                          <a:cs typeface="Arial" pitchFamily="34" charset="-120"/>
                        </a:rPr>
                        <a:t>체크</a:t>
                      </a:r>
                      <a:endParaRPr lang="en-US" sz="1400" dirty="0">
                        <a:latin typeface="Arial" charset="0"/>
                        <a:ea typeface="Arial" charset="0"/>
                        <a:cs typeface="Arial" charset="0"/>
                      </a:endParaRPr>
                    </a:p>
                  </a:txBody>
                  <a:tcPr marL="62230" marR="62230" marT="62230" marB="6223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r>
              <a:tr h="385961">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정확성</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보고서의 숫자가 엑셀 결과와 똑같은가?</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12304D"/>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완성도</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보고서 · 메일 · 공지 3가지를 모두 만들었는가?</a:t>
                      </a:r>
                      <a:endParaRPr lang="en-US" sz="1400" dirty="0">
                        <a:latin typeface="Arial" charset="0"/>
                        <a:ea typeface="Arial" charset="0"/>
                        <a:cs typeface="Arial" charset="0"/>
                      </a:endParaRPr>
                    </a:p>
                  </a:txBody>
                  <a:tcPr marL="62230" marR="62230" marT="62230" marB="6223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ctr" indent="0" marL="0">
                        <a:lnSpc>
                          <a:spcPts val="1960"/>
                        </a:lnSpc>
                        <a:buNone/>
                      </a:pPr>
                      <a:r>
                        <a:rPr lang="en-US" sz="1400" dirty="0">
                          <a:solidFill>
                            <a:srgbClr val="12304D"/>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r h="385961">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프롬프트</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역할·작업·맥락·형식·조건을 넣어 요청했는가?</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12304D"/>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보안</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개인정보나 회사 기밀이 들어가지 않았는가?</a:t>
                      </a:r>
                      <a:endParaRPr lang="en-US" sz="1400" dirty="0">
                        <a:latin typeface="Arial" charset="0"/>
                        <a:ea typeface="Arial" charset="0"/>
                        <a:cs typeface="Arial" charset="0"/>
                      </a:endParaRPr>
                    </a:p>
                  </a:txBody>
                  <a:tcPr marL="62230" marR="62230" marT="62230" marB="6223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ctr" indent="0" marL="0">
                        <a:lnSpc>
                          <a:spcPts val="1960"/>
                        </a:lnSpc>
                        <a:buNone/>
                      </a:pPr>
                      <a:r>
                        <a:rPr lang="en-US" sz="1400" dirty="0">
                          <a:solidFill>
                            <a:srgbClr val="12304D"/>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r h="385961">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표현</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60"/>
                        </a:lnSpc>
                        <a:buNone/>
                      </a:pPr>
                      <a:r>
                        <a:rPr lang="en-US" sz="1400" dirty="0">
                          <a:solidFill>
                            <a:srgbClr val="12304D"/>
                          </a:solidFill>
                          <a:latin typeface="Arial" pitchFamily="34" charset="0"/>
                          <a:ea typeface="Arial" pitchFamily="34" charset="-122"/>
                          <a:cs typeface="Arial" pitchFamily="34" charset="-120"/>
                        </a:rPr>
                        <a:t>받는 사람에게 맞는 어조와 길이인가?</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ctr" indent="0" marL="0">
                        <a:lnSpc>
                          <a:spcPts val="1960"/>
                        </a:lnSpc>
                        <a:buNone/>
                      </a:pPr>
                      <a:r>
                        <a:rPr lang="en-US" sz="1400" dirty="0">
                          <a:solidFill>
                            <a:srgbClr val="12304D"/>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800" y="4492427"/>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304D"/>
                </a:solidFill>
                <a:latin typeface="Arial" pitchFamily="34" charset="0"/>
                <a:ea typeface="Arial" pitchFamily="34" charset="-122"/>
                <a:cs typeface="Arial" pitchFamily="34" charset="-120"/>
              </a:rPr>
              <a:t>발표 · 2~3명이 결과물과 가장 효과가 좋았던 프롬프트 하나를 소개합니다</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E8EEF2"/>
        </a:solidFill>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종합 실습 · 예시 답안 ① 상황과 데이터</a:t>
            </a:r>
            <a:endParaRPr lang="en-US" sz="1400" dirty="0"/>
          </a:p>
        </p:txBody>
      </p:sp>
      <p:sp>
        <p:nvSpPr>
          <p:cNvPr id="3" name="Text 1"/>
          <p:cNvSpPr/>
          <p:nvPr>
            <p:ph type="title"/>
          </p:nvPr>
        </p:nvSpPr>
        <p:spPr>
          <a:xfrm>
            <a:off x="812800" y="1023541"/>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2304D"/>
                </a:solidFill>
                <a:latin typeface="Arial" pitchFamily="34" charset="0"/>
                <a:ea typeface="Arial" pitchFamily="34" charset="-122"/>
                <a:cs typeface="Arial" pitchFamily="34" charset="-120"/>
              </a:rPr>
              <a:t>베이커리 카페 3개 지점 판매 실적 보고</a:t>
            </a:r>
            <a:endParaRPr lang="en-US" sz="2600" dirty="0"/>
          </a:p>
        </p:txBody>
      </p:sp>
      <p:sp>
        <p:nvSpPr>
          <p:cNvPr id="4" name="Text 2"/>
          <p:cNvSpPr/>
          <p:nvPr/>
        </p:nvSpPr>
        <p:spPr>
          <a:xfrm>
            <a:off x="812800" y="1581051"/>
            <a:ext cx="10883392"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2304D"/>
                </a:solidFill>
                <a:latin typeface="Arial" pitchFamily="34" charset="0"/>
                <a:ea typeface="Arial" pitchFamily="34" charset="-122"/>
                <a:cs typeface="Arial" pitchFamily="34" charset="-120"/>
              </a:rPr>
              <a:t>상황</a:t>
            </a:r>
            <a:r>
              <a:rPr lang="en-US" sz="1300" dirty="0">
                <a:solidFill>
                  <a:srgbClr val="3D4A57"/>
                </a:solidFill>
                <a:latin typeface="Arial" pitchFamily="34" charset="0"/>
                <a:ea typeface="Arial" pitchFamily="34" charset="-122"/>
                <a:cs typeface="Arial" pitchFamily="34" charset="-120"/>
              </a:rPr>
              <a:t>　나는 베이커리 카페 본사 운영지원팀 직원입니다. 10월 12일(월)~15일(목) 지점별 판매 데이터를 정리해 팀장님께 보고합니다.</a:t>
            </a:r>
            <a:endParaRPr lang="en-US" sz="1300" dirty="0"/>
          </a:p>
        </p:txBody>
      </p:sp>
      <p:sp>
        <p:nvSpPr>
          <p:cNvPr id="5" name="Shape 3"/>
          <p:cNvSpPr/>
          <p:nvPr/>
        </p:nvSpPr>
        <p:spPr>
          <a:xfrm>
            <a:off x="812800" y="2006501"/>
            <a:ext cx="6477000" cy="3005931"/>
          </a:xfrm>
          <a:prstGeom prst="rect">
            <a:avLst/>
          </a:prstGeom>
          <a:solidFill>
            <a:srgbClr val="FCFCFA"/>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019201"/>
          <a:ext cx="6464300" cy="2993231"/>
        </p:xfrm>
        <a:graphic>
          <a:graphicData uri="http://schemas.openxmlformats.org/drawingml/2006/table">
            <a:tbl>
              <a:tblPr/>
              <a:tblGrid>
                <a:gridCol w="1163574"/>
                <a:gridCol w="1034288"/>
                <a:gridCol w="1292860"/>
                <a:gridCol w="775716"/>
                <a:gridCol w="905002"/>
                <a:gridCol w="1292860"/>
              </a:tblGrid>
              <a:tr h="332581">
                <a:tc>
                  <a:txBody>
                    <a:bodyPr/>
                    <a:lstStyle/>
                    <a:p>
                      <a:pPr indent="0" marL="0">
                        <a:lnSpc>
                          <a:spcPts val="1680"/>
                        </a:lnSpc>
                        <a:buNone/>
                      </a:pPr>
                      <a:r>
                        <a:rPr lang="en-US" sz="1200" b="1" dirty="0">
                          <a:solidFill>
                            <a:srgbClr val="F5F4EF"/>
                          </a:solidFill>
                          <a:latin typeface="Arial" pitchFamily="34" charset="0"/>
                          <a:ea typeface="Arial" pitchFamily="34" charset="-122"/>
                          <a:cs typeface="Arial" pitchFamily="34" charset="-120"/>
                        </a:rPr>
                        <a:t>판매일</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indent="0" marL="0">
                        <a:lnSpc>
                          <a:spcPts val="1680"/>
                        </a:lnSpc>
                        <a:buNone/>
                      </a:pPr>
                      <a:r>
                        <a:rPr lang="en-US" sz="1200" b="1" dirty="0">
                          <a:solidFill>
                            <a:srgbClr val="F5F4EF"/>
                          </a:solidFill>
                          <a:latin typeface="Arial" pitchFamily="34" charset="0"/>
                          <a:ea typeface="Arial" pitchFamily="34" charset="-122"/>
                          <a:cs typeface="Arial" pitchFamily="34" charset="-120"/>
                        </a:rPr>
                        <a:t>지점</a:t>
                      </a:r>
                      <a:endParaRPr lang="en-US" sz="1200" dirty="0">
                        <a:latin typeface="Arial" charset="0"/>
                        <a:ea typeface="Arial" charset="0"/>
                        <a:cs typeface="Arial" charset="0"/>
                      </a:endParaRPr>
                    </a:p>
                  </a:txBody>
                  <a:tcPr marL="53340" marR="53340" marT="53340" marB="5334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indent="0" marL="0">
                        <a:lnSpc>
                          <a:spcPts val="1680"/>
                        </a:lnSpc>
                        <a:buNone/>
                      </a:pPr>
                      <a:r>
                        <a:rPr lang="en-US" sz="1200" b="1" dirty="0">
                          <a:solidFill>
                            <a:srgbClr val="F5F4EF"/>
                          </a:solidFill>
                          <a:latin typeface="Arial" pitchFamily="34" charset="0"/>
                          <a:ea typeface="Arial" pitchFamily="34" charset="-122"/>
                          <a:cs typeface="Arial" pitchFamily="34" charset="-120"/>
                        </a:rPr>
                        <a:t>메뉴</a:t>
                      </a:r>
                      <a:endParaRPr lang="en-US" sz="1200" dirty="0">
                        <a:latin typeface="Arial" charset="0"/>
                        <a:ea typeface="Arial" charset="0"/>
                        <a:cs typeface="Arial" charset="0"/>
                      </a:endParaRPr>
                    </a:p>
                  </a:txBody>
                  <a:tcPr marL="53340" marR="53340" marT="53340" marB="5334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algn="r" indent="0" marL="0">
                        <a:lnSpc>
                          <a:spcPts val="1680"/>
                        </a:lnSpc>
                        <a:buNone/>
                      </a:pPr>
                      <a:r>
                        <a:rPr lang="en-US" sz="1200" b="1" dirty="0">
                          <a:solidFill>
                            <a:srgbClr val="F5F4EF"/>
                          </a:solidFill>
                          <a:latin typeface="Arial" pitchFamily="34" charset="0"/>
                          <a:ea typeface="Arial" pitchFamily="34" charset="-122"/>
                          <a:cs typeface="Arial" pitchFamily="34" charset="-120"/>
                        </a:rPr>
                        <a:t>수량</a:t>
                      </a:r>
                      <a:endParaRPr lang="en-US" sz="1200" dirty="0">
                        <a:latin typeface="Arial" charset="0"/>
                        <a:ea typeface="Arial" charset="0"/>
                        <a:cs typeface="Arial" charset="0"/>
                      </a:endParaRPr>
                    </a:p>
                  </a:txBody>
                  <a:tcPr marL="53340" marR="53340" marT="53340" marB="5334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algn="r" indent="0" marL="0">
                        <a:lnSpc>
                          <a:spcPts val="1680"/>
                        </a:lnSpc>
                        <a:buNone/>
                      </a:pPr>
                      <a:r>
                        <a:rPr lang="en-US" sz="1200" b="1" dirty="0">
                          <a:solidFill>
                            <a:srgbClr val="F5F4EF"/>
                          </a:solidFill>
                          <a:latin typeface="Arial" pitchFamily="34" charset="0"/>
                          <a:ea typeface="Arial" pitchFamily="34" charset="-122"/>
                          <a:cs typeface="Arial" pitchFamily="34" charset="-120"/>
                        </a:rPr>
                        <a:t>단가</a:t>
                      </a:r>
                      <a:endParaRPr lang="en-US" sz="1200" dirty="0">
                        <a:latin typeface="Arial" charset="0"/>
                        <a:ea typeface="Arial" charset="0"/>
                        <a:cs typeface="Arial" charset="0"/>
                      </a:endParaRPr>
                    </a:p>
                  </a:txBody>
                  <a:tcPr marL="53340" marR="53340" marT="53340" marB="5334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algn="r" indent="0" marL="0">
                        <a:lnSpc>
                          <a:spcPts val="1680"/>
                        </a:lnSpc>
                        <a:buNone/>
                      </a:pPr>
                      <a:r>
                        <a:rPr lang="en-US" sz="1200" b="1" dirty="0">
                          <a:solidFill>
                            <a:srgbClr val="F5F4EF"/>
                          </a:solidFill>
                          <a:latin typeface="Arial" pitchFamily="34" charset="0"/>
                          <a:ea typeface="Arial" pitchFamily="34" charset="-122"/>
                          <a:cs typeface="Arial" pitchFamily="34" charset="-120"/>
                        </a:rPr>
                        <a:t>금액</a:t>
                      </a:r>
                      <a:endParaRPr lang="en-US" sz="1200" dirty="0">
                        <a:latin typeface="Arial" charset="0"/>
                        <a:ea typeface="Arial" charset="0"/>
                        <a:cs typeface="Arial" charset="0"/>
                      </a:endParaRPr>
                    </a:p>
                  </a:txBody>
                  <a:tcPr marL="53340" marR="53340" marT="53340" marB="5334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10-12</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해운대</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아메리카노</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120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4,000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480,000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10-12</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서면</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라떼</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90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4,500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405,000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10-13</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해운대</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케이크</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6,000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180,000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10-13</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광안리</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아메리카노</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80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4,000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320,000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10-14</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서면</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아메리카노</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100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4,000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400,000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10-14</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광안리</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케이크</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6,000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150,000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10-15</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해운대</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라떼</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60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4,500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270,000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10-15</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서면</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케이크</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6,000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120,000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bl>
          </a:graphicData>
        </a:graphic>
      </p:graphicFrame>
      <p:sp>
        <p:nvSpPr>
          <p:cNvPr id="7" name="Shape 4"/>
          <p:cNvSpPr/>
          <p:nvPr/>
        </p:nvSpPr>
        <p:spPr>
          <a:xfrm>
            <a:off x="7493000" y="2006501"/>
            <a:ext cx="3886200" cy="3005931"/>
          </a:xfrm>
          <a:prstGeom prst="roundRect">
            <a:avLst>
              <a:gd name="adj" fmla="val 3380"/>
            </a:avLst>
          </a:prstGeom>
          <a:solidFill>
            <a:srgbClr val="12304D"/>
          </a:solidFill>
          <a:ln/>
        </p:spPr>
      </p:sp>
      <p:sp>
        <p:nvSpPr>
          <p:cNvPr id="8" name="Text 5"/>
          <p:cNvSpPr/>
          <p:nvPr/>
        </p:nvSpPr>
        <p:spPr>
          <a:xfrm>
            <a:off x="7696200" y="2209701"/>
            <a:ext cx="358419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Arial" pitchFamily="34" charset="0"/>
                <a:ea typeface="Arial" pitchFamily="34" charset="-122"/>
                <a:cs typeface="Arial" pitchFamily="34" charset="-120"/>
              </a:rPr>
              <a:t>엑셀로 먼저 계산</a:t>
            </a:r>
            <a:endParaRPr lang="en-US" sz="1300" dirty="0"/>
          </a:p>
        </p:txBody>
      </p:sp>
      <p:sp>
        <p:nvSpPr>
          <p:cNvPr id="9" name="Text 6"/>
          <p:cNvSpPr/>
          <p:nvPr/>
        </p:nvSpPr>
        <p:spPr>
          <a:xfrm>
            <a:off x="7696200" y="2529681"/>
            <a:ext cx="3584194" cy="1000522"/>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F4EF"/>
                </a:solidFill>
                <a:latin typeface="Arial" pitchFamily="34" charset="0"/>
                <a:ea typeface="Arial" pitchFamily="34" charset="-122"/>
                <a:cs typeface="Arial" pitchFamily="34" charset="-120"/>
              </a:rPr>
              <a:t>금액 F2 · =D2*E2</a:t>
            </a:r>
            <a:endParaRPr lang="en-US" sz="1200" dirty="0"/>
          </a:p>
          <a:p>
            <a:pPr algn="l" indent="0" marL="0">
              <a:lnSpc>
                <a:spcPts val="1920"/>
              </a:lnSpc>
              <a:buNone/>
            </a:pPr>
            <a:r>
              <a:rPr lang="en-US" sz="1200" dirty="0">
                <a:solidFill>
                  <a:srgbClr val="F5F4EF"/>
                </a:solidFill>
                <a:latin typeface="Arial" pitchFamily="34" charset="0"/>
                <a:ea typeface="Arial" pitchFamily="34" charset="-122"/>
                <a:cs typeface="Arial" pitchFamily="34" charset="-120"/>
              </a:rPr>
              <a:t>지점별 · =SUMIF(B:B,"해운대",F:F)</a:t>
            </a:r>
            <a:endParaRPr lang="en-US" sz="1200" dirty="0"/>
          </a:p>
          <a:p>
            <a:pPr algn="l" indent="0" marL="0">
              <a:lnSpc>
                <a:spcPts val="1920"/>
              </a:lnSpc>
              <a:buNone/>
            </a:pPr>
            <a:r>
              <a:rPr lang="en-US" sz="1200" dirty="0">
                <a:solidFill>
                  <a:srgbClr val="F5F4EF"/>
                </a:solidFill>
                <a:latin typeface="Arial" pitchFamily="34" charset="0"/>
                <a:ea typeface="Arial" pitchFamily="34" charset="-122"/>
                <a:cs typeface="Arial" pitchFamily="34" charset="-120"/>
              </a:rPr>
              <a:t>메뉴별 · =SUMIF(C:C,"라떼",D:D)</a:t>
            </a:r>
            <a:endParaRPr lang="en-US" sz="1200" dirty="0"/>
          </a:p>
          <a:p>
            <a:pPr algn="l" indent="0" marL="0">
              <a:lnSpc>
                <a:spcPts val="1920"/>
              </a:lnSpc>
              <a:buNone/>
            </a:pPr>
            <a:r>
              <a:rPr lang="en-US" sz="1200" dirty="0">
                <a:solidFill>
                  <a:srgbClr val="F5F4EF"/>
                </a:solidFill>
                <a:latin typeface="Arial" pitchFamily="34" charset="0"/>
                <a:ea typeface="Arial" pitchFamily="34" charset="-122"/>
                <a:cs typeface="Arial" pitchFamily="34" charset="-120"/>
              </a:rPr>
              <a:t>총 금액 · =SUM(F2:F9)</a:t>
            </a:r>
            <a:endParaRPr lang="en-US" sz="1200" dirty="0"/>
          </a:p>
        </p:txBody>
      </p:sp>
      <p:sp>
        <p:nvSpPr>
          <p:cNvPr id="10" name="Text 7"/>
          <p:cNvSpPr/>
          <p:nvPr/>
        </p:nvSpPr>
        <p:spPr>
          <a:xfrm>
            <a:off x="7696200" y="3593703"/>
            <a:ext cx="3584194"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BFD0DE"/>
                </a:solidFill>
                <a:latin typeface="Arial" pitchFamily="34" charset="0"/>
                <a:ea typeface="Arial" pitchFamily="34" charset="-122"/>
                <a:cs typeface="Arial" pitchFamily="34" charset="-120"/>
              </a:rPr>
              <a:t>총 8건 · 525개 · 2,325,000원</a:t>
            </a:r>
            <a:endParaRPr lang="en-US" sz="12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 · 강사 시연용 가상 데이터</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E8EE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종합 실습 · 예시 답안 ② 프롬프트</a:t>
            </a:r>
            <a:endParaRPr lang="en-US" sz="1400" dirty="0"/>
          </a:p>
        </p:txBody>
      </p:sp>
      <p:sp>
        <p:nvSpPr>
          <p:cNvPr id="3" name="Text 1"/>
          <p:cNvSpPr/>
          <p:nvPr>
            <p:ph type="title"/>
          </p:nvPr>
        </p:nvSpPr>
        <p:spPr>
          <a:xfrm>
            <a:off x="812800" y="1137841"/>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304D"/>
                </a:solidFill>
                <a:latin typeface="Arial" pitchFamily="34" charset="0"/>
                <a:ea typeface="Arial" pitchFamily="34" charset="-122"/>
                <a:cs typeface="Arial" pitchFamily="34" charset="-120"/>
              </a:rPr>
              <a:t>이렇게 요청했습니다</a:t>
            </a:r>
            <a:endParaRPr lang="en-US" sz="2800" dirty="0"/>
          </a:p>
        </p:txBody>
      </p:sp>
      <p:sp>
        <p:nvSpPr>
          <p:cNvPr id="4" name="Shape 2"/>
          <p:cNvSpPr/>
          <p:nvPr/>
        </p:nvSpPr>
        <p:spPr>
          <a:xfrm>
            <a:off x="812800" y="1775321"/>
            <a:ext cx="10566400" cy="1676102"/>
          </a:xfrm>
          <a:prstGeom prst="roundRect">
            <a:avLst>
              <a:gd name="adj" fmla="val 6062"/>
            </a:avLst>
          </a:prstGeom>
          <a:solidFill>
            <a:srgbClr val="12304D"/>
          </a:solidFill>
          <a:ln/>
        </p:spPr>
      </p:sp>
      <p:sp>
        <p:nvSpPr>
          <p:cNvPr id="5" name="Text 3"/>
          <p:cNvSpPr/>
          <p:nvPr/>
        </p:nvSpPr>
        <p:spPr>
          <a:xfrm>
            <a:off x="1066800" y="1978521"/>
            <a:ext cx="1036015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Arial" pitchFamily="34" charset="0"/>
                <a:ea typeface="Arial" pitchFamily="34" charset="-122"/>
                <a:cs typeface="Arial" pitchFamily="34" charset="-120"/>
              </a:rPr>
              <a:t>요청 1 · 보고서</a:t>
            </a:r>
            <a:endParaRPr lang="en-US" sz="1300" dirty="0"/>
          </a:p>
        </p:txBody>
      </p:sp>
      <p:sp>
        <p:nvSpPr>
          <p:cNvPr id="6" name="Text 4"/>
          <p:cNvSpPr/>
          <p:nvPr/>
        </p:nvSpPr>
        <p:spPr>
          <a:xfrm>
            <a:off x="1066800" y="2273102"/>
            <a:ext cx="10360152" cy="1000522"/>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F4EF"/>
                </a:solidFill>
                <a:latin typeface="Arial" pitchFamily="34" charset="0"/>
                <a:ea typeface="Arial" pitchFamily="34" charset="-122"/>
                <a:cs typeface="Arial" pitchFamily="34" charset="-120"/>
              </a:rPr>
              <a:t>너는 베이커리 카페 본사 운영지원팀 직원이야. 아래 10월 12일~15일 판매 실적으로 팀장님께 드릴 1쪽 요약 보고서를 써 줘. 총 8건, 525개, 2,325,000원. 지점별 금액: 해운대 930,000원(3건), 서면 925,000원(3건), 광안리 470,000원(2건). 메뉴별 수량·금액: 아메리카노 300개·1,200,000원, 라떼 150개·675,000원, 케이크 75개·450,000원. 형식은 제목, 요약 3줄, 지점별 표, 메뉴별 표, 시사점 3가지. 비중(%)은 소수 첫째 자리까지. 주어진 숫자 외의 수치는 만들지 마.</a:t>
            </a:r>
            <a:endParaRPr lang="en-US" sz="1200" dirty="0"/>
          </a:p>
        </p:txBody>
      </p:sp>
      <p:sp>
        <p:nvSpPr>
          <p:cNvPr id="7" name="Shape 5"/>
          <p:cNvSpPr/>
          <p:nvPr/>
        </p:nvSpPr>
        <p:spPr>
          <a:xfrm>
            <a:off x="812800" y="3680023"/>
            <a:ext cx="5207000" cy="1137741"/>
          </a:xfrm>
          <a:prstGeom prst="roundRect">
            <a:avLst>
              <a:gd name="adj" fmla="val 8930"/>
            </a:avLst>
          </a:prstGeom>
          <a:solidFill>
            <a:srgbClr val="12304D"/>
          </a:solidFill>
          <a:ln/>
        </p:spPr>
      </p:sp>
      <p:sp>
        <p:nvSpPr>
          <p:cNvPr id="8" name="Text 6"/>
          <p:cNvSpPr/>
          <p:nvPr/>
        </p:nvSpPr>
        <p:spPr>
          <a:xfrm>
            <a:off x="1041400" y="3857823"/>
            <a:ext cx="489229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Arial" pitchFamily="34" charset="0"/>
                <a:ea typeface="Arial" pitchFamily="34" charset="-122"/>
                <a:cs typeface="Arial" pitchFamily="34" charset="-120"/>
              </a:rPr>
              <a:t>요청 2 · 메일</a:t>
            </a:r>
            <a:endParaRPr lang="en-US" sz="1300" dirty="0"/>
          </a:p>
        </p:txBody>
      </p:sp>
      <p:sp>
        <p:nvSpPr>
          <p:cNvPr id="9" name="Text 7"/>
          <p:cNvSpPr/>
          <p:nvPr/>
        </p:nvSpPr>
        <p:spPr>
          <a:xfrm>
            <a:off x="1041400" y="4152404"/>
            <a:ext cx="4892294" cy="51296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F4EF"/>
                </a:solidFill>
                <a:latin typeface="Arial" pitchFamily="34" charset="0"/>
                <a:ea typeface="Arial" pitchFamily="34" charset="-122"/>
                <a:cs typeface="Arial" pitchFamily="34" charset="-120"/>
              </a:rPr>
              <a:t>이 보고서를 첨부해서 팀장님께 보내는 보고 메일을 써 줘. 핵심 수치 3가지만 본문에 넣고, 정중한 존댓말로 8줄 이내.</a:t>
            </a:r>
            <a:endParaRPr lang="en-US" sz="1200" dirty="0"/>
          </a:p>
        </p:txBody>
      </p:sp>
      <p:sp>
        <p:nvSpPr>
          <p:cNvPr id="10" name="Shape 8"/>
          <p:cNvSpPr/>
          <p:nvPr/>
        </p:nvSpPr>
        <p:spPr>
          <a:xfrm>
            <a:off x="6172200" y="3680023"/>
            <a:ext cx="5207000" cy="1137741"/>
          </a:xfrm>
          <a:prstGeom prst="roundRect">
            <a:avLst>
              <a:gd name="adj" fmla="val 8930"/>
            </a:avLst>
          </a:prstGeom>
          <a:solidFill>
            <a:srgbClr val="12304D"/>
          </a:solidFill>
          <a:ln/>
        </p:spPr>
      </p:sp>
      <p:sp>
        <p:nvSpPr>
          <p:cNvPr id="11" name="Text 9"/>
          <p:cNvSpPr/>
          <p:nvPr/>
        </p:nvSpPr>
        <p:spPr>
          <a:xfrm>
            <a:off x="6400800" y="3857823"/>
            <a:ext cx="489229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Arial" pitchFamily="34" charset="0"/>
                <a:ea typeface="Arial" pitchFamily="34" charset="-122"/>
                <a:cs typeface="Arial" pitchFamily="34" charset="-120"/>
              </a:rPr>
              <a:t>요청 3 · 공지</a:t>
            </a:r>
            <a:endParaRPr lang="en-US" sz="1300" dirty="0"/>
          </a:p>
        </p:txBody>
      </p:sp>
      <p:sp>
        <p:nvSpPr>
          <p:cNvPr id="12" name="Text 10"/>
          <p:cNvSpPr/>
          <p:nvPr/>
        </p:nvSpPr>
        <p:spPr>
          <a:xfrm>
            <a:off x="6400800" y="4152404"/>
            <a:ext cx="4892294" cy="51296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5F4EF"/>
                </a:solidFill>
                <a:latin typeface="Arial" pitchFamily="34" charset="0"/>
                <a:ea typeface="Arial" pitchFamily="34" charset="-122"/>
                <a:cs typeface="Arial" pitchFamily="34" charset="-120"/>
              </a:rPr>
              <a:t>지점장 단체 메신저에 올릴 3줄 공지로 바꿔 줘. 한 줄에 한 가지 내용만.</a:t>
            </a:r>
            <a:endParaRPr lang="en-US" sz="1200" dirty="0"/>
          </a:p>
        </p:txBody>
      </p:sp>
      <p:sp>
        <p:nvSpPr>
          <p:cNvPr id="13" name="Text 11"/>
          <p:cNvSpPr/>
          <p:nvPr/>
        </p:nvSpPr>
        <p:spPr>
          <a:xfrm>
            <a:off x="812800" y="5046365"/>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304D"/>
                </a:solidFill>
                <a:latin typeface="Arial" pitchFamily="34" charset="0"/>
                <a:ea typeface="Arial" pitchFamily="34" charset="-122"/>
                <a:cs typeface="Arial" pitchFamily="34" charset="-120"/>
              </a:rPr>
              <a:t>검증 · 비중을 엑셀로 다시 계산하고, AI가 덧붙인 ‘주말 매출 증가 예상’ 문장은 삭제했습니다.</a:t>
            </a:r>
            <a:endParaRPr lang="en-US" sz="13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E8EEF2"/>
        </a:solidFill>
      </p:bgPr>
    </p:bg>
    <p:spTree>
      <p:nvGrpSpPr>
        <p:cNvPr id="1" name=""/>
        <p:cNvGrpSpPr/>
        <p:nvPr/>
      </p:nvGrpSpPr>
      <p:grpSpPr>
        <a:xfrm>
          <a:off x="0" y="0"/>
          <a:ext cx="0" cy="0"/>
          <a:chOff x="0" y="0"/>
          <a:chExt cx="0" cy="0"/>
        </a:xfrm>
      </p:grpSpPr>
      <p:sp>
        <p:nvSpPr>
          <p:cNvPr id="2" name="Text 0"/>
          <p:cNvSpPr/>
          <p:nvPr/>
        </p:nvSpPr>
        <p:spPr>
          <a:xfrm>
            <a:off x="812800" y="7112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종합 실습 · 예시 답안 ③ 실적 요약 보고서</a:t>
            </a:r>
            <a:endParaRPr lang="en-US" sz="1400" dirty="0"/>
          </a:p>
        </p:txBody>
      </p:sp>
      <p:sp>
        <p:nvSpPr>
          <p:cNvPr id="3" name="Shape 1"/>
          <p:cNvSpPr/>
          <p:nvPr/>
        </p:nvSpPr>
        <p:spPr>
          <a:xfrm>
            <a:off x="815975" y="1141016"/>
            <a:ext cx="10560050" cy="3611959"/>
          </a:xfrm>
          <a:prstGeom prst="roundRect">
            <a:avLst>
              <a:gd name="adj" fmla="val 2725"/>
            </a:avLst>
          </a:prstGeom>
          <a:solidFill>
            <a:srgbClr val="FCFCFA"/>
          </a:solidFill>
          <a:ln w="6350">
            <a:solidFill>
              <a:srgbClr val="BFD0DE"/>
            </a:solidFill>
            <a:prstDash val="solid"/>
          </a:ln>
        </p:spPr>
      </p:sp>
      <p:sp>
        <p:nvSpPr>
          <p:cNvPr id="4" name="Text 2"/>
          <p:cNvSpPr/>
          <p:nvPr>
            <p:ph type="title"/>
          </p:nvPr>
        </p:nvSpPr>
        <p:spPr>
          <a:xfrm>
            <a:off x="1073150" y="1347391"/>
            <a:ext cx="4748570" cy="299641"/>
          </a:xfrm>
          <a:prstGeom prst="rect">
            <a:avLst/>
          </a:prstGeom>
          <a:noFill/>
          <a:ln/>
        </p:spPr>
        <p:txBody>
          <a:bodyPr wrap="square" lIns="0" tIns="0" rIns="0" bIns="0" rtlCol="0" anchor="t">
            <a:normAutofit/>
          </a:bodyPr>
          <a:lstStyle/>
          <a:p>
            <a:pPr algn="l" indent="0" marL="0">
              <a:lnSpc>
                <a:spcPts val="2160"/>
              </a:lnSpc>
              <a:buNone/>
            </a:pPr>
            <a:r>
              <a:rPr lang="en-US" sz="1800" b="1" i="0" dirty="0">
                <a:solidFill>
                  <a:srgbClr val="12304D"/>
                </a:solidFill>
                <a:latin typeface="Arial" pitchFamily="34" charset="0"/>
                <a:ea typeface="Arial" pitchFamily="34" charset="-122"/>
                <a:cs typeface="Arial" pitchFamily="34" charset="-120"/>
              </a:rPr>
              <a:t>10월 12일~15일 지점별 판매 실적 보고</a:t>
            </a:r>
            <a:endParaRPr lang="en-US" sz="1800" dirty="0"/>
          </a:p>
        </p:txBody>
      </p:sp>
      <p:sp>
        <p:nvSpPr>
          <p:cNvPr id="5" name="Text 3"/>
          <p:cNvSpPr/>
          <p:nvPr/>
        </p:nvSpPr>
        <p:spPr>
          <a:xfrm>
            <a:off x="9075738" y="1404541"/>
            <a:ext cx="20431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7"/>
                </a:solidFill>
                <a:latin typeface="Arial" pitchFamily="34" charset="0"/>
                <a:ea typeface="Arial" pitchFamily="34" charset="-122"/>
                <a:cs typeface="Arial" pitchFamily="34" charset="-120"/>
              </a:rPr>
              <a:t>운영지원팀 · 2026.10.19.</a:t>
            </a:r>
            <a:endParaRPr lang="en-US" sz="1200" dirty="0"/>
          </a:p>
        </p:txBody>
      </p:sp>
      <p:sp>
        <p:nvSpPr>
          <p:cNvPr id="6" name="Text 4"/>
          <p:cNvSpPr/>
          <p:nvPr/>
        </p:nvSpPr>
        <p:spPr>
          <a:xfrm>
            <a:off x="1073150" y="1723231"/>
            <a:ext cx="10347071" cy="497681"/>
          </a:xfrm>
          <a:prstGeom prst="rect">
            <a:avLst/>
          </a:prstGeom>
          <a:noFill/>
          <a:ln/>
        </p:spPr>
        <p:txBody>
          <a:bodyPr wrap="square" lIns="0" tIns="0" rIns="0" bIns="0" rtlCol="0" anchor="t">
            <a:normAutofit/>
          </a:bodyPr>
          <a:lstStyle/>
          <a:p>
            <a:pPr algn="l" indent="0" marL="0">
              <a:lnSpc>
                <a:spcPts val="1860"/>
              </a:lnSpc>
              <a:buNone/>
            </a:pPr>
            <a:r>
              <a:rPr lang="en-US" sz="1200" b="1" dirty="0">
                <a:solidFill>
                  <a:srgbClr val="12304D"/>
                </a:solidFill>
                <a:latin typeface="Arial" pitchFamily="34" charset="0"/>
                <a:ea typeface="Arial" pitchFamily="34" charset="-122"/>
                <a:cs typeface="Arial" pitchFamily="34" charset="-120"/>
              </a:rPr>
              <a:t>요약</a:t>
            </a:r>
            <a:r>
              <a:rPr lang="en-US" sz="1200" dirty="0">
                <a:solidFill>
                  <a:srgbClr val="3D4A57"/>
                </a:solidFill>
                <a:latin typeface="Arial" pitchFamily="34" charset="0"/>
                <a:ea typeface="Arial" pitchFamily="34" charset="-122"/>
                <a:cs typeface="Arial" pitchFamily="34" charset="-120"/>
              </a:rPr>
              <a:t>　① 기간 중 판매 8건, 525개, 총 2,325,000원　② 해운대(930,000원)와 서면(925,000원)이 비슷하고 광안리는 절반 수준　③ 아메리카노가 금액의 51.6%로 절반 이상 차지</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85850" y="2309813"/>
          <a:ext cx="4921250" cy="1662906"/>
        </p:xfrm>
        <a:graphic>
          <a:graphicData uri="http://schemas.openxmlformats.org/drawingml/2006/table">
            <a:tbl>
              <a:tblPr/>
              <a:tblGrid>
                <a:gridCol w="1082675"/>
                <a:gridCol w="1771650"/>
                <a:gridCol w="1082675"/>
                <a:gridCol w="984250"/>
              </a:tblGrid>
              <a:tr h="332581">
                <a:tc>
                  <a:txBody>
                    <a:bodyPr/>
                    <a:lstStyle/>
                    <a:p>
                      <a:pPr indent="0" marL="0">
                        <a:lnSpc>
                          <a:spcPts val="1680"/>
                        </a:lnSpc>
                        <a:buNone/>
                      </a:pPr>
                      <a:r>
                        <a:rPr lang="en-US" sz="1200" b="1" dirty="0">
                          <a:solidFill>
                            <a:srgbClr val="F5F4EF"/>
                          </a:solidFill>
                          <a:latin typeface="Arial" pitchFamily="34" charset="0"/>
                          <a:ea typeface="Arial" pitchFamily="34" charset="-122"/>
                          <a:cs typeface="Arial" pitchFamily="34" charset="-120"/>
                        </a:rPr>
                        <a:t>지점</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algn="r" indent="0" marL="0">
                        <a:lnSpc>
                          <a:spcPts val="1680"/>
                        </a:lnSpc>
                        <a:buNone/>
                      </a:pPr>
                      <a:r>
                        <a:rPr lang="en-US" sz="1200" b="1" dirty="0">
                          <a:solidFill>
                            <a:srgbClr val="F5F4EF"/>
                          </a:solidFill>
                          <a:latin typeface="Arial" pitchFamily="34" charset="0"/>
                          <a:ea typeface="Arial" pitchFamily="34" charset="-122"/>
                          <a:cs typeface="Arial" pitchFamily="34" charset="-120"/>
                        </a:rPr>
                        <a:t>금액(원)</a:t>
                      </a:r>
                      <a:endParaRPr lang="en-US" sz="1200" dirty="0">
                        <a:latin typeface="Arial" charset="0"/>
                        <a:ea typeface="Arial" charset="0"/>
                        <a:cs typeface="Arial" charset="0"/>
                      </a:endParaRPr>
                    </a:p>
                  </a:txBody>
                  <a:tcPr marL="53340" marR="53340" marT="53340" marB="5334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algn="r" indent="0" marL="0">
                        <a:lnSpc>
                          <a:spcPts val="1680"/>
                        </a:lnSpc>
                        <a:buNone/>
                      </a:pPr>
                      <a:r>
                        <a:rPr lang="en-US" sz="1200" b="1" dirty="0">
                          <a:solidFill>
                            <a:srgbClr val="F5F4EF"/>
                          </a:solidFill>
                          <a:latin typeface="Arial" pitchFamily="34" charset="0"/>
                          <a:ea typeface="Arial" pitchFamily="34" charset="-122"/>
                          <a:cs typeface="Arial" pitchFamily="34" charset="-120"/>
                        </a:rPr>
                        <a:t>비중</a:t>
                      </a:r>
                      <a:endParaRPr lang="en-US" sz="1200" dirty="0">
                        <a:latin typeface="Arial" charset="0"/>
                        <a:ea typeface="Arial" charset="0"/>
                        <a:cs typeface="Arial" charset="0"/>
                      </a:endParaRPr>
                    </a:p>
                  </a:txBody>
                  <a:tcPr marL="53340" marR="53340" marT="53340" marB="5334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algn="r" indent="0" marL="0">
                        <a:lnSpc>
                          <a:spcPts val="1680"/>
                        </a:lnSpc>
                        <a:buNone/>
                      </a:pPr>
                      <a:r>
                        <a:rPr lang="en-US" sz="1200" b="1" dirty="0">
                          <a:solidFill>
                            <a:srgbClr val="F5F4EF"/>
                          </a:solidFill>
                          <a:latin typeface="Arial" pitchFamily="34" charset="0"/>
                          <a:ea typeface="Arial" pitchFamily="34" charset="-122"/>
                          <a:cs typeface="Arial" pitchFamily="34" charset="-120"/>
                        </a:rPr>
                        <a:t>건수</a:t>
                      </a:r>
                      <a:endParaRPr lang="en-US" sz="1200" dirty="0">
                        <a:latin typeface="Arial" charset="0"/>
                        <a:ea typeface="Arial" charset="0"/>
                        <a:cs typeface="Arial" charset="0"/>
                      </a:endParaRPr>
                    </a:p>
                  </a:txBody>
                  <a:tcPr marL="53340" marR="53340" marT="53340" marB="5334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해운대</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930,000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40.0%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서면</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925,000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39.8%</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광안리</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470,000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20.2%</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합계</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2,325,000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100.0%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bl>
          </a:graphicData>
        </a:graphic>
      </p:graphicFrame>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6197600" y="2309813"/>
          <a:ext cx="4921250" cy="1662906"/>
        </p:xfrm>
        <a:graphic>
          <a:graphicData uri="http://schemas.openxmlformats.org/drawingml/2006/table">
            <a:tbl>
              <a:tblPr/>
              <a:tblGrid>
                <a:gridCol w="1377950"/>
                <a:gridCol w="787400"/>
                <a:gridCol w="1673225"/>
                <a:gridCol w="1082675"/>
              </a:tblGrid>
              <a:tr h="332581">
                <a:tc>
                  <a:txBody>
                    <a:bodyPr/>
                    <a:lstStyle/>
                    <a:p>
                      <a:pPr indent="0" marL="0">
                        <a:lnSpc>
                          <a:spcPts val="1680"/>
                        </a:lnSpc>
                        <a:buNone/>
                      </a:pPr>
                      <a:r>
                        <a:rPr lang="en-US" sz="1200" b="1" dirty="0">
                          <a:solidFill>
                            <a:srgbClr val="F5F4EF"/>
                          </a:solidFill>
                          <a:latin typeface="Arial" pitchFamily="34" charset="0"/>
                          <a:ea typeface="Arial" pitchFamily="34" charset="-122"/>
                          <a:cs typeface="Arial" pitchFamily="34" charset="-120"/>
                        </a:rPr>
                        <a:t>메뉴</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algn="r" indent="0" marL="0">
                        <a:lnSpc>
                          <a:spcPts val="1680"/>
                        </a:lnSpc>
                        <a:buNone/>
                      </a:pPr>
                      <a:r>
                        <a:rPr lang="en-US" sz="1200" b="1" dirty="0">
                          <a:solidFill>
                            <a:srgbClr val="F5F4EF"/>
                          </a:solidFill>
                          <a:latin typeface="Arial" pitchFamily="34" charset="0"/>
                          <a:ea typeface="Arial" pitchFamily="34" charset="-122"/>
                          <a:cs typeface="Arial" pitchFamily="34" charset="-120"/>
                        </a:rPr>
                        <a:t>수량</a:t>
                      </a:r>
                      <a:endParaRPr lang="en-US" sz="1200" dirty="0">
                        <a:latin typeface="Arial" charset="0"/>
                        <a:ea typeface="Arial" charset="0"/>
                        <a:cs typeface="Arial" charset="0"/>
                      </a:endParaRPr>
                    </a:p>
                  </a:txBody>
                  <a:tcPr marL="53340" marR="53340" marT="53340" marB="5334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algn="r" indent="0" marL="0">
                        <a:lnSpc>
                          <a:spcPts val="1680"/>
                        </a:lnSpc>
                        <a:buNone/>
                      </a:pPr>
                      <a:r>
                        <a:rPr lang="en-US" sz="1200" b="1" dirty="0">
                          <a:solidFill>
                            <a:srgbClr val="F5F4EF"/>
                          </a:solidFill>
                          <a:latin typeface="Arial" pitchFamily="34" charset="0"/>
                          <a:ea typeface="Arial" pitchFamily="34" charset="-122"/>
                          <a:cs typeface="Arial" pitchFamily="34" charset="-120"/>
                        </a:rPr>
                        <a:t>금액(원)</a:t>
                      </a:r>
                      <a:endParaRPr lang="en-US" sz="1200" dirty="0">
                        <a:latin typeface="Arial" charset="0"/>
                        <a:ea typeface="Arial" charset="0"/>
                        <a:cs typeface="Arial" charset="0"/>
                      </a:endParaRPr>
                    </a:p>
                  </a:txBody>
                  <a:tcPr marL="53340" marR="53340" marT="53340" marB="5334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c>
                  <a:txBody>
                    <a:bodyPr/>
                    <a:lstStyle/>
                    <a:p>
                      <a:pPr algn="r" indent="0" marL="0">
                        <a:lnSpc>
                          <a:spcPts val="1680"/>
                        </a:lnSpc>
                        <a:buNone/>
                      </a:pPr>
                      <a:r>
                        <a:rPr lang="en-US" sz="1200" b="1" dirty="0">
                          <a:solidFill>
                            <a:srgbClr val="F5F4EF"/>
                          </a:solidFill>
                          <a:latin typeface="Arial" pitchFamily="34" charset="0"/>
                          <a:ea typeface="Arial" pitchFamily="34" charset="-122"/>
                          <a:cs typeface="Arial" pitchFamily="34" charset="-120"/>
                        </a:rPr>
                        <a:t>비중</a:t>
                      </a:r>
                      <a:endParaRPr lang="en-US" sz="1200" dirty="0">
                        <a:latin typeface="Arial" charset="0"/>
                        <a:ea typeface="Arial" charset="0"/>
                        <a:cs typeface="Arial" charset="0"/>
                      </a:endParaRPr>
                    </a:p>
                  </a:txBody>
                  <a:tcPr marL="53340" marR="53340" marT="53340" marB="53340" anchor="t">
                    <a:lnL w="12700" cap="flat" cmpd="sng" algn="ctr">
                      <a:solidFill>
                        <a:srgbClr val="122A40"/>
                      </a:solidFill>
                      <a:prstDash val="solid"/>
                      <a:round/>
                      <a:headEnd type="none" w="med" len="med"/>
                      <a:tailEnd type="none" w="med" len="med"/>
                    </a:lnL>
                    <a:lnR w="12700" cap="flat" cmpd="sng" algn="ctr">
                      <a:solidFill>
                        <a:srgbClr val="122A40"/>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122A40"/>
                      </a:solidFill>
                      <a:prstDash val="solid"/>
                      <a:round/>
                      <a:headEnd type="none" w="med" len="med"/>
                      <a:tailEnd type="none" w="med" len="med"/>
                    </a:lnB>
                    <a:solidFill>
                      <a:srgbClr val="12304D"/>
                    </a:solidFill>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아메리카노</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300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1,200,000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51.6%</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122A40"/>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라떼</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150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675,000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29.0%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케이크</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75</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450,000</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19.4%</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BCBEBB"/>
                      </a:solidFill>
                      <a:prstDash val="solid"/>
                      <a:round/>
                      <a:headEnd type="none" w="med" len="med"/>
                      <a:tailEnd type="none" w="med" len="med"/>
                    </a:lnT>
                    <a:lnB w="12700" cap="flat" cmpd="sng" algn="ctr">
                      <a:solidFill>
                        <a:srgbClr val="C9C9C7"/>
                      </a:solidFill>
                      <a:prstDash val="solid"/>
                      <a:round/>
                      <a:headEnd type="none" w="med" len="med"/>
                      <a:tailEnd type="none" w="med" len="med"/>
                    </a:lnB>
                  </a:tcPr>
                </a:tc>
              </a:tr>
              <a:tr h="332581">
                <a:tc>
                  <a:txBody>
                    <a:bodyPr/>
                    <a:lstStyle/>
                    <a:p>
                      <a:pPr indent="0" marL="0">
                        <a:lnSpc>
                          <a:spcPts val="1680"/>
                        </a:lnSpc>
                        <a:buNone/>
                      </a:pPr>
                      <a:r>
                        <a:rPr lang="en-US" sz="1200" dirty="0">
                          <a:solidFill>
                            <a:srgbClr val="12304D"/>
                          </a:solidFill>
                          <a:latin typeface="Arial" pitchFamily="34" charset="0"/>
                          <a:ea typeface="Arial" pitchFamily="34" charset="-122"/>
                          <a:cs typeface="Arial" pitchFamily="34" charset="-120"/>
                        </a:rPr>
                        <a:t>합계</a:t>
                      </a:r>
                      <a:endParaRPr lang="en-US" sz="1200" dirty="0">
                        <a:latin typeface="Arial" charset="0"/>
                        <a:ea typeface="Arial" charset="0"/>
                        <a:cs typeface="Arial" charset="0"/>
                      </a:endParaRPr>
                    </a:p>
                  </a:txBody>
                  <a:tcPr marL="53340" marR="53340" marT="53340" marB="53340" anchor="t">
                    <a:lnL w="12700" cap="flat" cmpd="sng" algn="ctr">
                      <a:solidFill>
                        <a:srgbClr val="C9C9C7"/>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525</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2,325,000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c>
                  <a:txBody>
                    <a:bodyPr/>
                    <a:lstStyle/>
                    <a:p>
                      <a:pPr algn="r" indent="0" marL="0">
                        <a:lnSpc>
                          <a:spcPts val="1680"/>
                        </a:lnSpc>
                        <a:buNone/>
                      </a:pPr>
                      <a:r>
                        <a:rPr lang="en-US" sz="1200" dirty="0">
                          <a:solidFill>
                            <a:srgbClr val="12304D"/>
                          </a:solidFill>
                          <a:latin typeface="Arial" pitchFamily="34" charset="0"/>
                          <a:ea typeface="Arial" pitchFamily="34" charset="-122"/>
                          <a:cs typeface="Arial" pitchFamily="34" charset="-120"/>
                        </a:rPr>
                        <a:t>100.0%</a:t>
                      </a:r>
                      <a:endParaRPr lang="en-US" sz="1200" dirty="0">
                        <a:latin typeface="Arial" charset="0"/>
                        <a:ea typeface="Arial" charset="0"/>
                        <a:cs typeface="Arial" charset="0"/>
                      </a:endParaRPr>
                    </a:p>
                  </a:txBody>
                  <a:tcPr marL="53340" marR="53340" marT="53340" marB="53340" anchor="t">
                    <a:lnL w="12700" cap="flat" cmpd="sng" algn="ctr">
                      <a:solidFill>
                        <a:srgbClr val="BCBEBB"/>
                      </a:solidFill>
                      <a:prstDash val="solid"/>
                      <a:round/>
                      <a:headEnd type="none" w="med" len="med"/>
                      <a:tailEnd type="none" w="med" len="med"/>
                    </a:lnL>
                    <a:lnR w="12700" cap="flat" cmpd="sng" algn="ctr">
                      <a:solidFill>
                        <a:srgbClr val="BCBEBB"/>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BCBEBB"/>
                      </a:solidFill>
                      <a:prstDash val="solid"/>
                      <a:round/>
                      <a:headEnd type="none" w="med" len="med"/>
                      <a:tailEnd type="none" w="med" len="med"/>
                    </a:lnB>
                    <a:solidFill>
                      <a:srgbClr val="ECEEEA"/>
                    </a:solidFill>
                  </a:tcPr>
                </a:tc>
              </a:tr>
            </a:tbl>
          </a:graphicData>
        </a:graphic>
      </p:graphicFrame>
      <p:sp>
        <p:nvSpPr>
          <p:cNvPr id="9" name="Text 5"/>
          <p:cNvSpPr/>
          <p:nvPr/>
        </p:nvSpPr>
        <p:spPr>
          <a:xfrm>
            <a:off x="1073150" y="4074319"/>
            <a:ext cx="10347071" cy="497681"/>
          </a:xfrm>
          <a:prstGeom prst="rect">
            <a:avLst/>
          </a:prstGeom>
          <a:noFill/>
          <a:ln/>
        </p:spPr>
        <p:txBody>
          <a:bodyPr wrap="square" lIns="0" tIns="0" rIns="0" bIns="0" rtlCol="0" anchor="t">
            <a:normAutofit/>
          </a:bodyPr>
          <a:lstStyle/>
          <a:p>
            <a:pPr algn="l" indent="0" marL="0">
              <a:lnSpc>
                <a:spcPts val="1860"/>
              </a:lnSpc>
              <a:buNone/>
            </a:pPr>
            <a:r>
              <a:rPr lang="en-US" sz="1200" b="1" dirty="0">
                <a:solidFill>
                  <a:srgbClr val="12304D"/>
                </a:solidFill>
                <a:latin typeface="Arial" pitchFamily="34" charset="0"/>
                <a:ea typeface="Arial" pitchFamily="34" charset="-122"/>
                <a:cs typeface="Arial" pitchFamily="34" charset="-120"/>
              </a:rPr>
              <a:t>시사점</a:t>
            </a:r>
            <a:r>
              <a:rPr lang="en-US" sz="1200" dirty="0">
                <a:solidFill>
                  <a:srgbClr val="3D4A57"/>
                </a:solidFill>
                <a:latin typeface="Arial" pitchFamily="34" charset="0"/>
                <a:ea typeface="Arial" pitchFamily="34" charset="-122"/>
                <a:cs typeface="Arial" pitchFamily="34" charset="-120"/>
              </a:rPr>
              <a:t>　① 해운대와 서면의 금액 차이는 5,000원으로 거의 같음　② 아메리카노는 수량 57.1%, 금액 51.6%로 핵심 메뉴　③ 케이크는 수량 비중 14.3%지만 단가가 높아 금액 비중 19.4% · 4일(8건) 자료라 요일별 판단에는 추가 데이터 필요</a:t>
            </a:r>
            <a:endParaRPr lang="en-US" sz="1200" dirty="0"/>
          </a:p>
        </p:txBody>
      </p:sp>
      <p:sp>
        <p:nvSpPr>
          <p:cNvPr id="10"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 · 강사 시연용 가상 데이터</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E8EE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종합 실습 · 예시 답안 ④ 메일과 공지</a:t>
            </a:r>
            <a:endParaRPr lang="en-US" sz="1400" dirty="0"/>
          </a:p>
        </p:txBody>
      </p:sp>
      <p:sp>
        <p:nvSpPr>
          <p:cNvPr id="3" name="Text 1"/>
          <p:cNvSpPr/>
          <p:nvPr>
            <p:ph type="title"/>
          </p:nvPr>
        </p:nvSpPr>
        <p:spPr>
          <a:xfrm>
            <a:off x="812800" y="1137841"/>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304D"/>
                </a:solidFill>
                <a:latin typeface="Arial" pitchFamily="34" charset="0"/>
                <a:ea typeface="Arial" pitchFamily="34" charset="-122"/>
                <a:cs typeface="Arial" pitchFamily="34" charset="-120"/>
              </a:rPr>
              <a:t>같은 내용을 받는 사람에 맞게 바꿨습니다</a:t>
            </a:r>
            <a:endParaRPr lang="en-US" sz="2800" dirty="0"/>
          </a:p>
        </p:txBody>
      </p:sp>
      <p:sp>
        <p:nvSpPr>
          <p:cNvPr id="4" name="Shape 2"/>
          <p:cNvSpPr/>
          <p:nvPr/>
        </p:nvSpPr>
        <p:spPr>
          <a:xfrm>
            <a:off x="815975" y="1778496"/>
            <a:ext cx="6255841" cy="3375025"/>
          </a:xfrm>
          <a:prstGeom prst="roundRect">
            <a:avLst>
              <a:gd name="adj" fmla="val 2916"/>
            </a:avLst>
          </a:prstGeom>
          <a:solidFill>
            <a:srgbClr val="FCFCFA"/>
          </a:solidFill>
          <a:ln w="6350">
            <a:solidFill>
              <a:srgbClr val="BFD0DE"/>
            </a:solidFill>
            <a:prstDash val="solid"/>
          </a:ln>
        </p:spPr>
      </p:sp>
      <p:sp>
        <p:nvSpPr>
          <p:cNvPr id="5" name="Text 3"/>
          <p:cNvSpPr/>
          <p:nvPr/>
        </p:nvSpPr>
        <p:spPr>
          <a:xfrm>
            <a:off x="1073150" y="1984871"/>
            <a:ext cx="591373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6F78"/>
                </a:solidFill>
                <a:latin typeface="Arial" pitchFamily="34" charset="0"/>
                <a:ea typeface="Arial" pitchFamily="34" charset="-122"/>
                <a:cs typeface="Arial" pitchFamily="34" charset="-120"/>
              </a:rPr>
              <a:t>보고 메일 · 팀장님께</a:t>
            </a:r>
            <a:endParaRPr lang="en-US" sz="1300" dirty="0"/>
          </a:p>
        </p:txBody>
      </p:sp>
      <p:sp>
        <p:nvSpPr>
          <p:cNvPr id="6" name="Text 4"/>
          <p:cNvSpPr/>
          <p:nvPr/>
        </p:nvSpPr>
        <p:spPr>
          <a:xfrm>
            <a:off x="1073150" y="2304852"/>
            <a:ext cx="5913736"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2304D"/>
                </a:solidFill>
                <a:latin typeface="Arial" pitchFamily="34" charset="0"/>
                <a:ea typeface="Arial" pitchFamily="34" charset="-122"/>
                <a:cs typeface="Arial" pitchFamily="34" charset="-120"/>
              </a:rPr>
              <a:t>제목</a:t>
            </a:r>
            <a:r>
              <a:rPr lang="en-US" sz="1200" dirty="0">
                <a:solidFill>
                  <a:srgbClr val="12304D"/>
                </a:solidFill>
                <a:latin typeface="Arial" pitchFamily="34" charset="0"/>
                <a:ea typeface="Arial" pitchFamily="34" charset="-122"/>
                <a:cs typeface="Arial" pitchFamily="34" charset="-120"/>
              </a:rPr>
              <a:t>　[보고] 10월 12일~15일 지점별 판매 실적</a:t>
            </a:r>
            <a:endParaRPr lang="en-US" sz="1200" dirty="0"/>
          </a:p>
        </p:txBody>
      </p:sp>
      <p:sp>
        <p:nvSpPr>
          <p:cNvPr id="7" name="Text 5"/>
          <p:cNvSpPr/>
          <p:nvPr/>
        </p:nvSpPr>
        <p:spPr>
          <a:xfrm>
            <a:off x="1073150" y="2622352"/>
            <a:ext cx="5913736" cy="1975644"/>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3D4A57"/>
                </a:solidFill>
                <a:latin typeface="Arial" pitchFamily="34" charset="0"/>
                <a:ea typeface="Arial" pitchFamily="34" charset="-122"/>
                <a:cs typeface="Arial" pitchFamily="34" charset="-120"/>
              </a:rPr>
              <a:t>팀장님, 안녕하세요. 운영지원팀 ○○○입니다.</a:t>
            </a:r>
            <a:endParaRPr lang="en-US" sz="1200" dirty="0"/>
          </a:p>
          <a:p>
            <a:pPr algn="l" indent="0" marL="0">
              <a:lnSpc>
                <a:spcPts val="1920"/>
              </a:lnSpc>
              <a:buNone/>
            </a:pPr>
            <a:r>
              <a:rPr lang="en-US" sz="1200" dirty="0">
                <a:solidFill>
                  <a:srgbClr val="3D4A57"/>
                </a:solidFill>
                <a:latin typeface="Arial" pitchFamily="34" charset="0"/>
                <a:ea typeface="Arial" pitchFamily="34" charset="-122"/>
                <a:cs typeface="Arial" pitchFamily="34" charset="-120"/>
              </a:rPr>
              <a:t>10월 12일~15일 3개 지점 판매 실적을 정리하여 보고드립니다.</a:t>
            </a:r>
            <a:endParaRPr lang="en-US" sz="1200" dirty="0"/>
          </a:p>
          <a:p>
            <a:pPr algn="l" indent="0" marL="0">
              <a:lnSpc>
                <a:spcPts val="1920"/>
              </a:lnSpc>
              <a:buNone/>
            </a:pPr>
            <a:r>
              <a:rPr lang="en-US" sz="1200" dirty="0">
                <a:solidFill>
                  <a:srgbClr val="3D4A57"/>
                </a:solidFill>
                <a:latin typeface="Arial" pitchFamily="34" charset="0"/>
                <a:ea typeface="Arial" pitchFamily="34" charset="-122"/>
                <a:cs typeface="Arial" pitchFamily="34" charset="-120"/>
              </a:rPr>
              <a:t>· 총 판매 8건, 525개, 2,325,000원</a:t>
            </a:r>
            <a:endParaRPr lang="en-US" sz="1200" dirty="0"/>
          </a:p>
          <a:p>
            <a:pPr algn="l" indent="0" marL="0">
              <a:lnSpc>
                <a:spcPts val="1920"/>
              </a:lnSpc>
              <a:buNone/>
            </a:pPr>
            <a:r>
              <a:rPr lang="en-US" sz="1200" dirty="0">
                <a:solidFill>
                  <a:srgbClr val="3D4A57"/>
                </a:solidFill>
                <a:latin typeface="Arial" pitchFamily="34" charset="0"/>
                <a:ea typeface="Arial" pitchFamily="34" charset="-122"/>
                <a:cs typeface="Arial" pitchFamily="34" charset="-120"/>
              </a:rPr>
              <a:t>· 지점별: 해운대 930,000원, 서면 925,000원으로 비슷함</a:t>
            </a:r>
            <a:endParaRPr lang="en-US" sz="1200" dirty="0"/>
          </a:p>
          <a:p>
            <a:pPr algn="l" indent="0" marL="0">
              <a:lnSpc>
                <a:spcPts val="1920"/>
              </a:lnSpc>
              <a:buNone/>
            </a:pPr>
            <a:r>
              <a:rPr lang="en-US" sz="1200" dirty="0">
                <a:solidFill>
                  <a:srgbClr val="3D4A57"/>
                </a:solidFill>
                <a:latin typeface="Arial" pitchFamily="34" charset="0"/>
                <a:ea typeface="Arial" pitchFamily="34" charset="-122"/>
                <a:cs typeface="Arial" pitchFamily="34" charset="-120"/>
              </a:rPr>
              <a:t>· 메뉴별: 아메리카노가 금액의 51.6% 차지</a:t>
            </a:r>
            <a:endParaRPr lang="en-US" sz="1200" dirty="0"/>
          </a:p>
          <a:p>
            <a:pPr algn="l" indent="0" marL="0">
              <a:lnSpc>
                <a:spcPts val="1920"/>
              </a:lnSpc>
              <a:buNone/>
            </a:pPr>
            <a:r>
              <a:rPr lang="en-US" sz="1200" dirty="0">
                <a:solidFill>
                  <a:srgbClr val="3D4A57"/>
                </a:solidFill>
                <a:latin typeface="Arial" pitchFamily="34" charset="0"/>
                <a:ea typeface="Arial" pitchFamily="34" charset="-122"/>
                <a:cs typeface="Arial" pitchFamily="34" charset="-120"/>
              </a:rPr>
              <a:t>자세한 내용은 첨부한 요약 보고서를 확인 부탁드립니다.</a:t>
            </a:r>
            <a:endParaRPr lang="en-US" sz="1200" dirty="0"/>
          </a:p>
          <a:p>
            <a:pPr algn="l" indent="0" marL="0">
              <a:lnSpc>
                <a:spcPts val="1920"/>
              </a:lnSpc>
              <a:buNone/>
            </a:pPr>
            <a:r>
              <a:rPr lang="en-US" sz="1200" dirty="0">
                <a:solidFill>
                  <a:srgbClr val="3D4A57"/>
                </a:solidFill>
                <a:latin typeface="Arial" pitchFamily="34" charset="0"/>
                <a:ea typeface="Arial" pitchFamily="34" charset="-122"/>
                <a:cs typeface="Arial" pitchFamily="34" charset="-120"/>
              </a:rPr>
              <a:t>추가로 필요한 자료가 있으시면 말씀해 주세요.</a:t>
            </a:r>
            <a:endParaRPr lang="en-US" sz="1200" dirty="0"/>
          </a:p>
          <a:p>
            <a:pPr algn="l" indent="0" marL="0">
              <a:lnSpc>
                <a:spcPts val="1920"/>
              </a:lnSpc>
              <a:buNone/>
            </a:pPr>
            <a:r>
              <a:rPr lang="en-US" sz="1200" dirty="0">
                <a:solidFill>
                  <a:srgbClr val="3D4A57"/>
                </a:solidFill>
                <a:latin typeface="Arial" pitchFamily="34" charset="0"/>
                <a:ea typeface="Arial" pitchFamily="34" charset="-122"/>
                <a:cs typeface="Arial" pitchFamily="34" charset="-120"/>
              </a:rPr>
              <a:t>감사합니다. ○○○ 드림</a:t>
            </a:r>
            <a:endParaRPr lang="en-US" sz="1200" dirty="0"/>
          </a:p>
        </p:txBody>
      </p:sp>
      <p:sp>
        <p:nvSpPr>
          <p:cNvPr id="8" name="Shape 6"/>
          <p:cNvSpPr/>
          <p:nvPr/>
        </p:nvSpPr>
        <p:spPr>
          <a:xfrm>
            <a:off x="7278191" y="1775321"/>
            <a:ext cx="4101009" cy="2129334"/>
          </a:xfrm>
          <a:prstGeom prst="roundRect">
            <a:avLst>
              <a:gd name="adj" fmla="val 4771"/>
            </a:avLst>
          </a:prstGeom>
          <a:solidFill>
            <a:srgbClr val="12304D"/>
          </a:solidFill>
          <a:ln/>
        </p:spPr>
      </p:sp>
      <p:sp>
        <p:nvSpPr>
          <p:cNvPr id="9" name="Text 7"/>
          <p:cNvSpPr/>
          <p:nvPr/>
        </p:nvSpPr>
        <p:spPr>
          <a:xfrm>
            <a:off x="7481391" y="1978521"/>
            <a:ext cx="380544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Arial" pitchFamily="34" charset="0"/>
                <a:ea typeface="Arial" pitchFamily="34" charset="-122"/>
                <a:cs typeface="Arial" pitchFamily="34" charset="-120"/>
              </a:rPr>
              <a:t>지점장 메신저 공지 · 3줄</a:t>
            </a:r>
            <a:endParaRPr lang="en-US" sz="1300" dirty="0"/>
          </a:p>
        </p:txBody>
      </p:sp>
      <p:sp>
        <p:nvSpPr>
          <p:cNvPr id="10" name="Text 8"/>
          <p:cNvSpPr/>
          <p:nvPr/>
        </p:nvSpPr>
        <p:spPr>
          <a:xfrm>
            <a:off x="7481391" y="2298502"/>
            <a:ext cx="3805447" cy="1428353"/>
          </a:xfrm>
          <a:prstGeom prst="rect">
            <a:avLst/>
          </a:prstGeom>
          <a:noFill/>
          <a:ln/>
        </p:spPr>
        <p:txBody>
          <a:bodyPr wrap="square" lIns="0" tIns="0" rIns="0" bIns="0" rtlCol="0" anchor="t">
            <a:normAutofit/>
          </a:bodyPr>
          <a:lstStyle/>
          <a:p>
            <a:pPr algn="l" indent="0" marL="0">
              <a:lnSpc>
                <a:spcPts val="2210"/>
              </a:lnSpc>
              <a:buNone/>
            </a:pPr>
            <a:r>
              <a:rPr lang="en-US" sz="1300" dirty="0">
                <a:solidFill>
                  <a:srgbClr val="F5F4EF"/>
                </a:solidFill>
                <a:latin typeface="Arial" pitchFamily="34" charset="0"/>
                <a:ea typeface="Arial" pitchFamily="34" charset="-122"/>
                <a:cs typeface="Arial" pitchFamily="34" charset="-120"/>
              </a:rPr>
              <a:t>10월 12~15일 3개 지점 판매: 총 2,325,000원</a:t>
            </a:r>
            <a:endParaRPr lang="en-US" sz="1300" dirty="0"/>
          </a:p>
          <a:p>
            <a:pPr algn="l" indent="0" marL="0">
              <a:lnSpc>
                <a:spcPts val="2210"/>
              </a:lnSpc>
              <a:buNone/>
            </a:pPr>
            <a:r>
              <a:rPr lang="en-US" sz="1300" dirty="0">
                <a:solidFill>
                  <a:srgbClr val="F5F4EF"/>
                </a:solidFill>
                <a:latin typeface="Arial" pitchFamily="34" charset="0"/>
                <a:ea typeface="Arial" pitchFamily="34" charset="-122"/>
                <a:cs typeface="Arial" pitchFamily="34" charset="-120"/>
              </a:rPr>
              <a:t>해운대 930,000원 · 서면 925,000원 · 광안리 470,000원</a:t>
            </a:r>
            <a:endParaRPr lang="en-US" sz="1300" dirty="0"/>
          </a:p>
          <a:p>
            <a:pPr algn="l" indent="0" marL="0">
              <a:lnSpc>
                <a:spcPts val="2210"/>
              </a:lnSpc>
              <a:buNone/>
            </a:pPr>
            <a:r>
              <a:rPr lang="en-US" sz="1300" dirty="0">
                <a:solidFill>
                  <a:srgbClr val="F5F4EF"/>
                </a:solidFill>
                <a:latin typeface="Arial" pitchFamily="34" charset="0"/>
                <a:ea typeface="Arial" pitchFamily="34" charset="-122"/>
                <a:cs typeface="Arial" pitchFamily="34" charset="-120"/>
              </a:rPr>
              <a:t>메뉴 1위 아메리카노(300잔), 상세 자료는 공유 폴더 참고</a:t>
            </a:r>
            <a:endParaRPr lang="en-US" sz="1300" dirty="0"/>
          </a:p>
        </p:txBody>
      </p:sp>
      <p:sp>
        <p:nvSpPr>
          <p:cNvPr id="11" name="Shape 9"/>
          <p:cNvSpPr/>
          <p:nvPr/>
        </p:nvSpPr>
        <p:spPr>
          <a:xfrm>
            <a:off x="7278191" y="4031655"/>
            <a:ext cx="4101009" cy="1125041"/>
          </a:xfrm>
          <a:prstGeom prst="roundRect">
            <a:avLst>
              <a:gd name="adj" fmla="val 9031"/>
            </a:avLst>
          </a:prstGeom>
          <a:solidFill>
            <a:srgbClr val="FCFCFA"/>
          </a:solidFill>
          <a:ln/>
        </p:spPr>
      </p:sp>
      <p:sp>
        <p:nvSpPr>
          <p:cNvPr id="12" name="Text 10"/>
          <p:cNvSpPr/>
          <p:nvPr/>
        </p:nvSpPr>
        <p:spPr>
          <a:xfrm>
            <a:off x="7481391" y="4209455"/>
            <a:ext cx="380544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304D"/>
                </a:solidFill>
                <a:latin typeface="Arial" pitchFamily="34" charset="0"/>
                <a:ea typeface="Arial" pitchFamily="34" charset="-122"/>
                <a:cs typeface="Arial" pitchFamily="34" charset="-120"/>
              </a:rPr>
              <a:t>점검표 결과</a:t>
            </a:r>
            <a:endParaRPr lang="en-US" sz="1300" dirty="0"/>
          </a:p>
        </p:txBody>
      </p:sp>
      <p:sp>
        <p:nvSpPr>
          <p:cNvPr id="13" name="Text 11"/>
          <p:cNvSpPr/>
          <p:nvPr/>
        </p:nvSpPr>
        <p:spPr>
          <a:xfrm>
            <a:off x="7481391" y="4491335"/>
            <a:ext cx="3805447" cy="51296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3D4A57"/>
                </a:solidFill>
                <a:latin typeface="Arial" pitchFamily="34" charset="0"/>
                <a:ea typeface="Arial" pitchFamily="34" charset="-122"/>
                <a:cs typeface="Arial" pitchFamily="34" charset="-120"/>
              </a:rPr>
              <a:t>정확성 ✓ 완성도 ✓ 프롬프트 ✓</a:t>
            </a:r>
            <a:endParaRPr lang="en-US" sz="1200" dirty="0"/>
          </a:p>
          <a:p>
            <a:pPr algn="l" indent="0" marL="0">
              <a:lnSpc>
                <a:spcPts val="1920"/>
              </a:lnSpc>
              <a:buNone/>
            </a:pPr>
            <a:r>
              <a:rPr lang="en-US" sz="1200" dirty="0">
                <a:solidFill>
                  <a:srgbClr val="3D4A57"/>
                </a:solidFill>
                <a:latin typeface="Arial" pitchFamily="34" charset="0"/>
                <a:ea typeface="Arial" pitchFamily="34" charset="-122"/>
                <a:cs typeface="Arial" pitchFamily="34" charset="-120"/>
              </a:rPr>
              <a:t>보안 ✓ 표현 ✓</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 · ○○○ 자리에는 본인 이름을 넣습니다</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64F16"/>
                </a:solidFill>
                <a:latin typeface="Arial" pitchFamily="34" charset="0"/>
                <a:ea typeface="Arial" pitchFamily="34" charset="-122"/>
                <a:cs typeface="Arial" pitchFamily="34" charset="-120"/>
              </a:rPr>
              <a:t>오늘의 정리</a:t>
            </a:r>
            <a:endParaRPr lang="en-US" sz="1400" dirty="0"/>
          </a:p>
        </p:txBody>
      </p:sp>
      <p:sp>
        <p:nvSpPr>
          <p:cNvPr id="3" name="Text 1"/>
          <p:cNvSpPr/>
          <p:nvPr>
            <p:ph type="title"/>
          </p:nvPr>
        </p:nvSpPr>
        <p:spPr>
          <a:xfrm>
            <a:off x="812800" y="1137841"/>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304D"/>
                </a:solidFill>
                <a:latin typeface="Arial" pitchFamily="34" charset="0"/>
                <a:ea typeface="Arial" pitchFamily="34" charset="-122"/>
                <a:cs typeface="Arial" pitchFamily="34" charset="-120"/>
              </a:rPr>
              <a:t>오늘 AI와 함께 해 본 여섯 가지</a:t>
            </a:r>
            <a:endParaRPr lang="en-US" sz="3200" dirty="0"/>
          </a:p>
        </p:txBody>
      </p:sp>
      <p:sp>
        <p:nvSpPr>
          <p:cNvPr id="4" name="Shape 2"/>
          <p:cNvSpPr/>
          <p:nvPr/>
        </p:nvSpPr>
        <p:spPr>
          <a:xfrm>
            <a:off x="815975" y="1887736"/>
            <a:ext cx="5213350" cy="590550"/>
          </a:xfrm>
          <a:prstGeom prst="roundRect">
            <a:avLst>
              <a:gd name="adj" fmla="val 16667"/>
            </a:avLst>
          </a:prstGeom>
          <a:solidFill>
            <a:srgbClr val="FCFCFA"/>
          </a:solidFill>
          <a:ln w="6350">
            <a:solidFill>
              <a:srgbClr val="D9DDE1"/>
            </a:solidFill>
            <a:prstDash val="solid"/>
          </a:ln>
        </p:spPr>
      </p:sp>
      <p:pic>
        <p:nvPicPr>
          <p:cNvPr id="5" name="Image 0" descr="CheckCircle">    </p:cNvPr>
          <p:cNvPicPr>
            <a:picLocks noChangeAspect="1"/>
          </p:cNvPicPr>
          <p:nvPr/>
        </p:nvPicPr>
        <p:blipFill>
          <a:blip r:embed="rId1"/>
          <a:srcRect l="0" r="0" t="0" b="0"/>
          <a:stretch/>
        </p:blipFill>
        <p:spPr>
          <a:xfrm>
            <a:off x="1022350" y="2043311"/>
            <a:ext cx="279400" cy="279400"/>
          </a:xfrm>
          <a:prstGeom prst="rect">
            <a:avLst/>
          </a:prstGeom>
        </p:spPr>
      </p:pic>
      <p:sp>
        <p:nvSpPr>
          <p:cNvPr id="6" name="Text 3"/>
          <p:cNvSpPr/>
          <p:nvPr/>
        </p:nvSpPr>
        <p:spPr>
          <a:xfrm>
            <a:off x="1428750" y="2058591"/>
            <a:ext cx="291607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4D"/>
                </a:solidFill>
                <a:latin typeface="Arial" pitchFamily="34" charset="0"/>
                <a:ea typeface="Arial" pitchFamily="34" charset="-122"/>
                <a:cs typeface="Arial" pitchFamily="34" charset="-120"/>
              </a:rPr>
              <a:t>이해</a:t>
            </a:r>
            <a:r>
              <a:rPr lang="en-US" sz="1400" dirty="0">
                <a:solidFill>
                  <a:srgbClr val="12304D"/>
                </a:solidFill>
                <a:latin typeface="Arial" pitchFamily="34" charset="0"/>
                <a:ea typeface="Arial" pitchFamily="34" charset="-122"/>
                <a:cs typeface="Arial" pitchFamily="34" charset="-120"/>
              </a:rPr>
              <a:t> · 생성형 AI의 원리와 한계</a:t>
            </a:r>
            <a:endParaRPr lang="en-US" sz="1400" dirty="0"/>
          </a:p>
        </p:txBody>
      </p:sp>
      <p:sp>
        <p:nvSpPr>
          <p:cNvPr id="7" name="Shape 4"/>
          <p:cNvSpPr/>
          <p:nvPr/>
        </p:nvSpPr>
        <p:spPr>
          <a:xfrm>
            <a:off x="6162675" y="1887736"/>
            <a:ext cx="5213350" cy="590550"/>
          </a:xfrm>
          <a:prstGeom prst="roundRect">
            <a:avLst>
              <a:gd name="adj" fmla="val 16667"/>
            </a:avLst>
          </a:prstGeom>
          <a:solidFill>
            <a:srgbClr val="FCFCFA"/>
          </a:solidFill>
          <a:ln w="6350">
            <a:solidFill>
              <a:srgbClr val="D9DDE1"/>
            </a:solidFill>
            <a:prstDash val="solid"/>
          </a:ln>
        </p:spPr>
      </p:sp>
      <p:pic>
        <p:nvPicPr>
          <p:cNvPr id="8" name="Image 1" descr="CheckCircle">    </p:cNvPr>
          <p:cNvPicPr>
            <a:picLocks noChangeAspect="1"/>
          </p:cNvPicPr>
          <p:nvPr/>
        </p:nvPicPr>
        <p:blipFill>
          <a:blip r:embed="rId2"/>
          <a:srcRect l="0" r="0" t="0" b="0"/>
          <a:stretch/>
        </p:blipFill>
        <p:spPr>
          <a:xfrm>
            <a:off x="6369050" y="2043311"/>
            <a:ext cx="279400" cy="279400"/>
          </a:xfrm>
          <a:prstGeom prst="rect">
            <a:avLst/>
          </a:prstGeom>
        </p:spPr>
      </p:pic>
      <p:sp>
        <p:nvSpPr>
          <p:cNvPr id="9" name="Text 5"/>
          <p:cNvSpPr/>
          <p:nvPr/>
        </p:nvSpPr>
        <p:spPr>
          <a:xfrm>
            <a:off x="6775450" y="2058591"/>
            <a:ext cx="320051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4D"/>
                </a:solidFill>
                <a:latin typeface="Arial" pitchFamily="34" charset="0"/>
                <a:ea typeface="Arial" pitchFamily="34" charset="-122"/>
                <a:cs typeface="Arial" pitchFamily="34" charset="-120"/>
              </a:rPr>
              <a:t>프롬프트</a:t>
            </a:r>
            <a:r>
              <a:rPr lang="en-US" sz="1400" dirty="0">
                <a:solidFill>
                  <a:srgbClr val="12304D"/>
                </a:solidFill>
                <a:latin typeface="Arial" pitchFamily="34" charset="0"/>
                <a:ea typeface="Arial" pitchFamily="34" charset="-122"/>
                <a:cs typeface="Arial" pitchFamily="34" charset="-120"/>
              </a:rPr>
              <a:t> · 5요소와 대화로 다듬기</a:t>
            </a:r>
            <a:endParaRPr lang="en-US" sz="1400" dirty="0"/>
          </a:p>
        </p:txBody>
      </p:sp>
      <p:sp>
        <p:nvSpPr>
          <p:cNvPr id="10" name="Shape 6"/>
          <p:cNvSpPr/>
          <p:nvPr/>
        </p:nvSpPr>
        <p:spPr>
          <a:xfrm>
            <a:off x="815975" y="2611636"/>
            <a:ext cx="5213350" cy="590550"/>
          </a:xfrm>
          <a:prstGeom prst="roundRect">
            <a:avLst>
              <a:gd name="adj" fmla="val 16667"/>
            </a:avLst>
          </a:prstGeom>
          <a:solidFill>
            <a:srgbClr val="FCFCFA"/>
          </a:solidFill>
          <a:ln w="6350">
            <a:solidFill>
              <a:srgbClr val="D9DDE1"/>
            </a:solidFill>
            <a:prstDash val="solid"/>
          </a:ln>
        </p:spPr>
      </p:sp>
      <p:pic>
        <p:nvPicPr>
          <p:cNvPr id="11" name="Image 2" descr="CheckCircle">    </p:cNvPr>
          <p:cNvPicPr>
            <a:picLocks noChangeAspect="1"/>
          </p:cNvPicPr>
          <p:nvPr/>
        </p:nvPicPr>
        <p:blipFill>
          <a:blip r:embed="rId3"/>
          <a:srcRect l="0" r="0" t="0" b="0"/>
          <a:stretch/>
        </p:blipFill>
        <p:spPr>
          <a:xfrm>
            <a:off x="1022350" y="2767211"/>
            <a:ext cx="279400" cy="279400"/>
          </a:xfrm>
          <a:prstGeom prst="rect">
            <a:avLst/>
          </a:prstGeom>
        </p:spPr>
      </p:pic>
      <p:sp>
        <p:nvSpPr>
          <p:cNvPr id="12" name="Text 7"/>
          <p:cNvSpPr/>
          <p:nvPr/>
        </p:nvSpPr>
        <p:spPr>
          <a:xfrm>
            <a:off x="1428750" y="2782491"/>
            <a:ext cx="304633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4D"/>
                </a:solidFill>
                <a:latin typeface="Arial" pitchFamily="34" charset="0"/>
                <a:ea typeface="Arial" pitchFamily="34" charset="-122"/>
                <a:cs typeface="Arial" pitchFamily="34" charset="-120"/>
              </a:rPr>
              <a:t>문서</a:t>
            </a:r>
            <a:r>
              <a:rPr lang="en-US" sz="1400" dirty="0">
                <a:solidFill>
                  <a:srgbClr val="12304D"/>
                </a:solidFill>
                <a:latin typeface="Arial" pitchFamily="34" charset="0"/>
                <a:ea typeface="Arial" pitchFamily="34" charset="-122"/>
                <a:cs typeface="Arial" pitchFamily="34" charset="-120"/>
              </a:rPr>
              <a:t> · 메일, 회의록, 공지문 초안</a:t>
            </a:r>
            <a:endParaRPr lang="en-US" sz="1400" dirty="0"/>
          </a:p>
        </p:txBody>
      </p:sp>
      <p:sp>
        <p:nvSpPr>
          <p:cNvPr id="13" name="Shape 8"/>
          <p:cNvSpPr/>
          <p:nvPr/>
        </p:nvSpPr>
        <p:spPr>
          <a:xfrm>
            <a:off x="6162675" y="2611636"/>
            <a:ext cx="5213350" cy="590550"/>
          </a:xfrm>
          <a:prstGeom prst="roundRect">
            <a:avLst>
              <a:gd name="adj" fmla="val 16667"/>
            </a:avLst>
          </a:prstGeom>
          <a:solidFill>
            <a:srgbClr val="FCFCFA"/>
          </a:solidFill>
          <a:ln w="6350">
            <a:solidFill>
              <a:srgbClr val="D9DDE1"/>
            </a:solidFill>
            <a:prstDash val="solid"/>
          </a:ln>
        </p:spPr>
      </p:sp>
      <p:pic>
        <p:nvPicPr>
          <p:cNvPr id="14" name="Image 3" descr="CheckCircle">    </p:cNvPr>
          <p:cNvPicPr>
            <a:picLocks noChangeAspect="1"/>
          </p:cNvPicPr>
          <p:nvPr/>
        </p:nvPicPr>
        <p:blipFill>
          <a:blip r:embed="rId4"/>
          <a:srcRect l="0" r="0" t="0" b="0"/>
          <a:stretch/>
        </p:blipFill>
        <p:spPr>
          <a:xfrm>
            <a:off x="6369050" y="2767211"/>
            <a:ext cx="279400" cy="279400"/>
          </a:xfrm>
          <a:prstGeom prst="rect">
            <a:avLst/>
          </a:prstGeom>
        </p:spPr>
      </p:pic>
      <p:sp>
        <p:nvSpPr>
          <p:cNvPr id="15" name="Text 9"/>
          <p:cNvSpPr/>
          <p:nvPr/>
        </p:nvSpPr>
        <p:spPr>
          <a:xfrm>
            <a:off x="6775450" y="2782491"/>
            <a:ext cx="240625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4D"/>
                </a:solidFill>
                <a:latin typeface="Arial" pitchFamily="34" charset="0"/>
                <a:ea typeface="Arial" pitchFamily="34" charset="-122"/>
                <a:cs typeface="Arial" pitchFamily="34" charset="-120"/>
              </a:rPr>
              <a:t>요약</a:t>
            </a:r>
            <a:r>
              <a:rPr lang="en-US" sz="1400" dirty="0">
                <a:solidFill>
                  <a:srgbClr val="12304D"/>
                </a:solidFill>
                <a:latin typeface="Arial" pitchFamily="34" charset="0"/>
                <a:ea typeface="Arial" pitchFamily="34" charset="-122"/>
                <a:cs typeface="Arial" pitchFamily="34" charset="-120"/>
              </a:rPr>
              <a:t> · 요약, 표 정리, 번역</a:t>
            </a:r>
            <a:endParaRPr lang="en-US" sz="1400" dirty="0"/>
          </a:p>
        </p:txBody>
      </p:sp>
      <p:sp>
        <p:nvSpPr>
          <p:cNvPr id="16" name="Shape 10"/>
          <p:cNvSpPr/>
          <p:nvPr/>
        </p:nvSpPr>
        <p:spPr>
          <a:xfrm>
            <a:off x="815975" y="3335536"/>
            <a:ext cx="5213350" cy="590550"/>
          </a:xfrm>
          <a:prstGeom prst="roundRect">
            <a:avLst>
              <a:gd name="adj" fmla="val 16667"/>
            </a:avLst>
          </a:prstGeom>
          <a:solidFill>
            <a:srgbClr val="FCFCFA"/>
          </a:solidFill>
          <a:ln w="6350">
            <a:solidFill>
              <a:srgbClr val="D9DDE1"/>
            </a:solidFill>
            <a:prstDash val="solid"/>
          </a:ln>
        </p:spPr>
      </p:sp>
      <p:pic>
        <p:nvPicPr>
          <p:cNvPr id="17" name="Image 4" descr="CheckCircle">    </p:cNvPr>
          <p:cNvPicPr>
            <a:picLocks noChangeAspect="1"/>
          </p:cNvPicPr>
          <p:nvPr/>
        </p:nvPicPr>
        <p:blipFill>
          <a:blip r:embed="rId5"/>
          <a:srcRect l="0" r="0" t="0" b="0"/>
          <a:stretch/>
        </p:blipFill>
        <p:spPr>
          <a:xfrm>
            <a:off x="1022350" y="3491111"/>
            <a:ext cx="279400" cy="279400"/>
          </a:xfrm>
          <a:prstGeom prst="rect">
            <a:avLst/>
          </a:prstGeom>
        </p:spPr>
      </p:pic>
      <p:sp>
        <p:nvSpPr>
          <p:cNvPr id="18" name="Text 11"/>
          <p:cNvSpPr/>
          <p:nvPr/>
        </p:nvSpPr>
        <p:spPr>
          <a:xfrm>
            <a:off x="1428750" y="3506391"/>
            <a:ext cx="222849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4D"/>
                </a:solidFill>
                <a:latin typeface="Arial" pitchFamily="34" charset="0"/>
                <a:ea typeface="Arial" pitchFamily="34" charset="-122"/>
                <a:cs typeface="Arial" pitchFamily="34" charset="-120"/>
              </a:rPr>
              <a:t>엑셀</a:t>
            </a:r>
            <a:r>
              <a:rPr lang="en-US" sz="1400" dirty="0">
                <a:solidFill>
                  <a:srgbClr val="12304D"/>
                </a:solidFill>
                <a:latin typeface="Arial" pitchFamily="34" charset="0"/>
                <a:ea typeface="Arial" pitchFamily="34" charset="-122"/>
                <a:cs typeface="Arial" pitchFamily="34" charset="-120"/>
              </a:rPr>
              <a:t> · 수식 질문과 검산</a:t>
            </a:r>
            <a:endParaRPr lang="en-US" sz="1400" dirty="0"/>
          </a:p>
        </p:txBody>
      </p:sp>
      <p:sp>
        <p:nvSpPr>
          <p:cNvPr id="19" name="Shape 12"/>
          <p:cNvSpPr/>
          <p:nvPr/>
        </p:nvSpPr>
        <p:spPr>
          <a:xfrm>
            <a:off x="6162675" y="3335536"/>
            <a:ext cx="5213350" cy="590550"/>
          </a:xfrm>
          <a:prstGeom prst="roundRect">
            <a:avLst>
              <a:gd name="adj" fmla="val 16667"/>
            </a:avLst>
          </a:prstGeom>
          <a:solidFill>
            <a:srgbClr val="FCFCFA"/>
          </a:solidFill>
          <a:ln w="6350">
            <a:solidFill>
              <a:srgbClr val="D9DDE1"/>
            </a:solidFill>
            <a:prstDash val="solid"/>
          </a:ln>
        </p:spPr>
      </p:sp>
      <p:pic>
        <p:nvPicPr>
          <p:cNvPr id="20" name="Image 5" descr="CheckCircle">    </p:cNvPr>
          <p:cNvPicPr>
            <a:picLocks noChangeAspect="1"/>
          </p:cNvPicPr>
          <p:nvPr/>
        </p:nvPicPr>
        <p:blipFill>
          <a:blip r:embed="rId6"/>
          <a:srcRect l="0" r="0" t="0" b="0"/>
          <a:stretch/>
        </p:blipFill>
        <p:spPr>
          <a:xfrm>
            <a:off x="6369050" y="3491111"/>
            <a:ext cx="279400" cy="279400"/>
          </a:xfrm>
          <a:prstGeom prst="rect">
            <a:avLst/>
          </a:prstGeom>
        </p:spPr>
      </p:pic>
      <p:sp>
        <p:nvSpPr>
          <p:cNvPr id="21" name="Text 13"/>
          <p:cNvSpPr/>
          <p:nvPr/>
        </p:nvSpPr>
        <p:spPr>
          <a:xfrm>
            <a:off x="6775450" y="3506391"/>
            <a:ext cx="32004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304D"/>
                </a:solidFill>
                <a:latin typeface="Arial" pitchFamily="34" charset="0"/>
                <a:ea typeface="Arial" pitchFamily="34" charset="-122"/>
                <a:cs typeface="Arial" pitchFamily="34" charset="-120"/>
              </a:rPr>
              <a:t>검증</a:t>
            </a:r>
            <a:r>
              <a:rPr lang="en-US" sz="1400" dirty="0">
                <a:solidFill>
                  <a:srgbClr val="12304D"/>
                </a:solidFill>
                <a:latin typeface="Arial" pitchFamily="34" charset="0"/>
                <a:ea typeface="Arial" pitchFamily="34" charset="-122"/>
                <a:cs typeface="Arial" pitchFamily="34" charset="-120"/>
              </a:rPr>
              <a:t> · 환각 확인, 개인정보 지우기</a:t>
            </a:r>
            <a:endParaRPr lang="en-US" sz="1400" dirty="0"/>
          </a:p>
        </p:txBody>
      </p:sp>
      <p:sp>
        <p:nvSpPr>
          <p:cNvPr id="22" name="Shape 14"/>
          <p:cNvSpPr/>
          <p:nvPr/>
        </p:nvSpPr>
        <p:spPr>
          <a:xfrm>
            <a:off x="812800" y="4208661"/>
            <a:ext cx="10566400" cy="939701"/>
          </a:xfrm>
          <a:prstGeom prst="roundRect">
            <a:avLst>
              <a:gd name="adj" fmla="val 10812"/>
            </a:avLst>
          </a:prstGeom>
          <a:solidFill>
            <a:srgbClr val="12304D"/>
          </a:solidFill>
          <a:ln/>
        </p:spPr>
      </p:sp>
      <p:sp>
        <p:nvSpPr>
          <p:cNvPr id="23" name="Text 15"/>
          <p:cNvSpPr/>
          <p:nvPr/>
        </p:nvSpPr>
        <p:spPr>
          <a:xfrm>
            <a:off x="1066800" y="4386461"/>
            <a:ext cx="1036015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A65A"/>
                </a:solidFill>
                <a:latin typeface="Arial" pitchFamily="34" charset="0"/>
                <a:ea typeface="Arial" pitchFamily="34" charset="-122"/>
                <a:cs typeface="Arial" pitchFamily="34" charset="-120"/>
              </a:rPr>
              <a:t>기억할 한 문장</a:t>
            </a:r>
            <a:endParaRPr lang="en-US" sz="1400" dirty="0"/>
          </a:p>
        </p:txBody>
      </p:sp>
      <p:sp>
        <p:nvSpPr>
          <p:cNvPr id="24" name="Text 16"/>
          <p:cNvSpPr/>
          <p:nvPr/>
        </p:nvSpPr>
        <p:spPr>
          <a:xfrm>
            <a:off x="1066800" y="4686102"/>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4EF"/>
                </a:solidFill>
                <a:latin typeface="Arial" pitchFamily="34" charset="0"/>
                <a:ea typeface="Arial" pitchFamily="34" charset="-122"/>
                <a:cs typeface="Arial" pitchFamily="34" charset="-120"/>
              </a:rPr>
              <a:t>초안은 AI에게, 사실 확인과 최종 판단은 나에게.</a:t>
            </a:r>
            <a:endParaRPr lang="en-US" sz="1600" dirty="0"/>
          </a:p>
        </p:txBody>
      </p:sp>
      <p:sp>
        <p:nvSpPr>
          <p:cNvPr id="25"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Arial" pitchFamily="34" charset="0"/>
                <a:ea typeface="Arial" pitchFamily="34" charset="-122"/>
                <a:cs typeface="Arial" pitchFamily="34" charset="-120"/>
              </a:rPr>
              <a:t>생성형 AI 실무 활용 · 1일차 · 다음 시간: [다음 수업 주제]</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2304D"/>
        </a:solidFill>
      </p:bgPr>
    </p:bg>
    <p:spTree>
      <p:nvGrpSpPr>
        <p:cNvPr id="1" name=""/>
        <p:cNvGrpSpPr/>
        <p:nvPr/>
      </p:nvGrpSpPr>
      <p:grpSpPr>
        <a:xfrm>
          <a:off x="0" y="0"/>
          <a:ext cx="0" cy="0"/>
          <a:chOff x="0" y="0"/>
          <a:chExt cx="0" cy="0"/>
        </a:xfrm>
      </p:grpSpPr>
      <p:sp>
        <p:nvSpPr>
          <p:cNvPr id="2" name="Text 0"/>
          <p:cNvSpPr/>
          <p:nvPr>
            <p:ph type="title"/>
          </p:nvPr>
        </p:nvSpPr>
        <p:spPr>
          <a:xfrm>
            <a:off x="812800" y="237748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5F4EF"/>
                </a:solidFill>
                <a:latin typeface="Arial" pitchFamily="34" charset="0"/>
                <a:ea typeface="Arial" pitchFamily="34" charset="-122"/>
                <a:cs typeface="Arial" pitchFamily="34" charset="-120"/>
              </a:rPr>
              <a:t>수고하셨습니다</a:t>
            </a:r>
            <a:endParaRPr lang="en-US" sz="6000" dirty="0"/>
          </a:p>
        </p:txBody>
      </p:sp>
      <p:sp>
        <p:nvSpPr>
          <p:cNvPr id="3" name="Text 1"/>
          <p:cNvSpPr/>
          <p:nvPr/>
        </p:nvSpPr>
        <p:spPr>
          <a:xfrm>
            <a:off x="812800" y="346968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FD0DE"/>
                </a:solidFill>
                <a:latin typeface="Arial" pitchFamily="34" charset="0"/>
                <a:ea typeface="Arial" pitchFamily="34" charset="-122"/>
                <a:cs typeface="Arial" pitchFamily="34" charset="-120"/>
              </a:rPr>
              <a:t>첫날을 함께해 주셔서 감사합니다. 내일 만나요!</a:t>
            </a:r>
            <a:endParaRPr lang="en-US" sz="2000" dirty="0"/>
          </a:p>
        </p:txBody>
      </p:sp>
      <p:sp>
        <p:nvSpPr>
          <p:cNvPr id="4" name="Text 2"/>
          <p:cNvSpPr/>
          <p:nvPr/>
        </p:nvSpPr>
        <p:spPr>
          <a:xfrm>
            <a:off x="812800" y="4079280"/>
            <a:ext cx="3042444" cy="401241"/>
          </a:xfrm>
          <a:prstGeom prst="roundRect">
            <a:avLst>
              <a:gd name="adj" fmla="val 50000"/>
            </a:avLst>
          </a:prstGeom>
          <a:solidFill>
            <a:srgbClr val="1E4468"/>
          </a:solidFill>
          <a:ln/>
        </p:spPr>
        <p:txBody>
          <a:bodyPr wrap="none" lIns="0" tIns="0" rIns="0" bIns="0" rtlCol="0" anchor="ctr">
            <a:normAutofit/>
          </a:bodyPr>
          <a:lstStyle/>
          <a:p>
            <a:pPr algn="ctr" indent="0" marL="0">
              <a:lnSpc>
                <a:spcPts val="1960"/>
              </a:lnSpc>
              <a:buNone/>
            </a:pPr>
            <a:r>
              <a:rPr lang="en-US" sz="1400" dirty="0">
                <a:solidFill>
                  <a:srgbClr val="F5F4EF"/>
                </a:solidFill>
                <a:latin typeface="Arial" pitchFamily="34" charset="0"/>
                <a:ea typeface="Arial" pitchFamily="34" charset="-122"/>
                <a:cs typeface="Arial" pitchFamily="34" charset="-120"/>
              </a:rPr>
              <a:t>질문 · 상담: 김재범 [연락처 / 메일]</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304D"/>
        </a:solidFill>
      </p:bgPr>
    </p:bg>
    <p:spTree>
      <p:nvGrpSpPr>
        <p:cNvPr id="1" name=""/>
        <p:cNvGrpSpPr/>
        <p:nvPr/>
      </p:nvGrpSpPr>
      <p:grpSpPr>
        <a:xfrm>
          <a:off x="0" y="0"/>
          <a:ext cx="0" cy="0"/>
          <a:chOff x="0" y="0"/>
          <a:chExt cx="0" cy="0"/>
        </a:xfrm>
      </p:grpSpPr>
      <p:sp>
        <p:nvSpPr>
          <p:cNvPr id="2" name="Text 0"/>
          <p:cNvSpPr txBox="1"/>
          <p:nvPr/>
        </p:nvSpPr>
        <p:spPr>
          <a:xfrm>
            <a:off x="6803136" y="1271016"/>
            <a:ext cx="4581144" cy="2569464"/>
          </a:xfrm>
          <a:prstGeom prst="rect">
            <a:avLst/>
          </a:prstGeom>
          <a:noFill/>
          <a:ln/>
        </p:spPr>
        <p:txBody>
          <a:bodyPr wrap="square" lIns="0" tIns="0" rIns="0" bIns="0" rtlCol="0" anchor="t"/>
          <a:lstStyle/>
          <a:p>
            <a:pPr algn="r" indent="0" marL="0">
              <a:lnSpc>
                <a:spcPts val="20000"/>
              </a:lnSpc>
              <a:buNone/>
            </a:pPr>
            <a:r>
              <a:rPr lang="en-US" sz="20000" b="1" dirty="0">
                <a:solidFill>
                  <a:srgbClr val="1C3F62"/>
                </a:solidFill>
                <a:latin typeface="Arial" pitchFamily="34" charset="0"/>
                <a:ea typeface="맑은 고딕" pitchFamily="34" charset="-122"/>
                <a:cs typeface="Arial" pitchFamily="34" charset="-120"/>
              </a:rPr>
              <a:t>09</a:t>
            </a:r>
            <a:endParaRPr lang="en-US" sz="20000" dirty="0"/>
          </a:p>
        </p:txBody>
      </p:sp>
      <p:sp>
        <p:nvSpPr>
          <p:cNvPr id="3" name="Text 1"/>
          <p:cNvSpPr txBox="1"/>
          <p:nvPr/>
        </p:nvSpPr>
        <p:spPr>
          <a:xfrm>
            <a:off x="813816" y="2249424"/>
            <a:ext cx="10881360" cy="310896"/>
          </a:xfrm>
          <a:prstGeom prst="rect">
            <a:avLst/>
          </a:prstGeom>
          <a:noFill/>
          <a:ln/>
        </p:spPr>
        <p:txBody>
          <a:bodyPr wrap="square" lIns="0" tIns="0" rIns="0" bIns="0" rtlCol="0" anchor="t"/>
          <a:lstStyle/>
          <a:p>
            <a:pPr indent="0" marL="0">
              <a:lnSpc>
                <a:spcPts val="2240"/>
              </a:lnSpc>
              <a:buNone/>
            </a:pPr>
            <a:r>
              <a:rPr lang="en-US" sz="1600" b="1" dirty="0">
                <a:solidFill>
                  <a:srgbClr val="F2A65A"/>
                </a:solidFill>
                <a:latin typeface="Arial" pitchFamily="34" charset="0"/>
                <a:ea typeface="맑은 고딕" pitchFamily="34" charset="-122"/>
                <a:cs typeface="Arial" pitchFamily="34" charset="-120"/>
              </a:rPr>
              <a:t>심화 · 종합 예제 · 80분</a:t>
            </a:r>
            <a:endParaRPr lang="en-US" sz="1600" dirty="0"/>
          </a:p>
        </p:txBody>
      </p:sp>
      <p:sp>
        <p:nvSpPr>
          <p:cNvPr id="4" name="Title"/>
          <p:cNvSpPr/>
          <p:nvPr>
            <p:ph type="title"/>
          </p:nvPr>
        </p:nvSpPr>
        <p:spPr>
          <a:xfrm>
            <a:off x="813816" y="2761488"/>
            <a:ext cx="10881360" cy="694944"/>
          </a:xfrm>
          <a:prstGeom prst="rect">
            <a:avLst/>
          </a:prstGeom>
          <a:noFill/>
          <a:ln/>
        </p:spPr>
        <p:txBody>
          <a:bodyPr wrap="square" lIns="0" tIns="0" rIns="0" bIns="0" rtlCol="0" anchor="t"/>
          <a:lstStyle/>
          <a:p>
            <a:pPr indent="0" marL="0">
              <a:lnSpc>
                <a:spcPts val="6720"/>
              </a:lnSpc>
              <a:buNone/>
            </a:pPr>
            <a:r>
              <a:rPr lang="en-US" sz="4800" b="1" dirty="0">
                <a:solidFill>
                  <a:srgbClr val="F5F4EF"/>
                </a:solidFill>
                <a:latin typeface="Arial" pitchFamily="34" charset="0"/>
                <a:ea typeface="맑은 고딕" pitchFamily="34" charset="-122"/>
                <a:cs typeface="Arial" pitchFamily="34" charset="-120"/>
              </a:rPr>
              <a:t>엑셀 데이터 분석 보고서</a:t>
            </a:r>
            <a:endParaRPr lang="en-US" sz="4800" dirty="0"/>
          </a:p>
        </p:txBody>
      </p:sp>
      <p:sp>
        <p:nvSpPr>
          <p:cNvPr id="5" name="Text 3"/>
          <p:cNvSpPr txBox="1"/>
          <p:nvPr/>
        </p:nvSpPr>
        <p:spPr>
          <a:xfrm>
            <a:off x="813816" y="3657600"/>
            <a:ext cx="10881360" cy="347472"/>
          </a:xfrm>
          <a:prstGeom prst="rect">
            <a:avLst/>
          </a:prstGeom>
          <a:noFill/>
          <a:ln/>
        </p:spPr>
        <p:txBody>
          <a:bodyPr wrap="square" lIns="0" tIns="0" rIns="0" bIns="0" rtlCol="0" anchor="t"/>
          <a:lstStyle/>
          <a:p>
            <a:pPr indent="0" marL="0">
              <a:lnSpc>
                <a:spcPts val="2520"/>
              </a:lnSpc>
              <a:buNone/>
            </a:pPr>
            <a:r>
              <a:rPr lang="en-US" sz="1800" dirty="0">
                <a:solidFill>
                  <a:srgbClr val="BFD0DE"/>
                </a:solidFill>
                <a:latin typeface="Arial" pitchFamily="34" charset="0"/>
                <a:ea typeface="맑은 고딕" pitchFamily="34" charset="-122"/>
                <a:cs typeface="Arial" pitchFamily="34" charset="-120"/>
              </a:rPr>
              <a:t>상관분석 · 회귀분석 · 시각화로 근거 있는 보고서를 만듭니다</a:t>
            </a:r>
            <a:endParaRPr lang="en-US" sz="1800" dirty="0"/>
          </a:p>
        </p:txBody>
      </p:sp>
      <p:sp>
        <p:nvSpPr>
          <p:cNvPr id="6" name="Text 4"/>
          <p:cNvSpPr txBox="1"/>
          <p:nvPr/>
        </p:nvSpPr>
        <p:spPr>
          <a:xfrm>
            <a:off x="813816" y="4206240"/>
            <a:ext cx="1572768" cy="402336"/>
          </a:xfrm>
          <a:prstGeom prst="roundRect">
            <a:avLst>
              <a:gd name="adj" fmla="val 50000"/>
            </a:avLst>
          </a:prstGeom>
          <a:solidFill>
            <a:srgbClr val="1E4468"/>
          </a:solidFill>
          <a:ln/>
        </p:spPr>
        <p:txBody>
          <a:bodyPr wrap="square" lIns="0" tIns="0" rIns="0" bIns="0" rtlCol="0" anchor="ctr"/>
          <a:lstStyle/>
          <a:p>
            <a:pPr algn="ctr" indent="0" marL="0">
              <a:buNone/>
            </a:pPr>
            <a:r>
              <a:rPr lang="en-US" sz="1400" dirty="0">
                <a:solidFill>
                  <a:srgbClr val="F5F4EF"/>
                </a:solidFill>
                <a:latin typeface="Arial" pitchFamily="34" charset="0"/>
                <a:ea typeface="맑은 고딕" pitchFamily="34" charset="-122"/>
                <a:cs typeface="Arial" pitchFamily="34" charset="-120"/>
              </a:rPr>
              <a:t>상황과 데이터</a:t>
            </a:r>
            <a:endParaRPr lang="en-US" sz="1400" dirty="0"/>
          </a:p>
        </p:txBody>
      </p:sp>
      <p:sp>
        <p:nvSpPr>
          <p:cNvPr id="7" name="Text 5"/>
          <p:cNvSpPr txBox="1"/>
          <p:nvPr/>
        </p:nvSpPr>
        <p:spPr>
          <a:xfrm>
            <a:off x="2487168" y="4206240"/>
            <a:ext cx="1069848" cy="402336"/>
          </a:xfrm>
          <a:prstGeom prst="roundRect">
            <a:avLst>
              <a:gd name="adj" fmla="val 50000"/>
            </a:avLst>
          </a:prstGeom>
          <a:solidFill>
            <a:srgbClr val="1E4468"/>
          </a:solidFill>
          <a:ln/>
        </p:spPr>
        <p:txBody>
          <a:bodyPr wrap="square" lIns="0" tIns="0" rIns="0" bIns="0" rtlCol="0" anchor="ctr"/>
          <a:lstStyle/>
          <a:p>
            <a:pPr algn="ctr" indent="0" marL="0">
              <a:buNone/>
            </a:pPr>
            <a:r>
              <a:rPr lang="en-US" sz="1400" dirty="0">
                <a:solidFill>
                  <a:srgbClr val="F5F4EF"/>
                </a:solidFill>
                <a:latin typeface="Arial" pitchFamily="34" charset="0"/>
                <a:ea typeface="맑은 고딕" pitchFamily="34" charset="-122"/>
                <a:cs typeface="Arial" pitchFamily="34" charset="-120"/>
              </a:rPr>
              <a:t>상관분석</a:t>
            </a:r>
            <a:endParaRPr lang="en-US" sz="1400" dirty="0"/>
          </a:p>
        </p:txBody>
      </p:sp>
      <p:sp>
        <p:nvSpPr>
          <p:cNvPr id="8" name="Text 6"/>
          <p:cNvSpPr txBox="1"/>
          <p:nvPr/>
        </p:nvSpPr>
        <p:spPr>
          <a:xfrm>
            <a:off x="3657600" y="4206240"/>
            <a:ext cx="1069848" cy="402336"/>
          </a:xfrm>
          <a:prstGeom prst="roundRect">
            <a:avLst>
              <a:gd name="adj" fmla="val 50000"/>
            </a:avLst>
          </a:prstGeom>
          <a:solidFill>
            <a:srgbClr val="1E4468"/>
          </a:solidFill>
          <a:ln/>
        </p:spPr>
        <p:txBody>
          <a:bodyPr wrap="square" lIns="0" tIns="0" rIns="0" bIns="0" rtlCol="0" anchor="ctr"/>
          <a:lstStyle/>
          <a:p>
            <a:pPr algn="ctr" indent="0" marL="0">
              <a:buNone/>
            </a:pPr>
            <a:r>
              <a:rPr lang="en-US" sz="1400" dirty="0">
                <a:solidFill>
                  <a:srgbClr val="F5F4EF"/>
                </a:solidFill>
                <a:latin typeface="Arial" pitchFamily="34" charset="0"/>
                <a:ea typeface="맑은 고딕" pitchFamily="34" charset="-122"/>
                <a:cs typeface="Arial" pitchFamily="34" charset="-120"/>
              </a:rPr>
              <a:t>회귀분석</a:t>
            </a:r>
            <a:endParaRPr lang="en-US" sz="1400" dirty="0"/>
          </a:p>
        </p:txBody>
      </p:sp>
      <p:sp>
        <p:nvSpPr>
          <p:cNvPr id="9" name="Text 7"/>
          <p:cNvSpPr txBox="1"/>
          <p:nvPr/>
        </p:nvSpPr>
        <p:spPr>
          <a:xfrm>
            <a:off x="4828032" y="4206240"/>
            <a:ext cx="886968" cy="402336"/>
          </a:xfrm>
          <a:prstGeom prst="roundRect">
            <a:avLst>
              <a:gd name="adj" fmla="val 50000"/>
            </a:avLst>
          </a:prstGeom>
          <a:solidFill>
            <a:srgbClr val="1E4468"/>
          </a:solidFill>
          <a:ln/>
        </p:spPr>
        <p:txBody>
          <a:bodyPr wrap="square" lIns="0" tIns="0" rIns="0" bIns="0" rtlCol="0" anchor="ctr"/>
          <a:lstStyle/>
          <a:p>
            <a:pPr algn="ctr" indent="0" marL="0">
              <a:buNone/>
            </a:pPr>
            <a:r>
              <a:rPr lang="en-US" sz="1400" dirty="0">
                <a:solidFill>
                  <a:srgbClr val="F5F4EF"/>
                </a:solidFill>
                <a:latin typeface="Arial" pitchFamily="34" charset="0"/>
                <a:ea typeface="맑은 고딕" pitchFamily="34" charset="-122"/>
                <a:cs typeface="Arial" pitchFamily="34" charset="-120"/>
              </a:rPr>
              <a:t>시각화</a:t>
            </a:r>
            <a:endParaRPr lang="en-US" sz="1400" dirty="0"/>
          </a:p>
        </p:txBody>
      </p:sp>
      <p:sp>
        <p:nvSpPr>
          <p:cNvPr id="10" name="Text 8"/>
          <p:cNvSpPr txBox="1"/>
          <p:nvPr/>
        </p:nvSpPr>
        <p:spPr>
          <a:xfrm>
            <a:off x="5815584" y="4206240"/>
            <a:ext cx="1399032" cy="402336"/>
          </a:xfrm>
          <a:prstGeom prst="roundRect">
            <a:avLst>
              <a:gd name="adj" fmla="val 50000"/>
            </a:avLst>
          </a:prstGeom>
          <a:solidFill>
            <a:srgbClr val="1F6F78"/>
          </a:solidFill>
          <a:ln/>
        </p:spPr>
        <p:txBody>
          <a:bodyPr wrap="square" lIns="0" tIns="0" rIns="0" bIns="0" rtlCol="0" anchor="ctr"/>
          <a:lstStyle/>
          <a:p>
            <a:pPr algn="ctr" indent="0" marL="0">
              <a:buNone/>
            </a:pPr>
            <a:r>
              <a:rPr lang="en-US" sz="1400" dirty="0">
                <a:solidFill>
                  <a:srgbClr val="F5F4EF"/>
                </a:solidFill>
                <a:latin typeface="Arial" pitchFamily="34" charset="0"/>
                <a:ea typeface="맑은 고딕" pitchFamily="34" charset="-122"/>
                <a:cs typeface="Arial" pitchFamily="34" charset="-120"/>
              </a:rPr>
              <a:t>보고서 작성</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E8EEF2"/>
        </a:solidFill>
      </p:bgPr>
    </p:bg>
    <p:spTree>
      <p:nvGrpSpPr>
        <p:cNvPr id="1" name=""/>
        <p:cNvGrpSpPr/>
        <p:nvPr/>
      </p:nvGrpSpPr>
      <p:grpSpPr>
        <a:xfrm>
          <a:off x="0" y="0"/>
          <a:ext cx="0" cy="0"/>
          <a:chOff x="0" y="0"/>
          <a:chExt cx="0" cy="0"/>
        </a:xfrm>
      </p:grpSpPr>
      <p:sp>
        <p:nvSpPr>
          <p:cNvPr id="2" name="Text 0"/>
          <p:cNvSpPr txBox="1"/>
          <p:nvPr/>
        </p:nvSpPr>
        <p:spPr>
          <a:xfrm>
            <a:off x="813816" y="813816"/>
            <a:ext cx="1581912" cy="347472"/>
          </a:xfrm>
          <a:prstGeom prst="roundRect">
            <a:avLst>
              <a:gd name="adj" fmla="val 50000"/>
            </a:avLst>
          </a:prstGeom>
          <a:solidFill>
            <a:srgbClr val="1F6F78"/>
          </a:solidFill>
          <a:ln/>
        </p:spPr>
        <p:txBody>
          <a:bodyPr wrap="square" lIns="0" tIns="0" rIns="0" bIns="0" rtlCol="0" anchor="ctr"/>
          <a:lstStyle/>
          <a:p>
            <a:pPr algn="ctr" indent="0" marL="0">
              <a:buNone/>
            </a:pPr>
            <a:r>
              <a:rPr lang="en-US" sz="1400" b="1" dirty="0">
                <a:solidFill>
                  <a:srgbClr val="F5F4EF"/>
                </a:solidFill>
                <a:latin typeface="Arial" pitchFamily="34" charset="0"/>
                <a:ea typeface="맑은 고딕" pitchFamily="34" charset="-122"/>
                <a:cs typeface="Arial" pitchFamily="34" charset="-120"/>
              </a:rPr>
              <a:t>종합 예제 · 미션</a:t>
            </a:r>
            <a:endParaRPr lang="en-US" sz="1400" dirty="0"/>
          </a:p>
        </p:txBody>
      </p:sp>
      <p:sp>
        <p:nvSpPr>
          <p:cNvPr id="3" name="Title"/>
          <p:cNvSpPr/>
          <p:nvPr>
            <p:ph type="title"/>
          </p:nvPr>
        </p:nvSpPr>
        <p:spPr>
          <a:xfrm>
            <a:off x="813816" y="1261872"/>
            <a:ext cx="10881360" cy="493776"/>
          </a:xfrm>
          <a:prstGeom prst="rect">
            <a:avLst/>
          </a:prstGeom>
          <a:noFill/>
          <a:ln/>
        </p:spPr>
        <p:txBody>
          <a:bodyPr wrap="square" lIns="0" tIns="0" rIns="0" bIns="0" rtlCol="0" anchor="t"/>
          <a:lstStyle/>
          <a:p>
            <a:pPr indent="0" marL="0">
              <a:lnSpc>
                <a:spcPts val="4480"/>
              </a:lnSpc>
              <a:buNone/>
            </a:pPr>
            <a:r>
              <a:rPr lang="en-US" sz="3200" b="1" dirty="0">
                <a:solidFill>
                  <a:srgbClr val="12304D"/>
                </a:solidFill>
                <a:latin typeface="Arial" pitchFamily="34" charset="0"/>
                <a:ea typeface="맑은 고딕" pitchFamily="34" charset="-122"/>
                <a:cs typeface="Arial" pitchFamily="34" charset="-120"/>
              </a:rPr>
              <a:t>9월 판매 데이터로 분석 보고서 만들기</a:t>
            </a:r>
            <a:endParaRPr lang="en-US" sz="3200" dirty="0"/>
          </a:p>
        </p:txBody>
      </p:sp>
      <p:sp>
        <p:nvSpPr>
          <p:cNvPr id="4" name="Shape 2"/>
          <p:cNvSpPr/>
          <p:nvPr/>
        </p:nvSpPr>
        <p:spPr>
          <a:xfrm>
            <a:off x="813816" y="2011680"/>
            <a:ext cx="10570464" cy="1069848"/>
          </a:xfrm>
          <a:prstGeom prst="roundRect">
            <a:avLst>
              <a:gd name="adj" fmla="val 10256"/>
            </a:avLst>
          </a:prstGeom>
          <a:solidFill>
            <a:srgbClr val="12304D"/>
          </a:solidFill>
          <a:ln/>
        </p:spPr>
      </p:sp>
      <p:sp>
        <p:nvSpPr>
          <p:cNvPr id="5" name="Text 3"/>
          <p:cNvSpPr txBox="1"/>
          <p:nvPr/>
        </p:nvSpPr>
        <p:spPr>
          <a:xfrm>
            <a:off x="1060704" y="2212848"/>
            <a:ext cx="10104120" cy="731520"/>
          </a:xfrm>
          <a:prstGeom prst="rect">
            <a:avLst/>
          </a:prstGeom>
          <a:noFill/>
          <a:ln/>
        </p:spPr>
        <p:txBody>
          <a:bodyPr wrap="square" lIns="0" tIns="0" rIns="0" bIns="0" rtlCol="0" anchor="t"/>
          <a:lstStyle/>
          <a:p>
            <a:pPr indent="0" marL="0">
              <a:lnSpc>
                <a:spcPts val="2100"/>
              </a:lnSpc>
              <a:buNone/>
            </a:pPr>
            <a:r>
              <a:rPr lang="en-US" sz="1500" b="1" dirty="0">
                <a:solidFill>
                  <a:srgbClr val="F2A65A"/>
                </a:solidFill>
                <a:latin typeface="Arial" pitchFamily="34" charset="0"/>
                <a:ea typeface="맑은 고딕" pitchFamily="34" charset="-122"/>
                <a:cs typeface="Arial" pitchFamily="34" charset="-120"/>
              </a:rPr>
              <a:t>상황</a:t>
            </a:r>
            <a:pPr indent="0" marL="0">
              <a:lnSpc>
                <a:spcPts val="2100"/>
              </a:lnSpc>
              <a:buNone/>
            </a:pPr>
            <a:r>
              <a:rPr lang="en-US" sz="1500" dirty="0">
                <a:solidFill>
                  <a:srgbClr val="F5F4EF"/>
                </a:solidFill>
                <a:latin typeface="Arial" pitchFamily="34" charset="0"/>
                <a:ea typeface="맑은 고딕" pitchFamily="34" charset="-122"/>
                <a:cs typeface="Arial" pitchFamily="34" charset="-120"/>
              </a:rPr>
              <a:t>　나는 베이커리 카페 본사 운영지원팀 직원입니다. 해운대점 9월 일별 데이터(30일)를 엑셀로 분석해 ‘무엇이 판매를 움직이는지’ 근거를 담은 1쪽 보고서를 팀장님께 드려야 합니다.</a:t>
            </a:r>
            <a:endParaRPr lang="en-US" sz="1500" dirty="0"/>
          </a:p>
        </p:txBody>
      </p:sp>
      <p:sp>
        <p:nvSpPr>
          <p:cNvPr id="6" name="Shape 4"/>
          <p:cNvSpPr/>
          <p:nvPr/>
        </p:nvSpPr>
        <p:spPr>
          <a:xfrm>
            <a:off x="813816" y="3355848"/>
            <a:ext cx="1989734" cy="1783080"/>
          </a:xfrm>
          <a:prstGeom prst="roundRect">
            <a:avLst>
              <a:gd name="adj" fmla="val 5128"/>
            </a:avLst>
          </a:prstGeom>
          <a:solidFill>
            <a:srgbClr val="FCFCFA"/>
          </a:solidFill>
          <a:ln/>
        </p:spPr>
      </p:sp>
      <p:sp>
        <p:nvSpPr>
          <p:cNvPr id="7" name="Text 5"/>
          <p:cNvSpPr txBox="1"/>
          <p:nvPr/>
        </p:nvSpPr>
        <p:spPr>
          <a:xfrm>
            <a:off x="1014984" y="3566160"/>
            <a:ext cx="1623974"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STEP 1</a:t>
            </a:r>
            <a:endParaRPr lang="en-US" sz="1400" dirty="0"/>
          </a:p>
        </p:txBody>
      </p:sp>
      <p:sp>
        <p:nvSpPr>
          <p:cNvPr id="8" name="Text 6"/>
          <p:cNvSpPr txBox="1"/>
          <p:nvPr/>
        </p:nvSpPr>
        <p:spPr>
          <a:xfrm>
            <a:off x="1014984" y="3886200"/>
            <a:ext cx="1623974" cy="301752"/>
          </a:xfrm>
          <a:prstGeom prst="rect">
            <a:avLst/>
          </a:prstGeom>
          <a:noFill/>
          <a:ln/>
        </p:spPr>
        <p:txBody>
          <a:bodyPr wrap="square" lIns="0" tIns="0" rIns="0" bIns="0" rtlCol="0" anchor="t"/>
          <a:lstStyle/>
          <a:p>
            <a:pPr indent="0" marL="0">
              <a:lnSpc>
                <a:spcPts val="2520"/>
              </a:lnSpc>
              <a:buNone/>
            </a:pPr>
            <a:r>
              <a:rPr lang="en-US" sz="1800" b="1" dirty="0">
                <a:solidFill>
                  <a:srgbClr val="12304D"/>
                </a:solidFill>
                <a:latin typeface="Arial" pitchFamily="34" charset="0"/>
                <a:ea typeface="맑은 고딕" pitchFamily="34" charset="-122"/>
                <a:cs typeface="Arial" pitchFamily="34" charset="-120"/>
              </a:rPr>
              <a:t>데이터 확인</a:t>
            </a:r>
            <a:endParaRPr lang="en-US" sz="1800" dirty="0"/>
          </a:p>
        </p:txBody>
      </p:sp>
      <p:sp>
        <p:nvSpPr>
          <p:cNvPr id="9" name="Text 7"/>
          <p:cNvSpPr txBox="1"/>
          <p:nvPr/>
        </p:nvSpPr>
        <p:spPr>
          <a:xfrm>
            <a:off x="1014984" y="4261104"/>
            <a:ext cx="1623974" cy="777240"/>
          </a:xfrm>
          <a:prstGeom prst="rect">
            <a:avLst/>
          </a:prstGeom>
          <a:noFill/>
          <a:ln/>
        </p:spPr>
        <p:txBody>
          <a:bodyPr wrap="square" lIns="0" tIns="0" rIns="0" bIns="0" rtlCol="0" anchor="t"/>
          <a:lstStyle/>
          <a:p>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열 이름·단위 확인, 빈칸과 이상한 값 찾기</a:t>
            </a:r>
            <a:endParaRPr lang="en-US" sz="1300" dirty="0"/>
          </a:p>
        </p:txBody>
      </p:sp>
      <p:sp>
        <p:nvSpPr>
          <p:cNvPr id="10" name="Shape 8"/>
          <p:cNvSpPr/>
          <p:nvPr/>
        </p:nvSpPr>
        <p:spPr>
          <a:xfrm>
            <a:off x="2958998" y="3355848"/>
            <a:ext cx="1989734" cy="1783080"/>
          </a:xfrm>
          <a:prstGeom prst="roundRect">
            <a:avLst>
              <a:gd name="adj" fmla="val 5128"/>
            </a:avLst>
          </a:prstGeom>
          <a:solidFill>
            <a:srgbClr val="FCFCFA"/>
          </a:solidFill>
          <a:ln/>
        </p:spPr>
      </p:sp>
      <p:sp>
        <p:nvSpPr>
          <p:cNvPr id="11" name="Text 9"/>
          <p:cNvSpPr txBox="1"/>
          <p:nvPr/>
        </p:nvSpPr>
        <p:spPr>
          <a:xfrm>
            <a:off x="3160166" y="3566160"/>
            <a:ext cx="1623974"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STEP 2</a:t>
            </a:r>
            <a:endParaRPr lang="en-US" sz="1400" dirty="0"/>
          </a:p>
        </p:txBody>
      </p:sp>
      <p:sp>
        <p:nvSpPr>
          <p:cNvPr id="12" name="Text 10"/>
          <p:cNvSpPr txBox="1"/>
          <p:nvPr/>
        </p:nvSpPr>
        <p:spPr>
          <a:xfrm>
            <a:off x="3160166" y="3886200"/>
            <a:ext cx="1623974" cy="301752"/>
          </a:xfrm>
          <a:prstGeom prst="rect">
            <a:avLst/>
          </a:prstGeom>
          <a:noFill/>
          <a:ln/>
        </p:spPr>
        <p:txBody>
          <a:bodyPr wrap="square" lIns="0" tIns="0" rIns="0" bIns="0" rtlCol="0" anchor="t"/>
          <a:lstStyle/>
          <a:p>
            <a:pPr indent="0" marL="0">
              <a:lnSpc>
                <a:spcPts val="2520"/>
              </a:lnSpc>
              <a:buNone/>
            </a:pPr>
            <a:r>
              <a:rPr lang="en-US" sz="1800" b="1" dirty="0">
                <a:solidFill>
                  <a:srgbClr val="12304D"/>
                </a:solidFill>
                <a:latin typeface="Arial" pitchFamily="34" charset="0"/>
                <a:ea typeface="맑은 고딕" pitchFamily="34" charset="-122"/>
                <a:cs typeface="Arial" pitchFamily="34" charset="-120"/>
              </a:rPr>
              <a:t>상관분석</a:t>
            </a:r>
            <a:endParaRPr lang="en-US" sz="1800" dirty="0"/>
          </a:p>
        </p:txBody>
      </p:sp>
      <p:sp>
        <p:nvSpPr>
          <p:cNvPr id="13" name="Text 11"/>
          <p:cNvSpPr txBox="1"/>
          <p:nvPr/>
        </p:nvSpPr>
        <p:spPr>
          <a:xfrm>
            <a:off x="3160166" y="4261104"/>
            <a:ext cx="1623974" cy="777240"/>
          </a:xfrm>
          <a:prstGeom prst="rect">
            <a:avLst/>
          </a:prstGeom>
          <a:noFill/>
          <a:ln/>
        </p:spPr>
        <p:txBody>
          <a:bodyPr wrap="square" lIns="0" tIns="0" rIns="0" bIns="0" rtlCol="0" anchor="t"/>
          <a:lstStyle/>
          <a:p>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CORREL, 상관 분석 도구로 함께 움직이는 변수 찾기</a:t>
            </a:r>
            <a:endParaRPr lang="en-US" sz="1300" dirty="0"/>
          </a:p>
        </p:txBody>
      </p:sp>
      <p:sp>
        <p:nvSpPr>
          <p:cNvPr id="14" name="Shape 12"/>
          <p:cNvSpPr/>
          <p:nvPr/>
        </p:nvSpPr>
        <p:spPr>
          <a:xfrm>
            <a:off x="5104181" y="3355848"/>
            <a:ext cx="1989734" cy="1783080"/>
          </a:xfrm>
          <a:prstGeom prst="roundRect">
            <a:avLst>
              <a:gd name="adj" fmla="val 5128"/>
            </a:avLst>
          </a:prstGeom>
          <a:solidFill>
            <a:srgbClr val="FCFCFA"/>
          </a:solidFill>
          <a:ln/>
        </p:spPr>
      </p:sp>
      <p:sp>
        <p:nvSpPr>
          <p:cNvPr id="15" name="Text 13"/>
          <p:cNvSpPr txBox="1"/>
          <p:nvPr/>
        </p:nvSpPr>
        <p:spPr>
          <a:xfrm>
            <a:off x="5305349" y="3566160"/>
            <a:ext cx="1623974"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STEP 3</a:t>
            </a:r>
            <a:endParaRPr lang="en-US" sz="1400" dirty="0"/>
          </a:p>
        </p:txBody>
      </p:sp>
      <p:sp>
        <p:nvSpPr>
          <p:cNvPr id="16" name="Text 14"/>
          <p:cNvSpPr txBox="1"/>
          <p:nvPr/>
        </p:nvSpPr>
        <p:spPr>
          <a:xfrm>
            <a:off x="5305349" y="3886200"/>
            <a:ext cx="1623974" cy="301752"/>
          </a:xfrm>
          <a:prstGeom prst="rect">
            <a:avLst/>
          </a:prstGeom>
          <a:noFill/>
          <a:ln/>
        </p:spPr>
        <p:txBody>
          <a:bodyPr wrap="square" lIns="0" tIns="0" rIns="0" bIns="0" rtlCol="0" anchor="t"/>
          <a:lstStyle/>
          <a:p>
            <a:pPr indent="0" marL="0">
              <a:lnSpc>
                <a:spcPts val="2520"/>
              </a:lnSpc>
              <a:buNone/>
            </a:pPr>
            <a:r>
              <a:rPr lang="en-US" sz="1800" b="1" dirty="0">
                <a:solidFill>
                  <a:srgbClr val="12304D"/>
                </a:solidFill>
                <a:latin typeface="Arial" pitchFamily="34" charset="0"/>
                <a:ea typeface="맑은 고딕" pitchFamily="34" charset="-122"/>
                <a:cs typeface="Arial" pitchFamily="34" charset="-120"/>
              </a:rPr>
              <a:t>회귀분석</a:t>
            </a:r>
            <a:endParaRPr lang="en-US" sz="1800" dirty="0"/>
          </a:p>
        </p:txBody>
      </p:sp>
      <p:sp>
        <p:nvSpPr>
          <p:cNvPr id="17" name="Text 15"/>
          <p:cNvSpPr txBox="1"/>
          <p:nvPr/>
        </p:nvSpPr>
        <p:spPr>
          <a:xfrm>
            <a:off x="5305349" y="4261104"/>
            <a:ext cx="1623974" cy="777240"/>
          </a:xfrm>
          <a:prstGeom prst="rect">
            <a:avLst/>
          </a:prstGeom>
          <a:noFill/>
          <a:ln/>
        </p:spPr>
        <p:txBody>
          <a:bodyPr wrap="square" lIns="0" tIns="0" rIns="0" bIns="0" rtlCol="0" anchor="t"/>
          <a:lstStyle/>
          <a:p>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SLOPE, 회귀 분석 도구로 영향의 크기와 예측값 구하기</a:t>
            </a:r>
            <a:endParaRPr lang="en-US" sz="1300" dirty="0"/>
          </a:p>
        </p:txBody>
      </p:sp>
      <p:sp>
        <p:nvSpPr>
          <p:cNvPr id="18" name="Shape 16"/>
          <p:cNvSpPr/>
          <p:nvPr/>
        </p:nvSpPr>
        <p:spPr>
          <a:xfrm>
            <a:off x="7249363" y="3355848"/>
            <a:ext cx="1989734" cy="1783080"/>
          </a:xfrm>
          <a:prstGeom prst="roundRect">
            <a:avLst>
              <a:gd name="adj" fmla="val 5128"/>
            </a:avLst>
          </a:prstGeom>
          <a:solidFill>
            <a:srgbClr val="FCFCFA"/>
          </a:solidFill>
          <a:ln/>
        </p:spPr>
      </p:sp>
      <p:sp>
        <p:nvSpPr>
          <p:cNvPr id="19" name="Text 17"/>
          <p:cNvSpPr txBox="1"/>
          <p:nvPr/>
        </p:nvSpPr>
        <p:spPr>
          <a:xfrm>
            <a:off x="7450531" y="3566160"/>
            <a:ext cx="1623974"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STEP 4</a:t>
            </a:r>
            <a:endParaRPr lang="en-US" sz="1400" dirty="0"/>
          </a:p>
        </p:txBody>
      </p:sp>
      <p:sp>
        <p:nvSpPr>
          <p:cNvPr id="20" name="Text 18"/>
          <p:cNvSpPr txBox="1"/>
          <p:nvPr/>
        </p:nvSpPr>
        <p:spPr>
          <a:xfrm>
            <a:off x="7450531" y="3886200"/>
            <a:ext cx="1623974" cy="301752"/>
          </a:xfrm>
          <a:prstGeom prst="rect">
            <a:avLst/>
          </a:prstGeom>
          <a:noFill/>
          <a:ln/>
        </p:spPr>
        <p:txBody>
          <a:bodyPr wrap="square" lIns="0" tIns="0" rIns="0" bIns="0" rtlCol="0" anchor="t"/>
          <a:lstStyle/>
          <a:p>
            <a:pPr indent="0" marL="0">
              <a:lnSpc>
                <a:spcPts val="2520"/>
              </a:lnSpc>
              <a:buNone/>
            </a:pPr>
            <a:r>
              <a:rPr lang="en-US" sz="1800" b="1" dirty="0">
                <a:solidFill>
                  <a:srgbClr val="12304D"/>
                </a:solidFill>
                <a:latin typeface="Arial" pitchFamily="34" charset="0"/>
                <a:ea typeface="맑은 고딕" pitchFamily="34" charset="-122"/>
                <a:cs typeface="Arial" pitchFamily="34" charset="-120"/>
              </a:rPr>
              <a:t>시각화</a:t>
            </a:r>
            <a:endParaRPr lang="en-US" sz="1800" dirty="0"/>
          </a:p>
        </p:txBody>
      </p:sp>
      <p:sp>
        <p:nvSpPr>
          <p:cNvPr id="21" name="Text 19"/>
          <p:cNvSpPr txBox="1"/>
          <p:nvPr/>
        </p:nvSpPr>
        <p:spPr>
          <a:xfrm>
            <a:off x="7450531" y="4261104"/>
            <a:ext cx="1623974" cy="777240"/>
          </a:xfrm>
          <a:prstGeom prst="rect">
            <a:avLst/>
          </a:prstGeom>
          <a:noFill/>
          <a:ln/>
        </p:spPr>
        <p:txBody>
          <a:bodyPr wrap="square" lIns="0" tIns="0" rIns="0" bIns="0" rtlCol="0" anchor="t"/>
          <a:lstStyle/>
          <a:p>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산점도+추세선, 콤보 차트로 한눈에 보이기</a:t>
            </a:r>
            <a:endParaRPr lang="en-US" sz="1300" dirty="0"/>
          </a:p>
        </p:txBody>
      </p:sp>
      <p:sp>
        <p:nvSpPr>
          <p:cNvPr id="22" name="Shape 20"/>
          <p:cNvSpPr/>
          <p:nvPr/>
        </p:nvSpPr>
        <p:spPr>
          <a:xfrm>
            <a:off x="9394546" y="3355848"/>
            <a:ext cx="1989734" cy="1783080"/>
          </a:xfrm>
          <a:prstGeom prst="roundRect">
            <a:avLst>
              <a:gd name="adj" fmla="val 5128"/>
            </a:avLst>
          </a:prstGeom>
          <a:solidFill>
            <a:srgbClr val="12304D"/>
          </a:solidFill>
          <a:ln/>
        </p:spPr>
      </p:sp>
      <p:sp>
        <p:nvSpPr>
          <p:cNvPr id="23" name="Text 21"/>
          <p:cNvSpPr txBox="1"/>
          <p:nvPr/>
        </p:nvSpPr>
        <p:spPr>
          <a:xfrm>
            <a:off x="9595714" y="3566160"/>
            <a:ext cx="1623974" cy="274320"/>
          </a:xfrm>
          <a:prstGeom prst="rect">
            <a:avLst/>
          </a:prstGeom>
          <a:noFill/>
          <a:ln/>
        </p:spPr>
        <p:txBody>
          <a:bodyPr wrap="square" lIns="0" tIns="0" rIns="0" bIns="0" rtlCol="0" anchor="t"/>
          <a:lstStyle/>
          <a:p>
            <a:pPr indent="0" marL="0">
              <a:lnSpc>
                <a:spcPts val="1960"/>
              </a:lnSpc>
              <a:buNone/>
            </a:pPr>
            <a:r>
              <a:rPr lang="en-US" sz="1400" b="1" dirty="0">
                <a:solidFill>
                  <a:srgbClr val="F2A65A"/>
                </a:solidFill>
                <a:latin typeface="Arial" pitchFamily="34" charset="0"/>
                <a:ea typeface="맑은 고딕" pitchFamily="34" charset="-122"/>
                <a:cs typeface="Arial" pitchFamily="34" charset="-120"/>
              </a:rPr>
              <a:t>STEP 5</a:t>
            </a:r>
            <a:endParaRPr lang="en-US" sz="1400" dirty="0"/>
          </a:p>
        </p:txBody>
      </p:sp>
      <p:sp>
        <p:nvSpPr>
          <p:cNvPr id="24" name="Text 22"/>
          <p:cNvSpPr txBox="1"/>
          <p:nvPr/>
        </p:nvSpPr>
        <p:spPr>
          <a:xfrm>
            <a:off x="9595714" y="3886200"/>
            <a:ext cx="1623974" cy="301752"/>
          </a:xfrm>
          <a:prstGeom prst="rect">
            <a:avLst/>
          </a:prstGeom>
          <a:noFill/>
          <a:ln/>
        </p:spPr>
        <p:txBody>
          <a:bodyPr wrap="square" lIns="0" tIns="0" rIns="0" bIns="0" rtlCol="0" anchor="t"/>
          <a:lstStyle/>
          <a:p>
            <a:pPr indent="0" marL="0">
              <a:lnSpc>
                <a:spcPts val="2520"/>
              </a:lnSpc>
              <a:buNone/>
            </a:pPr>
            <a:r>
              <a:rPr lang="en-US" sz="1800" b="1" dirty="0">
                <a:solidFill>
                  <a:srgbClr val="F5F4EF"/>
                </a:solidFill>
                <a:latin typeface="Arial" pitchFamily="34" charset="0"/>
                <a:ea typeface="맑은 고딕" pitchFamily="34" charset="-122"/>
                <a:cs typeface="Arial" pitchFamily="34" charset="-120"/>
              </a:rPr>
              <a:t>보고서</a:t>
            </a:r>
            <a:endParaRPr lang="en-US" sz="1800" dirty="0"/>
          </a:p>
        </p:txBody>
      </p:sp>
      <p:sp>
        <p:nvSpPr>
          <p:cNvPr id="25" name="Text 23"/>
          <p:cNvSpPr txBox="1"/>
          <p:nvPr/>
        </p:nvSpPr>
        <p:spPr>
          <a:xfrm>
            <a:off x="9595714" y="4261104"/>
            <a:ext cx="1623974" cy="777240"/>
          </a:xfrm>
          <a:prstGeom prst="rect">
            <a:avLst/>
          </a:prstGeom>
          <a:noFill/>
          <a:ln/>
        </p:spPr>
        <p:txBody>
          <a:bodyPr wrap="square" lIns="0" tIns="0" rIns="0" bIns="0" rtlCol="0" anchor="t"/>
          <a:lstStyle/>
          <a:p>
            <a:pPr indent="0" marL="0">
              <a:lnSpc>
                <a:spcPts val="1820"/>
              </a:lnSpc>
              <a:buNone/>
            </a:pPr>
            <a:r>
              <a:rPr lang="en-US" sz="1300" dirty="0">
                <a:solidFill>
                  <a:srgbClr val="BFD0DE"/>
                </a:solidFill>
                <a:latin typeface="Arial" pitchFamily="34" charset="0"/>
                <a:ea typeface="맑은 고딕" pitchFamily="34" charset="-122"/>
                <a:cs typeface="Arial" pitchFamily="34" charset="-120"/>
              </a:rPr>
              <a:t>AI로 초안 쓰고 수치·해석 검증해 완성</a:t>
            </a:r>
            <a:endParaRPr lang="en-US" sz="1300" dirty="0"/>
          </a:p>
        </p:txBody>
      </p:sp>
      <p:sp>
        <p:nvSpPr>
          <p:cNvPr id="26" name="Text 24"/>
          <p:cNvSpPr txBox="1"/>
          <p:nvPr/>
        </p:nvSpPr>
        <p:spPr>
          <a:xfrm>
            <a:off x="813816" y="5376672"/>
            <a:ext cx="10570464" cy="274320"/>
          </a:xfrm>
          <a:prstGeom prst="rect">
            <a:avLst/>
          </a:prstGeom>
          <a:noFill/>
          <a:ln/>
        </p:spPr>
        <p:txBody>
          <a:bodyPr wrap="square" lIns="0" tIns="0" rIns="0" bIns="0" rtlCol="0" anchor="t"/>
          <a:lstStyle/>
          <a:p>
            <a:pPr indent="0" marL="0">
              <a:lnSpc>
                <a:spcPts val="1960"/>
              </a:lnSpc>
              <a:buNone/>
            </a:pPr>
            <a:r>
              <a:rPr lang="en-US" sz="1400" b="1" dirty="0">
                <a:solidFill>
                  <a:srgbClr val="12304D"/>
                </a:solidFill>
                <a:latin typeface="Arial" pitchFamily="34" charset="0"/>
                <a:ea typeface="맑은 고딕" pitchFamily="34" charset="-122"/>
                <a:cs typeface="Arial" pitchFamily="34" charset="-120"/>
              </a:rPr>
              <a:t>산출물</a:t>
            </a:r>
            <a:pPr indent="0" marL="0">
              <a:lnSpc>
                <a:spcPts val="1960"/>
              </a:lnSpc>
              <a:buNone/>
            </a:pPr>
            <a:r>
              <a:rPr lang="en-US" sz="1400" dirty="0">
                <a:solidFill>
                  <a:srgbClr val="3D4A57"/>
                </a:solidFill>
                <a:latin typeface="Arial" pitchFamily="34" charset="0"/>
                <a:ea typeface="맑은 고딕" pitchFamily="34" charset="-122"/>
                <a:cs typeface="Arial" pitchFamily="34" charset="-120"/>
              </a:rPr>
              <a:t>　상관계수 표 · 회귀식과 예측값 · 차트 2개 · 1쪽 분석 보고서</a:t>
            </a:r>
            <a:endParaRPr lang="en-US" sz="1400" dirty="0"/>
          </a:p>
        </p:txBody>
      </p:sp>
      <p:sp>
        <p:nvSpPr>
          <p:cNvPr id="27" name="Text 25"/>
          <p:cNvSpPr txBox="1"/>
          <p:nvPr/>
        </p:nvSpPr>
        <p:spPr>
          <a:xfrm>
            <a:off x="813816" y="6236208"/>
            <a:ext cx="10881360" cy="237744"/>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생성형 AI 실무 활용 · 1일차</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E8EEF2"/>
        </a:solidFill>
      </p:bgPr>
    </p:bg>
    <p:spTree>
      <p:nvGrpSpPr>
        <p:cNvPr id="1" name=""/>
        <p:cNvGrpSpPr/>
        <p:nvPr/>
      </p:nvGrpSpPr>
      <p:grpSpPr>
        <a:xfrm>
          <a:off x="0" y="0"/>
          <a:ext cx="0" cy="0"/>
          <a:chOff x="0" y="0"/>
          <a:chExt cx="0" cy="0"/>
        </a:xfrm>
      </p:grpSpPr>
      <p:sp>
        <p:nvSpPr>
          <p:cNvPr id="2" name="Text 0"/>
          <p:cNvSpPr txBox="1"/>
          <p:nvPr/>
        </p:nvSpPr>
        <p:spPr>
          <a:xfrm>
            <a:off x="813816" y="713232"/>
            <a:ext cx="10881360"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종합 예제 ① 상황과 데이터</a:t>
            </a:r>
            <a:endParaRPr lang="en-US" sz="1400" dirty="0"/>
          </a:p>
        </p:txBody>
      </p:sp>
      <p:sp>
        <p:nvSpPr>
          <p:cNvPr id="3" name="Title"/>
          <p:cNvSpPr/>
          <p:nvPr>
            <p:ph type="title"/>
          </p:nvPr>
        </p:nvSpPr>
        <p:spPr>
          <a:xfrm>
            <a:off x="813816" y="1024128"/>
            <a:ext cx="10881360" cy="429768"/>
          </a:xfrm>
          <a:prstGeom prst="rect">
            <a:avLst/>
          </a:prstGeom>
          <a:noFill/>
          <a:ln/>
        </p:spPr>
        <p:txBody>
          <a:bodyPr wrap="square" lIns="0" tIns="0" rIns="0" bIns="0" rtlCol="0" anchor="t"/>
          <a:lstStyle/>
          <a:p>
            <a:pPr indent="0" marL="0">
              <a:lnSpc>
                <a:spcPts val="3640"/>
              </a:lnSpc>
              <a:buNone/>
            </a:pPr>
            <a:r>
              <a:rPr lang="en-US" sz="2600" b="1" dirty="0">
                <a:solidFill>
                  <a:srgbClr val="12304D"/>
                </a:solidFill>
                <a:latin typeface="Arial" pitchFamily="34" charset="0"/>
                <a:ea typeface="맑은 고딕" pitchFamily="34" charset="-122"/>
                <a:cs typeface="Arial" pitchFamily="34" charset="-120"/>
              </a:rPr>
              <a:t>해운대점 9월 일별 판매 데이터 (30일)</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3816" y="1627632"/>
          <a:ext cx="7543800" cy="914400"/>
        </p:xfrm>
        <a:graphic>
          <a:graphicData uri="http://schemas.openxmlformats.org/drawingml/2006/table">
            <a:tbl>
              <a:tblPr/>
              <a:tblGrid>
                <a:gridCol w="713232"/>
                <a:gridCol w="566928"/>
                <a:gridCol w="566928"/>
                <a:gridCol w="868680"/>
                <a:gridCol w="822960"/>
                <a:gridCol w="868680"/>
                <a:gridCol w="914400"/>
                <a:gridCol w="914400"/>
                <a:gridCol w="850392"/>
              </a:tblGrid>
              <a:tr h="237744">
                <a:tc>
                  <a:txBody>
                    <a:bodyPr/>
                    <a:lstStyle/>
                    <a:p>
                      <a:pPr algn="ctr" indent="0" marL="0">
                        <a:buNone/>
                      </a:pPr>
                      <a:r>
                        <a:rPr lang="en-US" sz="1000" b="1" dirty="0">
                          <a:solidFill>
                            <a:srgbClr val="5E6977"/>
                          </a:solidFill>
                          <a:latin typeface="Arial" pitchFamily="34" charset="0"/>
                          <a:ea typeface="맑은 고딕" pitchFamily="34" charset="-122"/>
                          <a:cs typeface="Arial" pitchFamily="34" charset="-120"/>
                        </a:rPr>
                        <a:t>A</a:t>
                      </a:r>
                      <a:endParaRPr lang="en-US" sz="10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DDE3E8"/>
                    </a:solidFill>
                  </a:tcPr>
                </a:tc>
                <a:tc>
                  <a:txBody>
                    <a:bodyPr/>
                    <a:lstStyle/>
                    <a:p>
                      <a:pPr algn="ctr" indent="0" marL="0">
                        <a:buNone/>
                      </a:pPr>
                      <a:r>
                        <a:rPr lang="en-US" sz="1000" b="1" dirty="0">
                          <a:solidFill>
                            <a:srgbClr val="5E6977"/>
                          </a:solidFill>
                          <a:latin typeface="Arial" pitchFamily="34" charset="0"/>
                          <a:ea typeface="맑은 고딕" pitchFamily="34" charset="-122"/>
                          <a:cs typeface="Arial" pitchFamily="34" charset="-120"/>
                        </a:rPr>
                        <a:t>B</a:t>
                      </a:r>
                      <a:endParaRPr lang="en-US" sz="10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DDE3E8"/>
                    </a:solidFill>
                  </a:tcPr>
                </a:tc>
                <a:tc>
                  <a:txBody>
                    <a:bodyPr/>
                    <a:lstStyle/>
                    <a:p>
                      <a:pPr algn="ctr" indent="0" marL="0">
                        <a:buNone/>
                      </a:pPr>
                      <a:r>
                        <a:rPr lang="en-US" sz="1000" b="1" dirty="0">
                          <a:solidFill>
                            <a:srgbClr val="5E6977"/>
                          </a:solidFill>
                          <a:latin typeface="Arial" pitchFamily="34" charset="0"/>
                          <a:ea typeface="맑은 고딕" pitchFamily="34" charset="-122"/>
                          <a:cs typeface="Arial" pitchFamily="34" charset="-120"/>
                        </a:rPr>
                        <a:t>C</a:t>
                      </a:r>
                      <a:endParaRPr lang="en-US" sz="10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DDE3E8"/>
                    </a:solidFill>
                  </a:tcPr>
                </a:tc>
                <a:tc>
                  <a:txBody>
                    <a:bodyPr/>
                    <a:lstStyle/>
                    <a:p>
                      <a:pPr algn="ctr" indent="0" marL="0">
                        <a:buNone/>
                      </a:pPr>
                      <a:r>
                        <a:rPr lang="en-US" sz="1000" b="1" dirty="0">
                          <a:solidFill>
                            <a:srgbClr val="5E6977"/>
                          </a:solidFill>
                          <a:latin typeface="Arial" pitchFamily="34" charset="0"/>
                          <a:ea typeface="맑은 고딕" pitchFamily="34" charset="-122"/>
                          <a:cs typeface="Arial" pitchFamily="34" charset="-120"/>
                        </a:rPr>
                        <a:t>D</a:t>
                      </a:r>
                      <a:endParaRPr lang="en-US" sz="10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DDE3E8"/>
                    </a:solidFill>
                  </a:tcPr>
                </a:tc>
                <a:tc>
                  <a:txBody>
                    <a:bodyPr/>
                    <a:lstStyle/>
                    <a:p>
                      <a:pPr algn="ctr" indent="0" marL="0">
                        <a:buNone/>
                      </a:pPr>
                      <a:r>
                        <a:rPr lang="en-US" sz="1000" b="1" dirty="0">
                          <a:solidFill>
                            <a:srgbClr val="5E6977"/>
                          </a:solidFill>
                          <a:latin typeface="Arial" pitchFamily="34" charset="0"/>
                          <a:ea typeface="맑은 고딕" pitchFamily="34" charset="-122"/>
                          <a:cs typeface="Arial" pitchFamily="34" charset="-120"/>
                        </a:rPr>
                        <a:t>E</a:t>
                      </a:r>
                      <a:endParaRPr lang="en-US" sz="10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DDE3E8"/>
                    </a:solidFill>
                  </a:tcPr>
                </a:tc>
                <a:tc>
                  <a:txBody>
                    <a:bodyPr/>
                    <a:lstStyle/>
                    <a:p>
                      <a:pPr algn="ctr" indent="0" marL="0">
                        <a:buNone/>
                      </a:pPr>
                      <a:r>
                        <a:rPr lang="en-US" sz="1000" b="1" dirty="0">
                          <a:solidFill>
                            <a:srgbClr val="5E6977"/>
                          </a:solidFill>
                          <a:latin typeface="Arial" pitchFamily="34" charset="0"/>
                          <a:ea typeface="맑은 고딕" pitchFamily="34" charset="-122"/>
                          <a:cs typeface="Arial" pitchFamily="34" charset="-120"/>
                        </a:rPr>
                        <a:t>F</a:t>
                      </a:r>
                      <a:endParaRPr lang="en-US" sz="10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DDE3E8"/>
                    </a:solidFill>
                  </a:tcPr>
                </a:tc>
                <a:tc>
                  <a:txBody>
                    <a:bodyPr/>
                    <a:lstStyle/>
                    <a:p>
                      <a:pPr algn="ctr" indent="0" marL="0">
                        <a:buNone/>
                      </a:pPr>
                      <a:r>
                        <a:rPr lang="en-US" sz="1000" b="1" dirty="0">
                          <a:solidFill>
                            <a:srgbClr val="5E6977"/>
                          </a:solidFill>
                          <a:latin typeface="Arial" pitchFamily="34" charset="0"/>
                          <a:ea typeface="맑은 고딕" pitchFamily="34" charset="-122"/>
                          <a:cs typeface="Arial" pitchFamily="34" charset="-120"/>
                        </a:rPr>
                        <a:t>G</a:t>
                      </a:r>
                      <a:endParaRPr lang="en-US" sz="10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DDE3E8"/>
                    </a:solidFill>
                  </a:tcPr>
                </a:tc>
                <a:tc>
                  <a:txBody>
                    <a:bodyPr/>
                    <a:lstStyle/>
                    <a:p>
                      <a:pPr algn="ctr" indent="0" marL="0">
                        <a:buNone/>
                      </a:pPr>
                      <a:r>
                        <a:rPr lang="en-US" sz="1000" b="1" dirty="0">
                          <a:solidFill>
                            <a:srgbClr val="5E6977"/>
                          </a:solidFill>
                          <a:latin typeface="Arial" pitchFamily="34" charset="0"/>
                          <a:ea typeface="맑은 고딕" pitchFamily="34" charset="-122"/>
                          <a:cs typeface="Arial" pitchFamily="34" charset="-120"/>
                        </a:rPr>
                        <a:t>H</a:t>
                      </a:r>
                      <a:endParaRPr lang="en-US" sz="10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DDE3E8"/>
                    </a:solidFill>
                  </a:tcPr>
                </a:tc>
                <a:tc>
                  <a:txBody>
                    <a:bodyPr/>
                    <a:lstStyle/>
                    <a:p>
                      <a:pPr algn="ctr" indent="0" marL="0">
                        <a:buNone/>
                      </a:pPr>
                      <a:r>
                        <a:rPr lang="en-US" sz="1000" b="1" dirty="0">
                          <a:solidFill>
                            <a:srgbClr val="5E6977"/>
                          </a:solidFill>
                          <a:latin typeface="Arial" pitchFamily="34" charset="0"/>
                          <a:ea typeface="맑은 고딕" pitchFamily="34" charset="-122"/>
                          <a:cs typeface="Arial" pitchFamily="34" charset="-120"/>
                        </a:rPr>
                        <a:t>I</a:t>
                      </a:r>
                      <a:endParaRPr lang="en-US" sz="10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DDE3E8"/>
                    </a:solidFill>
                  </a:tcPr>
                </a:tc>
              </a:tr>
              <a:tr h="475488">
                <a:tc>
                  <a:txBody>
                    <a:bodyPr/>
                    <a:lstStyle/>
                    <a:p>
                      <a:pPr algn="ctr" indent="0" marL="0">
                        <a:buNone/>
                      </a:pPr>
                      <a:r>
                        <a:rPr lang="en-US" sz="1200" b="1" dirty="0">
                          <a:solidFill>
                            <a:srgbClr val="F5F4EF"/>
                          </a:solidFill>
                          <a:latin typeface="Arial" pitchFamily="34" charset="0"/>
                          <a:ea typeface="맑은 고딕" pitchFamily="34" charset="-122"/>
                          <a:cs typeface="Arial" pitchFamily="34" charset="-120"/>
                        </a:rPr>
                        <a:t>날짜</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200" b="1" dirty="0">
                          <a:solidFill>
                            <a:srgbClr val="F5F4EF"/>
                          </a:solidFill>
                          <a:latin typeface="Arial" pitchFamily="34" charset="0"/>
                          <a:ea typeface="맑은 고딕" pitchFamily="34" charset="-122"/>
                          <a:cs typeface="Arial" pitchFamily="34" charset="-120"/>
                        </a:rPr>
                        <a:t>요일</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200" b="1" dirty="0">
                          <a:solidFill>
                            <a:srgbClr val="F5F4EF"/>
                          </a:solidFill>
                          <a:latin typeface="Arial" pitchFamily="34" charset="0"/>
                          <a:ea typeface="맑은 고딕" pitchFamily="34" charset="-122"/>
                          <a:cs typeface="Arial" pitchFamily="34" charset="-120"/>
                        </a:rPr>
                        <a:t>주말</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200" b="1" dirty="0">
                          <a:solidFill>
                            <a:srgbClr val="F5F4EF"/>
                          </a:solidFill>
                          <a:latin typeface="Arial" pitchFamily="34" charset="0"/>
                          <a:ea typeface="맑은 고딕" pitchFamily="34" charset="-122"/>
                          <a:cs typeface="Arial" pitchFamily="34" charset="-120"/>
                        </a:rPr>
                        <a:t>최고기온</a:t>
                      </a:r>
                      <a:endParaRPr lang="en-US" sz="1200" dirty="0">
                        <a:latin typeface="Arial" charset="0"/>
                        <a:ea typeface="맑은 고딕" charset="0"/>
                        <a:cs typeface="Arial" charset="0"/>
                      </a:endParaRPr>
                    </a:p>
                    <a:p>
                      <a:pPr algn="ctr" indent="0" marL="0">
                        <a:buNone/>
                      </a:pPr>
                      <a:r>
                        <a:rPr lang="en-US" sz="1200" b="1" dirty="0">
                          <a:solidFill>
                            <a:srgbClr val="F5F4EF"/>
                          </a:solidFill>
                          <a:latin typeface="Arial" pitchFamily="34" charset="0"/>
                          <a:ea typeface="맑은 고딕" pitchFamily="34" charset="-122"/>
                          <a:cs typeface="Arial" pitchFamily="34" charset="-120"/>
                        </a:rPr>
                        <a:t>(℃)</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200" b="1" dirty="0">
                          <a:solidFill>
                            <a:srgbClr val="F5F4EF"/>
                          </a:solidFill>
                          <a:latin typeface="Arial" pitchFamily="34" charset="0"/>
                          <a:ea typeface="맑은 고딕" pitchFamily="34" charset="-122"/>
                          <a:cs typeface="Arial" pitchFamily="34" charset="-120"/>
                        </a:rPr>
                        <a:t>강수량</a:t>
                      </a:r>
                      <a:endParaRPr lang="en-US" sz="1200" dirty="0">
                        <a:latin typeface="Arial" charset="0"/>
                        <a:ea typeface="맑은 고딕" charset="0"/>
                        <a:cs typeface="Arial" charset="0"/>
                      </a:endParaRPr>
                    </a:p>
                    <a:p>
                      <a:pPr algn="ctr" indent="0" marL="0">
                        <a:buNone/>
                      </a:pPr>
                      <a:r>
                        <a:rPr lang="en-US" sz="1200" b="1" dirty="0">
                          <a:solidFill>
                            <a:srgbClr val="F5F4EF"/>
                          </a:solidFill>
                          <a:latin typeface="Arial" pitchFamily="34" charset="0"/>
                          <a:ea typeface="맑은 고딕" pitchFamily="34" charset="-122"/>
                          <a:cs typeface="Arial" pitchFamily="34" charset="-120"/>
                        </a:rPr>
                        <a:t>(mm)</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200" b="1" dirty="0">
                          <a:solidFill>
                            <a:srgbClr val="F5F4EF"/>
                          </a:solidFill>
                          <a:latin typeface="Arial" pitchFamily="34" charset="0"/>
                          <a:ea typeface="맑은 고딕" pitchFamily="34" charset="-122"/>
                          <a:cs typeface="Arial" pitchFamily="34" charset="-120"/>
                        </a:rPr>
                        <a:t>방문객수</a:t>
                      </a:r>
                      <a:endParaRPr lang="en-US" sz="1200" dirty="0">
                        <a:latin typeface="Arial" charset="0"/>
                        <a:ea typeface="맑은 고딕" charset="0"/>
                        <a:cs typeface="Arial" charset="0"/>
                      </a:endParaRPr>
                    </a:p>
                    <a:p>
                      <a:pPr algn="ctr" indent="0" marL="0">
                        <a:buNone/>
                      </a:pPr>
                      <a:r>
                        <a:rPr lang="en-US" sz="1200" b="1" dirty="0">
                          <a:solidFill>
                            <a:srgbClr val="F5F4EF"/>
                          </a:solidFill>
                          <a:latin typeface="Arial" pitchFamily="34" charset="0"/>
                          <a:ea typeface="맑은 고딕" pitchFamily="34" charset="-122"/>
                          <a:cs typeface="Arial" pitchFamily="34" charset="-120"/>
                        </a:rPr>
                        <a:t>(명)</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200" b="1" dirty="0">
                          <a:solidFill>
                            <a:srgbClr val="F5F4EF"/>
                          </a:solidFill>
                          <a:latin typeface="Arial" pitchFamily="34" charset="0"/>
                          <a:ea typeface="맑은 고딕" pitchFamily="34" charset="-122"/>
                          <a:cs typeface="Arial" pitchFamily="34" charset="-120"/>
                        </a:rPr>
                        <a:t>아이스음료</a:t>
                      </a:r>
                      <a:endParaRPr lang="en-US" sz="1200" dirty="0">
                        <a:latin typeface="Arial" charset="0"/>
                        <a:ea typeface="맑은 고딕" charset="0"/>
                        <a:cs typeface="Arial" charset="0"/>
                      </a:endParaRPr>
                    </a:p>
                    <a:p>
                      <a:pPr algn="ctr" indent="0" marL="0">
                        <a:buNone/>
                      </a:pPr>
                      <a:r>
                        <a:rPr lang="en-US" sz="1200" b="1" dirty="0">
                          <a:solidFill>
                            <a:srgbClr val="F5F4EF"/>
                          </a:solidFill>
                          <a:latin typeface="Arial" pitchFamily="34" charset="0"/>
                          <a:ea typeface="맑은 고딕" pitchFamily="34" charset="-122"/>
                          <a:cs typeface="Arial" pitchFamily="34" charset="-120"/>
                        </a:rPr>
                        <a:t>(잔)</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200" b="1" dirty="0">
                          <a:solidFill>
                            <a:srgbClr val="F5F4EF"/>
                          </a:solidFill>
                          <a:latin typeface="Arial" pitchFamily="34" charset="0"/>
                          <a:ea typeface="맑은 고딕" pitchFamily="34" charset="-122"/>
                          <a:cs typeface="Arial" pitchFamily="34" charset="-120"/>
                        </a:rPr>
                        <a:t>따뜻한음료</a:t>
                      </a:r>
                      <a:endParaRPr lang="en-US" sz="1200" dirty="0">
                        <a:latin typeface="Arial" charset="0"/>
                        <a:ea typeface="맑은 고딕" charset="0"/>
                        <a:cs typeface="Arial" charset="0"/>
                      </a:endParaRPr>
                    </a:p>
                    <a:p>
                      <a:pPr algn="ctr" indent="0" marL="0">
                        <a:buNone/>
                      </a:pPr>
                      <a:r>
                        <a:rPr lang="en-US" sz="1200" b="1" dirty="0">
                          <a:solidFill>
                            <a:srgbClr val="F5F4EF"/>
                          </a:solidFill>
                          <a:latin typeface="Arial" pitchFamily="34" charset="0"/>
                          <a:ea typeface="맑은 고딕" pitchFamily="34" charset="-122"/>
                          <a:cs typeface="Arial" pitchFamily="34" charset="-120"/>
                        </a:rPr>
                        <a:t>(잔)</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200" b="1" dirty="0">
                          <a:solidFill>
                            <a:srgbClr val="F5F4EF"/>
                          </a:solidFill>
                          <a:latin typeface="Arial" pitchFamily="34" charset="0"/>
                          <a:ea typeface="맑은 고딕" pitchFamily="34" charset="-122"/>
                          <a:cs typeface="Arial" pitchFamily="34" charset="-120"/>
                        </a:rPr>
                        <a:t>매출액</a:t>
                      </a:r>
                      <a:endParaRPr lang="en-US" sz="1200" dirty="0">
                        <a:latin typeface="Arial" charset="0"/>
                        <a:ea typeface="맑은 고딕" charset="0"/>
                        <a:cs typeface="Arial" charset="0"/>
                      </a:endParaRPr>
                    </a:p>
                    <a:p>
                      <a:pPr algn="ctr" indent="0" marL="0">
                        <a:buNone/>
                      </a:pPr>
                      <a:r>
                        <a:rPr lang="en-US" sz="1200" b="1" dirty="0">
                          <a:solidFill>
                            <a:srgbClr val="F5F4EF"/>
                          </a:solidFill>
                          <a:latin typeface="Arial" pitchFamily="34" charset="0"/>
                          <a:ea typeface="맑은 고딕" pitchFamily="34" charset="-122"/>
                          <a:cs typeface="Arial" pitchFamily="34" charset="-120"/>
                        </a:rPr>
                        <a:t>(천원)</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r>
              <a:tr h="301752">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09-01</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화</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0</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31.5</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0</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264</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255</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55</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2,354</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301752">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09-02</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수</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0</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31.4</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0</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261</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256</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62</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2,497</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r>
              <a:tr h="301752">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09-03</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목</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0</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31.2</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0</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266</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269</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51</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2,445</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301752">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09-04</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금</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0</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28.2</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0</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229</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206</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57</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2,188</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r>
              <a:tr h="301752">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09-05</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토</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1</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30.8</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0</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315</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266</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68</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2,975</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301752">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09-06</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일</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1</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28.3</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44</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212</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196</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70</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1,889</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r>
              <a:tr h="301752">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09-07</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월</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ctr" indent="0" marL="0">
                        <a:buNone/>
                      </a:pPr>
                      <a:r>
                        <a:rPr lang="en-US" sz="1200" dirty="0">
                          <a:solidFill>
                            <a:srgbClr val="12304D"/>
                          </a:solidFill>
                          <a:latin typeface="Arial" pitchFamily="34" charset="0"/>
                          <a:ea typeface="맑은 고딕" pitchFamily="34" charset="-122"/>
                          <a:cs typeface="Arial" pitchFamily="34" charset="-120"/>
                        </a:rPr>
                        <a:t>0</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30.1</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0</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254</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241</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63</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2,398</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301752">
                <a:tc gridSpan="9">
                  <a:txBody>
                    <a:bodyPr/>
                    <a:lstStyle/>
                    <a:p>
                      <a:pPr algn="ctr" indent="0" marL="0">
                        <a:buNone/>
                      </a:pPr>
                      <a:r>
                        <a:rPr lang="en-US" sz="1200" dirty="0">
                          <a:solidFill>
                            <a:srgbClr val="5E6977"/>
                          </a:solidFill>
                          <a:latin typeface="Arial" pitchFamily="34" charset="0"/>
                          <a:ea typeface="맑은 고딕" pitchFamily="34" charset="-122"/>
                          <a:cs typeface="Arial" pitchFamily="34" charset="-120"/>
                        </a:rPr>
                        <a:t>⋮  9월 30일까지 같은 형식으로 30행 (2~31행)</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hMerge="1">
                  <a:tcPr/>
                </a:tc>
                <a:tc hMerge="1">
                  <a:tcPr/>
                </a:tc>
                <a:tc hMerge="1">
                  <a:tcPr/>
                </a:tc>
                <a:tc hMerge="1">
                  <a:tcPr/>
                </a:tc>
                <a:tc hMerge="1">
                  <a:tcPr/>
                </a:tc>
                <a:tc hMerge="1">
                  <a:tcPr/>
                </a:tc>
                <a:tc hMerge="1">
                  <a:tcPr/>
                </a:tc>
                <a:tc hMerge="1">
                  <a:tcPr/>
                </a:tc>
              </a:tr>
            </a:tbl>
          </a:graphicData>
        </a:graphic>
      </p:graphicFrame>
      <p:sp>
        <p:nvSpPr>
          <p:cNvPr id="5" name="Shape 2"/>
          <p:cNvSpPr/>
          <p:nvPr/>
        </p:nvSpPr>
        <p:spPr>
          <a:xfrm>
            <a:off x="8595360" y="1627632"/>
            <a:ext cx="2788920" cy="4160520"/>
          </a:xfrm>
          <a:prstGeom prst="roundRect">
            <a:avLst>
              <a:gd name="adj" fmla="val 3934"/>
            </a:avLst>
          </a:prstGeom>
          <a:solidFill>
            <a:srgbClr val="12304D"/>
          </a:solidFill>
          <a:ln/>
        </p:spPr>
      </p:sp>
      <p:sp>
        <p:nvSpPr>
          <p:cNvPr id="6" name="Text 3"/>
          <p:cNvSpPr txBox="1"/>
          <p:nvPr/>
        </p:nvSpPr>
        <p:spPr>
          <a:xfrm>
            <a:off x="8823960" y="1810512"/>
            <a:ext cx="2377440" cy="274320"/>
          </a:xfrm>
          <a:prstGeom prst="rect">
            <a:avLst/>
          </a:prstGeom>
          <a:noFill/>
          <a:ln/>
        </p:spPr>
        <p:txBody>
          <a:bodyPr wrap="square" lIns="0" tIns="0" rIns="0" bIns="0" rtlCol="0" anchor="t"/>
          <a:lstStyle/>
          <a:p>
            <a:pPr indent="0" marL="0">
              <a:lnSpc>
                <a:spcPts val="2100"/>
              </a:lnSpc>
              <a:buNone/>
            </a:pPr>
            <a:r>
              <a:rPr lang="en-US" sz="1500" b="1" dirty="0">
                <a:solidFill>
                  <a:srgbClr val="F2A65A"/>
                </a:solidFill>
                <a:latin typeface="Arial" pitchFamily="34" charset="0"/>
                <a:ea typeface="맑은 고딕" pitchFamily="34" charset="-122"/>
                <a:cs typeface="Arial" pitchFamily="34" charset="-120"/>
              </a:rPr>
              <a:t>분석 질문</a:t>
            </a:r>
            <a:endParaRPr lang="en-US" sz="1500" dirty="0"/>
          </a:p>
        </p:txBody>
      </p:sp>
      <p:sp>
        <p:nvSpPr>
          <p:cNvPr id="7" name="Text 4"/>
          <p:cNvSpPr txBox="1"/>
          <p:nvPr/>
        </p:nvSpPr>
        <p:spPr>
          <a:xfrm>
            <a:off x="8823960" y="2212848"/>
            <a:ext cx="2395728" cy="548640"/>
          </a:xfrm>
          <a:prstGeom prst="rect">
            <a:avLst/>
          </a:prstGeom>
          <a:noFill/>
          <a:ln/>
        </p:spPr>
        <p:txBody>
          <a:bodyPr wrap="square" lIns="0" tIns="0" rIns="0" bIns="0" rtlCol="0" anchor="t"/>
          <a:lstStyle/>
          <a:p>
            <a:pPr indent="0" marL="0">
              <a:lnSpc>
                <a:spcPts val="1820"/>
              </a:lnSpc>
              <a:buNone/>
            </a:pPr>
            <a:r>
              <a:rPr lang="en-US" sz="1300" b="1" dirty="0">
                <a:solidFill>
                  <a:srgbClr val="F2A65A"/>
                </a:solidFill>
                <a:latin typeface="Arial" pitchFamily="34" charset="0"/>
                <a:ea typeface="맑은 고딕" pitchFamily="34" charset="-122"/>
                <a:cs typeface="Arial" pitchFamily="34" charset="-120"/>
              </a:rPr>
              <a:t>Q1  </a:t>
            </a:r>
            <a:pPr indent="0" marL="0">
              <a:lnSpc>
                <a:spcPts val="1820"/>
              </a:lnSpc>
              <a:buNone/>
            </a:pPr>
            <a:r>
              <a:rPr lang="en-US" sz="1300" dirty="0">
                <a:solidFill>
                  <a:srgbClr val="F5F4EF"/>
                </a:solidFill>
                <a:latin typeface="Arial" pitchFamily="34" charset="0"/>
                <a:ea typeface="맑은 고딕" pitchFamily="34" charset="-122"/>
                <a:cs typeface="Arial" pitchFamily="34" charset="-120"/>
              </a:rPr>
              <a:t>아이스음료 판매와 함께 움직이는 것은?</a:t>
            </a:r>
            <a:endParaRPr lang="en-US" sz="1300" dirty="0"/>
          </a:p>
        </p:txBody>
      </p:sp>
      <p:sp>
        <p:nvSpPr>
          <p:cNvPr id="8" name="Text 5"/>
          <p:cNvSpPr txBox="1"/>
          <p:nvPr/>
        </p:nvSpPr>
        <p:spPr>
          <a:xfrm>
            <a:off x="8823960" y="2761488"/>
            <a:ext cx="2395728" cy="237744"/>
          </a:xfrm>
          <a:prstGeom prst="rect">
            <a:avLst/>
          </a:prstGeom>
          <a:noFill/>
          <a:ln/>
        </p:spPr>
        <p:txBody>
          <a:bodyPr wrap="square" lIns="0" tIns="0" rIns="0" bIns="0" rtlCol="0" anchor="t"/>
          <a:lstStyle/>
          <a:p>
            <a:pPr indent="0" marL="0">
              <a:lnSpc>
                <a:spcPts val="1680"/>
              </a:lnSpc>
              <a:buNone/>
            </a:pPr>
            <a:r>
              <a:rPr lang="en-US" sz="1200" b="1" dirty="0">
                <a:solidFill>
                  <a:srgbClr val="BFD0DE"/>
                </a:solidFill>
                <a:latin typeface="Arial" pitchFamily="34" charset="0"/>
                <a:ea typeface="맑은 고딕" pitchFamily="34" charset="-122"/>
                <a:cs typeface="Arial" pitchFamily="34" charset="-120"/>
              </a:rPr>
              <a:t>→ 상관분석</a:t>
            </a:r>
            <a:endParaRPr lang="en-US" sz="1200" dirty="0"/>
          </a:p>
        </p:txBody>
      </p:sp>
      <p:sp>
        <p:nvSpPr>
          <p:cNvPr id="9" name="Text 6"/>
          <p:cNvSpPr txBox="1"/>
          <p:nvPr/>
        </p:nvSpPr>
        <p:spPr>
          <a:xfrm>
            <a:off x="8823960" y="3081528"/>
            <a:ext cx="2395728" cy="548640"/>
          </a:xfrm>
          <a:prstGeom prst="rect">
            <a:avLst/>
          </a:prstGeom>
          <a:noFill/>
          <a:ln/>
        </p:spPr>
        <p:txBody>
          <a:bodyPr wrap="square" lIns="0" tIns="0" rIns="0" bIns="0" rtlCol="0" anchor="t"/>
          <a:lstStyle/>
          <a:p>
            <a:pPr indent="0" marL="0">
              <a:lnSpc>
                <a:spcPts val="1820"/>
              </a:lnSpc>
              <a:buNone/>
            </a:pPr>
            <a:r>
              <a:rPr lang="en-US" sz="1300" b="1" dirty="0">
                <a:solidFill>
                  <a:srgbClr val="F2A65A"/>
                </a:solidFill>
                <a:latin typeface="Arial" pitchFamily="34" charset="0"/>
                <a:ea typeface="맑은 고딕" pitchFamily="34" charset="-122"/>
                <a:cs typeface="Arial" pitchFamily="34" charset="-120"/>
              </a:rPr>
              <a:t>Q2  </a:t>
            </a:r>
            <a:pPr indent="0" marL="0">
              <a:lnSpc>
                <a:spcPts val="1820"/>
              </a:lnSpc>
              <a:buNone/>
            </a:pPr>
            <a:r>
              <a:rPr lang="en-US" sz="1300" dirty="0">
                <a:solidFill>
                  <a:srgbClr val="F5F4EF"/>
                </a:solidFill>
                <a:latin typeface="Arial" pitchFamily="34" charset="0"/>
                <a:ea typeface="맑은 고딕" pitchFamily="34" charset="-122"/>
                <a:cs typeface="Arial" pitchFamily="34" charset="-120"/>
              </a:rPr>
              <a:t>기온이 1℃ 오르면 몇 잔 더 팔릴까?</a:t>
            </a:r>
            <a:endParaRPr lang="en-US" sz="1300" dirty="0"/>
          </a:p>
        </p:txBody>
      </p:sp>
      <p:sp>
        <p:nvSpPr>
          <p:cNvPr id="10" name="Text 7"/>
          <p:cNvSpPr txBox="1"/>
          <p:nvPr/>
        </p:nvSpPr>
        <p:spPr>
          <a:xfrm>
            <a:off x="8823960" y="3630168"/>
            <a:ext cx="2395728" cy="237744"/>
          </a:xfrm>
          <a:prstGeom prst="rect">
            <a:avLst/>
          </a:prstGeom>
          <a:noFill/>
          <a:ln/>
        </p:spPr>
        <p:txBody>
          <a:bodyPr wrap="square" lIns="0" tIns="0" rIns="0" bIns="0" rtlCol="0" anchor="t"/>
          <a:lstStyle/>
          <a:p>
            <a:pPr indent="0" marL="0">
              <a:lnSpc>
                <a:spcPts val="1680"/>
              </a:lnSpc>
              <a:buNone/>
            </a:pPr>
            <a:r>
              <a:rPr lang="en-US" sz="1200" b="1" dirty="0">
                <a:solidFill>
                  <a:srgbClr val="BFD0DE"/>
                </a:solidFill>
                <a:latin typeface="Arial" pitchFamily="34" charset="0"/>
                <a:ea typeface="맑은 고딕" pitchFamily="34" charset="-122"/>
                <a:cs typeface="Arial" pitchFamily="34" charset="-120"/>
              </a:rPr>
              <a:t>→ 회귀분석</a:t>
            </a:r>
            <a:endParaRPr lang="en-US" sz="1200" dirty="0"/>
          </a:p>
        </p:txBody>
      </p:sp>
      <p:sp>
        <p:nvSpPr>
          <p:cNvPr id="11" name="Text 8"/>
          <p:cNvSpPr txBox="1"/>
          <p:nvPr/>
        </p:nvSpPr>
        <p:spPr>
          <a:xfrm>
            <a:off x="8823960" y="3950208"/>
            <a:ext cx="2395728" cy="548640"/>
          </a:xfrm>
          <a:prstGeom prst="rect">
            <a:avLst/>
          </a:prstGeom>
          <a:noFill/>
          <a:ln/>
        </p:spPr>
        <p:txBody>
          <a:bodyPr wrap="square" lIns="0" tIns="0" rIns="0" bIns="0" rtlCol="0" anchor="t"/>
          <a:lstStyle/>
          <a:p>
            <a:pPr indent="0" marL="0">
              <a:lnSpc>
                <a:spcPts val="1820"/>
              </a:lnSpc>
              <a:buNone/>
            </a:pPr>
            <a:r>
              <a:rPr lang="en-US" sz="1300" b="1" dirty="0">
                <a:solidFill>
                  <a:srgbClr val="F2A65A"/>
                </a:solidFill>
                <a:latin typeface="Arial" pitchFamily="34" charset="0"/>
                <a:ea typeface="맑은 고딕" pitchFamily="34" charset="-122"/>
                <a:cs typeface="Arial" pitchFamily="34" charset="-120"/>
              </a:rPr>
              <a:t>Q3  </a:t>
            </a:r>
            <a:pPr indent="0" marL="0">
              <a:lnSpc>
                <a:spcPts val="1820"/>
              </a:lnSpc>
              <a:buNone/>
            </a:pPr>
            <a:r>
              <a:rPr lang="en-US" sz="1300" dirty="0">
                <a:solidFill>
                  <a:srgbClr val="F5F4EF"/>
                </a:solidFill>
                <a:latin typeface="Arial" pitchFamily="34" charset="0"/>
                <a:ea typeface="맑은 고딕" pitchFamily="34" charset="-122"/>
                <a:cs typeface="Arial" pitchFamily="34" charset="-120"/>
              </a:rPr>
              <a:t>방문객 수는 비·주말·기온 중 무엇의 영향이 클까?</a:t>
            </a:r>
            <a:endParaRPr lang="en-US" sz="1300" dirty="0"/>
          </a:p>
        </p:txBody>
      </p:sp>
      <p:sp>
        <p:nvSpPr>
          <p:cNvPr id="12" name="Text 9"/>
          <p:cNvSpPr txBox="1"/>
          <p:nvPr/>
        </p:nvSpPr>
        <p:spPr>
          <a:xfrm>
            <a:off x="8823960" y="4498848"/>
            <a:ext cx="2395728" cy="237744"/>
          </a:xfrm>
          <a:prstGeom prst="rect">
            <a:avLst/>
          </a:prstGeom>
          <a:noFill/>
          <a:ln/>
        </p:spPr>
        <p:txBody>
          <a:bodyPr wrap="square" lIns="0" tIns="0" rIns="0" bIns="0" rtlCol="0" anchor="t"/>
          <a:lstStyle/>
          <a:p>
            <a:pPr indent="0" marL="0">
              <a:lnSpc>
                <a:spcPts val="1680"/>
              </a:lnSpc>
              <a:buNone/>
            </a:pPr>
            <a:r>
              <a:rPr lang="en-US" sz="1200" b="1" dirty="0">
                <a:solidFill>
                  <a:srgbClr val="BFD0DE"/>
                </a:solidFill>
                <a:latin typeface="Arial" pitchFamily="34" charset="0"/>
                <a:ea typeface="맑은 고딕" pitchFamily="34" charset="-122"/>
                <a:cs typeface="Arial" pitchFamily="34" charset="-120"/>
              </a:rPr>
              <a:t>→ 다중회귀</a:t>
            </a:r>
            <a:endParaRPr lang="en-US" sz="1200" dirty="0"/>
          </a:p>
        </p:txBody>
      </p:sp>
      <p:sp>
        <p:nvSpPr>
          <p:cNvPr id="13" name="Text 10"/>
          <p:cNvSpPr txBox="1"/>
          <p:nvPr/>
        </p:nvSpPr>
        <p:spPr>
          <a:xfrm>
            <a:off x="8823960" y="4818888"/>
            <a:ext cx="2395728" cy="548640"/>
          </a:xfrm>
          <a:prstGeom prst="rect">
            <a:avLst/>
          </a:prstGeom>
          <a:noFill/>
          <a:ln/>
        </p:spPr>
        <p:txBody>
          <a:bodyPr wrap="square" lIns="0" tIns="0" rIns="0" bIns="0" rtlCol="0" anchor="t"/>
          <a:lstStyle/>
          <a:p>
            <a:pPr indent="0" marL="0">
              <a:lnSpc>
                <a:spcPts val="1820"/>
              </a:lnSpc>
              <a:buNone/>
            </a:pPr>
            <a:r>
              <a:rPr lang="en-US" sz="1300" b="1" dirty="0">
                <a:solidFill>
                  <a:srgbClr val="F2A65A"/>
                </a:solidFill>
                <a:latin typeface="Arial" pitchFamily="34" charset="0"/>
                <a:ea typeface="맑은 고딕" pitchFamily="34" charset="-122"/>
                <a:cs typeface="Arial" pitchFamily="34" charset="-120"/>
              </a:rPr>
              <a:t>Q4  </a:t>
            </a:r>
            <a:pPr indent="0" marL="0">
              <a:lnSpc>
                <a:spcPts val="1820"/>
              </a:lnSpc>
              <a:buNone/>
            </a:pPr>
            <a:r>
              <a:rPr lang="en-US" sz="1300" dirty="0">
                <a:solidFill>
                  <a:srgbClr val="F5F4EF"/>
                </a:solidFill>
                <a:latin typeface="Arial" pitchFamily="34" charset="0"/>
                <a:ea typeface="맑은 고딕" pitchFamily="34" charset="-122"/>
                <a:cs typeface="Arial" pitchFamily="34" charset="-120"/>
              </a:rPr>
              <a:t>팀장님이 한눈에 볼 차트는?</a:t>
            </a:r>
            <a:endParaRPr lang="en-US" sz="1300" dirty="0"/>
          </a:p>
        </p:txBody>
      </p:sp>
      <p:sp>
        <p:nvSpPr>
          <p:cNvPr id="14" name="Text 11"/>
          <p:cNvSpPr txBox="1"/>
          <p:nvPr/>
        </p:nvSpPr>
        <p:spPr>
          <a:xfrm>
            <a:off x="8823960" y="5367528"/>
            <a:ext cx="2395728" cy="237744"/>
          </a:xfrm>
          <a:prstGeom prst="rect">
            <a:avLst/>
          </a:prstGeom>
          <a:noFill/>
          <a:ln/>
        </p:spPr>
        <p:txBody>
          <a:bodyPr wrap="square" lIns="0" tIns="0" rIns="0" bIns="0" rtlCol="0" anchor="t"/>
          <a:lstStyle/>
          <a:p>
            <a:pPr indent="0" marL="0">
              <a:lnSpc>
                <a:spcPts val="1680"/>
              </a:lnSpc>
              <a:buNone/>
            </a:pPr>
            <a:r>
              <a:rPr lang="en-US" sz="1200" b="1" dirty="0">
                <a:solidFill>
                  <a:srgbClr val="BFD0DE"/>
                </a:solidFill>
                <a:latin typeface="Arial" pitchFamily="34" charset="0"/>
                <a:ea typeface="맑은 고딕" pitchFamily="34" charset="-122"/>
                <a:cs typeface="Arial" pitchFamily="34" charset="-120"/>
              </a:rPr>
              <a:t>→ 시각화</a:t>
            </a:r>
            <a:endParaRPr lang="en-US" sz="1200" dirty="0"/>
          </a:p>
        </p:txBody>
      </p:sp>
      <p:sp>
        <p:nvSpPr>
          <p:cNvPr id="15" name="Text 12"/>
          <p:cNvSpPr txBox="1"/>
          <p:nvPr/>
        </p:nvSpPr>
        <p:spPr>
          <a:xfrm>
            <a:off x="813816" y="5120640"/>
            <a:ext cx="7589520" cy="548640"/>
          </a:xfrm>
          <a:prstGeom prst="rect">
            <a:avLst/>
          </a:prstGeom>
          <a:noFill/>
          <a:ln/>
        </p:spPr>
        <p:txBody>
          <a:bodyPr wrap="square" lIns="0" tIns="0" rIns="0" bIns="0" rtlCol="0" anchor="t"/>
          <a:lstStyle/>
          <a:p>
            <a:pPr indent="0" marL="0">
              <a:lnSpc>
                <a:spcPts val="1820"/>
              </a:lnSpc>
              <a:buNone/>
            </a:pPr>
            <a:r>
              <a:rPr lang="en-US" sz="1300" b="1" dirty="0">
                <a:solidFill>
                  <a:srgbClr val="12304D"/>
                </a:solidFill>
                <a:latin typeface="Arial" pitchFamily="34" charset="0"/>
                <a:ea typeface="맑은 고딕" pitchFamily="34" charset="-122"/>
                <a:cs typeface="Arial" pitchFamily="34" charset="-120"/>
              </a:rPr>
              <a:t>열 설명</a:t>
            </a:r>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　주말: 토·일 = 1, 평일 = 0 · 매출액 단위는 천 원 · 실습 파일 </a:t>
            </a:r>
            <a:pPr indent="0" marL="0">
              <a:lnSpc>
                <a:spcPts val="1820"/>
              </a:lnSpc>
              <a:buNone/>
            </a:pPr>
            <a:r>
              <a:rPr lang="en-US" sz="1300" b="1" dirty="0">
                <a:solidFill>
                  <a:srgbClr val="1F6F78"/>
                </a:solidFill>
                <a:latin typeface="Arial" pitchFamily="34" charset="0"/>
                <a:ea typeface="맑은 고딕" pitchFamily="34" charset="-122"/>
                <a:cs typeface="Arial" pitchFamily="34" charset="-120"/>
              </a:rPr>
              <a:t>cafe_daily_202609.xlsx</a:t>
            </a:r>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 의 ‘데이터’ 시트</a:t>
            </a:r>
            <a:endParaRPr lang="en-US" sz="1300" dirty="0"/>
          </a:p>
        </p:txBody>
      </p:sp>
      <p:sp>
        <p:nvSpPr>
          <p:cNvPr id="16" name="Text 13"/>
          <p:cNvSpPr txBox="1"/>
          <p:nvPr/>
        </p:nvSpPr>
        <p:spPr>
          <a:xfrm>
            <a:off x="813816" y="6236208"/>
            <a:ext cx="10881360" cy="237744"/>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생성형 AI 실무 활용 · 1일차 · 강사 시연용 가상 데이터</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4E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상관분석 · 회귀분석</a:t>
            </a:r>
            <a:endParaRPr lang="en-US" sz="1400" dirty="0"/>
          </a:p>
        </p:txBody>
      </p:sp>
      <p:sp>
        <p:nvSpPr>
          <p:cNvPr id="3" name="Title"/>
          <p:cNvSpPr/>
          <p:nvPr>
            <p:ph type="title"/>
          </p:nvPr>
        </p:nvSpPr>
        <p:spPr>
          <a:xfrm>
            <a:off x="813816" y="1133856"/>
            <a:ext cx="10881360" cy="493776"/>
          </a:xfrm>
          <a:prstGeom prst="rect">
            <a:avLst/>
          </a:prstGeom>
          <a:noFill/>
          <a:ln/>
        </p:spPr>
        <p:txBody>
          <a:bodyPr wrap="square" lIns="0" tIns="0" rIns="0" bIns="0" rtlCol="0" anchor="t"/>
          <a:lstStyle/>
          <a:p>
            <a:pPr indent="0" marL="0">
              <a:lnSpc>
                <a:spcPts val="4480"/>
              </a:lnSpc>
              <a:buNone/>
            </a:pPr>
            <a:r>
              <a:rPr lang="en-US" sz="3200" b="1" dirty="0">
                <a:solidFill>
                  <a:srgbClr val="12304D"/>
                </a:solidFill>
                <a:latin typeface="Arial" pitchFamily="34" charset="0"/>
                <a:ea typeface="맑은 고딕" pitchFamily="34" charset="-122"/>
                <a:cs typeface="Arial" pitchFamily="34" charset="-120"/>
              </a:rPr>
              <a:t>‘함께 움직이나’와 ‘얼마나 움직이나’</a:t>
            </a:r>
            <a:endParaRPr lang="en-US" sz="3200" dirty="0"/>
          </a:p>
        </p:txBody>
      </p:sp>
      <p:sp>
        <p:nvSpPr>
          <p:cNvPr id="4" name="Shape 2"/>
          <p:cNvSpPr/>
          <p:nvPr/>
        </p:nvSpPr>
        <p:spPr>
          <a:xfrm>
            <a:off x="813816" y="1883664"/>
            <a:ext cx="5202936" cy="2103120"/>
          </a:xfrm>
          <a:prstGeom prst="roundRect">
            <a:avLst>
              <a:gd name="adj" fmla="val 5217"/>
            </a:avLst>
          </a:prstGeom>
          <a:solidFill>
            <a:srgbClr val="FCFCFA"/>
          </a:solidFill>
          <a:ln w="9525">
            <a:solidFill>
              <a:srgbClr val="D9DDE1"/>
            </a:solidFill>
            <a:prstDash val="solid"/>
          </a:ln>
        </p:spPr>
      </p:sp>
      <p:sp>
        <p:nvSpPr>
          <p:cNvPr id="5" name="Text 3"/>
          <p:cNvSpPr txBox="1"/>
          <p:nvPr/>
        </p:nvSpPr>
        <p:spPr>
          <a:xfrm>
            <a:off x="1042416" y="2084832"/>
            <a:ext cx="4754880" cy="301752"/>
          </a:xfrm>
          <a:prstGeom prst="rect">
            <a:avLst/>
          </a:prstGeom>
          <a:noFill/>
          <a:ln/>
        </p:spPr>
        <p:txBody>
          <a:bodyPr wrap="square" lIns="0" tIns="0" rIns="0" bIns="0" rtlCol="0" anchor="t"/>
          <a:lstStyle/>
          <a:p>
            <a:pPr indent="0" marL="0">
              <a:lnSpc>
                <a:spcPts val="2520"/>
              </a:lnSpc>
              <a:buNone/>
            </a:pPr>
            <a:r>
              <a:rPr lang="en-US" sz="1800" b="1" dirty="0">
                <a:solidFill>
                  <a:srgbClr val="12304D"/>
                </a:solidFill>
                <a:latin typeface="Arial" pitchFamily="34" charset="0"/>
                <a:ea typeface="맑은 고딕" pitchFamily="34" charset="-122"/>
                <a:cs typeface="Arial" pitchFamily="34" charset="-120"/>
              </a:rPr>
              <a:t>상관분석</a:t>
            </a:r>
            <a:endParaRPr lang="en-US" sz="1800" dirty="0"/>
          </a:p>
        </p:txBody>
      </p:sp>
      <p:sp>
        <p:nvSpPr>
          <p:cNvPr id="6" name="Text 4"/>
          <p:cNvSpPr txBox="1"/>
          <p:nvPr/>
        </p:nvSpPr>
        <p:spPr>
          <a:xfrm>
            <a:off x="1042416" y="2432304"/>
            <a:ext cx="4754880" cy="274320"/>
          </a:xfrm>
          <a:prstGeom prst="rect">
            <a:avLst/>
          </a:prstGeom>
          <a:noFill/>
          <a:ln/>
        </p:spPr>
        <p:txBody>
          <a:bodyPr wrap="square" lIns="0" tIns="0" rIns="0" bIns="0" rtlCol="0" anchor="t"/>
          <a:lstStyle/>
          <a:p>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두 변수가 함께 움직이는 방향과 강도</a:t>
            </a:r>
            <a:endParaRPr lang="en-US" sz="1300" dirty="0"/>
          </a:p>
        </p:txBody>
      </p:sp>
      <p:sp>
        <p:nvSpPr>
          <p:cNvPr id="7" name="Text 5"/>
          <p:cNvSpPr txBox="1"/>
          <p:nvPr/>
        </p:nvSpPr>
        <p:spPr>
          <a:xfrm>
            <a:off x="1042416" y="2852928"/>
            <a:ext cx="4754880" cy="274320"/>
          </a:xfrm>
          <a:prstGeom prst="rect">
            <a:avLst/>
          </a:prstGeom>
          <a:noFill/>
          <a:ln/>
        </p:spPr>
        <p:txBody>
          <a:bodyPr wrap="square" lIns="0" tIns="0" rIns="0" bIns="0" rtlCol="0" anchor="t"/>
          <a:lstStyle/>
          <a:p>
            <a:pPr indent="0" marL="0">
              <a:lnSpc>
                <a:spcPts val="1960"/>
              </a:lnSpc>
              <a:buNone/>
            </a:pPr>
            <a:r>
              <a:rPr lang="en-US" sz="1400" b="1" dirty="0">
                <a:solidFill>
                  <a:srgbClr val="1F6F78"/>
                </a:solidFill>
                <a:latin typeface="Arial" pitchFamily="34" charset="0"/>
                <a:ea typeface="맑은 고딕" pitchFamily="34" charset="-122"/>
                <a:cs typeface="Arial" pitchFamily="34" charset="-120"/>
              </a:rPr>
              <a:t>숫자  </a:t>
            </a:r>
            <a:pPr indent="0" marL="0">
              <a:lnSpc>
                <a:spcPts val="1960"/>
              </a:lnSpc>
              <a:buNone/>
            </a:pPr>
            <a:r>
              <a:rPr lang="en-US" sz="1400" dirty="0">
                <a:solidFill>
                  <a:srgbClr val="12304D"/>
                </a:solidFill>
                <a:latin typeface="Arial" pitchFamily="34" charset="0"/>
                <a:ea typeface="맑은 고딕" pitchFamily="34" charset="-122"/>
                <a:cs typeface="Arial" pitchFamily="34" charset="-120"/>
              </a:rPr>
              <a:t>상관계수 r · −1 ~ +1</a:t>
            </a:r>
            <a:endParaRPr lang="en-US" sz="1400" dirty="0"/>
          </a:p>
        </p:txBody>
      </p:sp>
      <p:sp>
        <p:nvSpPr>
          <p:cNvPr id="8" name="Text 6"/>
          <p:cNvSpPr txBox="1"/>
          <p:nvPr/>
        </p:nvSpPr>
        <p:spPr>
          <a:xfrm>
            <a:off x="1042416" y="3182112"/>
            <a:ext cx="4754880" cy="274320"/>
          </a:xfrm>
          <a:prstGeom prst="rect">
            <a:avLst/>
          </a:prstGeom>
          <a:noFill/>
          <a:ln/>
        </p:spPr>
        <p:txBody>
          <a:bodyPr wrap="square" lIns="0" tIns="0" rIns="0" bIns="0" rtlCol="0" anchor="t"/>
          <a:lstStyle/>
          <a:p>
            <a:pPr indent="0" marL="0">
              <a:lnSpc>
                <a:spcPts val="1960"/>
              </a:lnSpc>
              <a:buNone/>
            </a:pPr>
            <a:r>
              <a:rPr lang="en-US" sz="1400" b="1" dirty="0">
                <a:solidFill>
                  <a:srgbClr val="1F6F78"/>
                </a:solidFill>
                <a:latin typeface="Arial" pitchFamily="34" charset="0"/>
                <a:ea typeface="맑은 고딕" pitchFamily="34" charset="-122"/>
                <a:cs typeface="Arial" pitchFamily="34" charset="-120"/>
              </a:rPr>
              <a:t>엑셀  </a:t>
            </a:r>
            <a:pPr indent="0" marL="0">
              <a:lnSpc>
                <a:spcPts val="1960"/>
              </a:lnSpc>
              <a:buNone/>
            </a:pPr>
            <a:r>
              <a:rPr lang="en-US" sz="1400" dirty="0">
                <a:solidFill>
                  <a:srgbClr val="12304D"/>
                </a:solidFill>
                <a:latin typeface="Arial" pitchFamily="34" charset="0"/>
                <a:ea typeface="맑은 고딕" pitchFamily="34" charset="-122"/>
                <a:cs typeface="Arial" pitchFamily="34" charset="-120"/>
              </a:rPr>
              <a:t>CORREL · 데이터 분석 &gt; 상관 분석</a:t>
            </a:r>
            <a:endParaRPr lang="en-US" sz="1400" dirty="0"/>
          </a:p>
        </p:txBody>
      </p:sp>
      <p:sp>
        <p:nvSpPr>
          <p:cNvPr id="9" name="Text 7"/>
          <p:cNvSpPr txBox="1"/>
          <p:nvPr/>
        </p:nvSpPr>
        <p:spPr>
          <a:xfrm>
            <a:off x="1042416" y="3511296"/>
            <a:ext cx="4754880" cy="274320"/>
          </a:xfrm>
          <a:prstGeom prst="rect">
            <a:avLst/>
          </a:prstGeom>
          <a:noFill/>
          <a:ln/>
        </p:spPr>
        <p:txBody>
          <a:bodyPr wrap="square" lIns="0" tIns="0" rIns="0" bIns="0" rtlCol="0" anchor="t"/>
          <a:lstStyle/>
          <a:p>
            <a:pPr indent="0" marL="0">
              <a:lnSpc>
                <a:spcPts val="1960"/>
              </a:lnSpc>
              <a:buNone/>
            </a:pPr>
            <a:r>
              <a:rPr lang="en-US" sz="1400" b="1" dirty="0">
                <a:solidFill>
                  <a:srgbClr val="1F6F78"/>
                </a:solidFill>
                <a:latin typeface="Arial" pitchFamily="34" charset="0"/>
                <a:ea typeface="맑은 고딕" pitchFamily="34" charset="-122"/>
                <a:cs typeface="Arial" pitchFamily="34" charset="-120"/>
              </a:rPr>
              <a:t>질문  </a:t>
            </a:r>
            <a:pPr indent="0" marL="0">
              <a:lnSpc>
                <a:spcPts val="1960"/>
              </a:lnSpc>
              <a:buNone/>
            </a:pPr>
            <a:r>
              <a:rPr lang="en-US" sz="1400" dirty="0">
                <a:solidFill>
                  <a:srgbClr val="12304D"/>
                </a:solidFill>
                <a:latin typeface="Arial" pitchFamily="34" charset="0"/>
                <a:ea typeface="맑은 고딕" pitchFamily="34" charset="-122"/>
                <a:cs typeface="Arial" pitchFamily="34" charset="-120"/>
              </a:rPr>
              <a:t>더운 날 아이스음료도 많이 팔리나?</a:t>
            </a:r>
            <a:endParaRPr lang="en-US" sz="1400" dirty="0"/>
          </a:p>
        </p:txBody>
      </p:sp>
      <p:sp>
        <p:nvSpPr>
          <p:cNvPr id="10" name="Shape 8"/>
          <p:cNvSpPr/>
          <p:nvPr/>
        </p:nvSpPr>
        <p:spPr>
          <a:xfrm>
            <a:off x="6172200" y="1883664"/>
            <a:ext cx="5202936" cy="2103120"/>
          </a:xfrm>
          <a:prstGeom prst="roundRect">
            <a:avLst>
              <a:gd name="adj" fmla="val 5217"/>
            </a:avLst>
          </a:prstGeom>
          <a:solidFill>
            <a:srgbClr val="FCFCFA"/>
          </a:solidFill>
          <a:ln w="9525">
            <a:solidFill>
              <a:srgbClr val="D9DDE1"/>
            </a:solidFill>
            <a:prstDash val="solid"/>
          </a:ln>
        </p:spPr>
      </p:sp>
      <p:sp>
        <p:nvSpPr>
          <p:cNvPr id="11" name="Text 9"/>
          <p:cNvSpPr txBox="1"/>
          <p:nvPr/>
        </p:nvSpPr>
        <p:spPr>
          <a:xfrm>
            <a:off x="6400800" y="2084832"/>
            <a:ext cx="4754880" cy="301752"/>
          </a:xfrm>
          <a:prstGeom prst="rect">
            <a:avLst/>
          </a:prstGeom>
          <a:noFill/>
          <a:ln/>
        </p:spPr>
        <p:txBody>
          <a:bodyPr wrap="square" lIns="0" tIns="0" rIns="0" bIns="0" rtlCol="0" anchor="t"/>
          <a:lstStyle/>
          <a:p>
            <a:pPr indent="0" marL="0">
              <a:lnSpc>
                <a:spcPts val="2520"/>
              </a:lnSpc>
              <a:buNone/>
            </a:pPr>
            <a:r>
              <a:rPr lang="en-US" sz="1800" b="1" dirty="0">
                <a:solidFill>
                  <a:srgbClr val="12304D"/>
                </a:solidFill>
                <a:latin typeface="Arial" pitchFamily="34" charset="0"/>
                <a:ea typeface="맑은 고딕" pitchFamily="34" charset="-122"/>
                <a:cs typeface="Arial" pitchFamily="34" charset="-120"/>
              </a:rPr>
              <a:t>회귀분석</a:t>
            </a:r>
            <a:endParaRPr lang="en-US" sz="1800" dirty="0"/>
          </a:p>
        </p:txBody>
      </p:sp>
      <p:sp>
        <p:nvSpPr>
          <p:cNvPr id="12" name="Text 10"/>
          <p:cNvSpPr txBox="1"/>
          <p:nvPr/>
        </p:nvSpPr>
        <p:spPr>
          <a:xfrm>
            <a:off x="6400800" y="2432304"/>
            <a:ext cx="4754880" cy="274320"/>
          </a:xfrm>
          <a:prstGeom prst="rect">
            <a:avLst/>
          </a:prstGeom>
          <a:noFill/>
          <a:ln/>
        </p:spPr>
        <p:txBody>
          <a:bodyPr wrap="square" lIns="0" tIns="0" rIns="0" bIns="0" rtlCol="0" anchor="t"/>
          <a:lstStyle/>
          <a:p>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한 변수가 변할 때 다른 변수가 얼마나 변하는지 식으로 표현</a:t>
            </a:r>
            <a:endParaRPr lang="en-US" sz="1300" dirty="0"/>
          </a:p>
        </p:txBody>
      </p:sp>
      <p:sp>
        <p:nvSpPr>
          <p:cNvPr id="13" name="Text 11"/>
          <p:cNvSpPr txBox="1"/>
          <p:nvPr/>
        </p:nvSpPr>
        <p:spPr>
          <a:xfrm>
            <a:off x="6400800" y="2852928"/>
            <a:ext cx="4754880" cy="274320"/>
          </a:xfrm>
          <a:prstGeom prst="rect">
            <a:avLst/>
          </a:prstGeom>
          <a:noFill/>
          <a:ln/>
        </p:spPr>
        <p:txBody>
          <a:bodyPr wrap="square" lIns="0" tIns="0" rIns="0" bIns="0" rtlCol="0" anchor="t"/>
          <a:lstStyle/>
          <a:p>
            <a:pPr indent="0" marL="0">
              <a:lnSpc>
                <a:spcPts val="1960"/>
              </a:lnSpc>
              <a:buNone/>
            </a:pPr>
            <a:r>
              <a:rPr lang="en-US" sz="1400" b="1" dirty="0">
                <a:solidFill>
                  <a:srgbClr val="1F6F78"/>
                </a:solidFill>
                <a:latin typeface="Arial" pitchFamily="34" charset="0"/>
                <a:ea typeface="맑은 고딕" pitchFamily="34" charset="-122"/>
                <a:cs typeface="Arial" pitchFamily="34" charset="-120"/>
              </a:rPr>
              <a:t>숫자  </a:t>
            </a:r>
            <a:pPr indent="0" marL="0">
              <a:lnSpc>
                <a:spcPts val="1960"/>
              </a:lnSpc>
              <a:buNone/>
            </a:pPr>
            <a:r>
              <a:rPr lang="en-US" sz="1400" dirty="0">
                <a:solidFill>
                  <a:srgbClr val="12304D"/>
                </a:solidFill>
                <a:latin typeface="Arial" pitchFamily="34" charset="0"/>
                <a:ea typeface="맑은 고딕" pitchFamily="34" charset="-122"/>
                <a:cs typeface="Arial" pitchFamily="34" charset="-120"/>
              </a:rPr>
              <a:t>y = a + b·x · 결정계수 R² 0 ~ 1</a:t>
            </a:r>
            <a:endParaRPr lang="en-US" sz="1400" dirty="0"/>
          </a:p>
        </p:txBody>
      </p:sp>
      <p:sp>
        <p:nvSpPr>
          <p:cNvPr id="14" name="Text 12"/>
          <p:cNvSpPr txBox="1"/>
          <p:nvPr/>
        </p:nvSpPr>
        <p:spPr>
          <a:xfrm>
            <a:off x="6400800" y="3182112"/>
            <a:ext cx="4754880" cy="274320"/>
          </a:xfrm>
          <a:prstGeom prst="rect">
            <a:avLst/>
          </a:prstGeom>
          <a:noFill/>
          <a:ln/>
        </p:spPr>
        <p:txBody>
          <a:bodyPr wrap="square" lIns="0" tIns="0" rIns="0" bIns="0" rtlCol="0" anchor="t"/>
          <a:lstStyle/>
          <a:p>
            <a:pPr indent="0" marL="0">
              <a:lnSpc>
                <a:spcPts val="1960"/>
              </a:lnSpc>
              <a:buNone/>
            </a:pPr>
            <a:r>
              <a:rPr lang="en-US" sz="1400" b="1" dirty="0">
                <a:solidFill>
                  <a:srgbClr val="1F6F78"/>
                </a:solidFill>
                <a:latin typeface="Arial" pitchFamily="34" charset="0"/>
                <a:ea typeface="맑은 고딕" pitchFamily="34" charset="-122"/>
                <a:cs typeface="Arial" pitchFamily="34" charset="-120"/>
              </a:rPr>
              <a:t>엑셀  </a:t>
            </a:r>
            <a:pPr indent="0" marL="0">
              <a:lnSpc>
                <a:spcPts val="1960"/>
              </a:lnSpc>
              <a:buNone/>
            </a:pPr>
            <a:r>
              <a:rPr lang="en-US" sz="1400" dirty="0">
                <a:solidFill>
                  <a:srgbClr val="12304D"/>
                </a:solidFill>
                <a:latin typeface="Arial" pitchFamily="34" charset="0"/>
                <a:ea typeface="맑은 고딕" pitchFamily="34" charset="-122"/>
                <a:cs typeface="Arial" pitchFamily="34" charset="-120"/>
              </a:rPr>
              <a:t>SLOPE·INTERCEPT·RSQ · 회귀 분석</a:t>
            </a:r>
            <a:endParaRPr lang="en-US" sz="1400" dirty="0"/>
          </a:p>
        </p:txBody>
      </p:sp>
      <p:sp>
        <p:nvSpPr>
          <p:cNvPr id="15" name="Text 13"/>
          <p:cNvSpPr txBox="1"/>
          <p:nvPr/>
        </p:nvSpPr>
        <p:spPr>
          <a:xfrm>
            <a:off x="6400800" y="3511296"/>
            <a:ext cx="4754880" cy="274320"/>
          </a:xfrm>
          <a:prstGeom prst="rect">
            <a:avLst/>
          </a:prstGeom>
          <a:noFill/>
          <a:ln/>
        </p:spPr>
        <p:txBody>
          <a:bodyPr wrap="square" lIns="0" tIns="0" rIns="0" bIns="0" rtlCol="0" anchor="t"/>
          <a:lstStyle/>
          <a:p>
            <a:pPr indent="0" marL="0">
              <a:lnSpc>
                <a:spcPts val="1960"/>
              </a:lnSpc>
              <a:buNone/>
            </a:pPr>
            <a:r>
              <a:rPr lang="en-US" sz="1400" b="1" dirty="0">
                <a:solidFill>
                  <a:srgbClr val="1F6F78"/>
                </a:solidFill>
                <a:latin typeface="Arial" pitchFamily="34" charset="0"/>
                <a:ea typeface="맑은 고딕" pitchFamily="34" charset="-122"/>
                <a:cs typeface="Arial" pitchFamily="34" charset="-120"/>
              </a:rPr>
              <a:t>질문  </a:t>
            </a:r>
            <a:pPr indent="0" marL="0">
              <a:lnSpc>
                <a:spcPts val="1960"/>
              </a:lnSpc>
              <a:buNone/>
            </a:pPr>
            <a:r>
              <a:rPr lang="en-US" sz="1400" dirty="0">
                <a:solidFill>
                  <a:srgbClr val="12304D"/>
                </a:solidFill>
                <a:latin typeface="Arial" pitchFamily="34" charset="0"/>
                <a:ea typeface="맑은 고딕" pitchFamily="34" charset="-122"/>
                <a:cs typeface="Arial" pitchFamily="34" charset="-120"/>
              </a:rPr>
              <a:t>1℃ 오르면 몇 잔? 28℃면 몇 잔?</a:t>
            </a:r>
            <a:endParaRPr lang="en-US" sz="1400" dirty="0"/>
          </a:p>
        </p:txBody>
      </p:sp>
      <p:sp>
        <p:nvSpPr>
          <p:cNvPr id="16" name="Text 14"/>
          <p:cNvSpPr txBox="1"/>
          <p:nvPr/>
        </p:nvSpPr>
        <p:spPr>
          <a:xfrm>
            <a:off x="813816" y="4206240"/>
            <a:ext cx="6400800" cy="274320"/>
          </a:xfrm>
          <a:prstGeom prst="rect">
            <a:avLst/>
          </a:prstGeom>
          <a:noFill/>
          <a:ln/>
        </p:spPr>
        <p:txBody>
          <a:bodyPr wrap="square" lIns="0" tIns="0" rIns="0" bIns="0" rtlCol="0" anchor="t"/>
          <a:lstStyle/>
          <a:p>
            <a:pPr indent="0" marL="0">
              <a:lnSpc>
                <a:spcPts val="1820"/>
              </a:lnSpc>
              <a:buNone/>
            </a:pPr>
            <a:r>
              <a:rPr lang="en-US" sz="1300" b="1" dirty="0">
                <a:solidFill>
                  <a:srgbClr val="12304D"/>
                </a:solidFill>
                <a:latin typeface="Arial" pitchFamily="34" charset="0"/>
                <a:ea typeface="맑은 고딕" pitchFamily="34" charset="-122"/>
                <a:cs typeface="Arial" pitchFamily="34" charset="-120"/>
              </a:rPr>
              <a:t>상관계수 r 읽는 법 (실무용 기준)</a:t>
            </a:r>
            <a:endParaRPr lang="en-US" sz="1300" dirty="0"/>
          </a:p>
        </p:txBody>
      </p:sp>
      <p:sp>
        <p:nvSpPr>
          <p:cNvPr id="17" name="Shape 15"/>
          <p:cNvSpPr/>
          <p:nvPr/>
        </p:nvSpPr>
        <p:spPr>
          <a:xfrm>
            <a:off x="813816" y="4553712"/>
            <a:ext cx="1307592" cy="841248"/>
          </a:xfrm>
          <a:prstGeom prst="rect">
            <a:avLst/>
          </a:prstGeom>
          <a:solidFill>
            <a:srgbClr val="1E4468"/>
          </a:solidFill>
          <a:ln/>
        </p:spPr>
      </p:sp>
      <p:sp>
        <p:nvSpPr>
          <p:cNvPr id="18" name="Text 16"/>
          <p:cNvSpPr txBox="1"/>
          <p:nvPr/>
        </p:nvSpPr>
        <p:spPr>
          <a:xfrm>
            <a:off x="905256" y="4663440"/>
            <a:ext cx="1143000" cy="256032"/>
          </a:xfrm>
          <a:prstGeom prst="rect">
            <a:avLst/>
          </a:prstGeom>
          <a:noFill/>
          <a:ln/>
        </p:spPr>
        <p:txBody>
          <a:bodyPr wrap="square" lIns="0" tIns="0" rIns="0" bIns="0" rtlCol="0" anchor="t"/>
          <a:lstStyle/>
          <a:p>
            <a:pPr algn="ctr" indent="0" marL="0">
              <a:lnSpc>
                <a:spcPts val="1820"/>
              </a:lnSpc>
              <a:buNone/>
            </a:pPr>
            <a:r>
              <a:rPr lang="en-US" sz="1300" b="1" dirty="0">
                <a:solidFill>
                  <a:srgbClr val="F5F4EF"/>
                </a:solidFill>
                <a:latin typeface="Arial" pitchFamily="34" charset="0"/>
                <a:ea typeface="맑은 고딕" pitchFamily="34" charset="-122"/>
                <a:cs typeface="Arial" pitchFamily="34" charset="-120"/>
              </a:rPr>
              <a:t>−1 ~ −0.7</a:t>
            </a:r>
            <a:endParaRPr lang="en-US" sz="1300" dirty="0"/>
          </a:p>
        </p:txBody>
      </p:sp>
      <p:sp>
        <p:nvSpPr>
          <p:cNvPr id="19" name="Text 17"/>
          <p:cNvSpPr txBox="1"/>
          <p:nvPr/>
        </p:nvSpPr>
        <p:spPr>
          <a:xfrm>
            <a:off x="905256" y="4983480"/>
            <a:ext cx="1143000" cy="256032"/>
          </a:xfrm>
          <a:prstGeom prst="rect">
            <a:avLst/>
          </a:prstGeom>
          <a:noFill/>
          <a:ln/>
        </p:spPr>
        <p:txBody>
          <a:bodyPr wrap="square" lIns="0" tIns="0" rIns="0" bIns="0" rtlCol="0" anchor="t"/>
          <a:lstStyle/>
          <a:p>
            <a:pPr algn="ctr" indent="0" marL="0">
              <a:lnSpc>
                <a:spcPts val="1820"/>
              </a:lnSpc>
              <a:buNone/>
            </a:pPr>
            <a:r>
              <a:rPr lang="en-US" sz="1300" dirty="0">
                <a:solidFill>
                  <a:srgbClr val="F5F4EF"/>
                </a:solidFill>
                <a:latin typeface="Arial" pitchFamily="34" charset="0"/>
                <a:ea typeface="맑은 고딕" pitchFamily="34" charset="-122"/>
                <a:cs typeface="Arial" pitchFamily="34" charset="-120"/>
              </a:rPr>
              <a:t>강한 음(−)</a:t>
            </a:r>
            <a:endParaRPr lang="en-US" sz="1300" dirty="0"/>
          </a:p>
        </p:txBody>
      </p:sp>
      <p:sp>
        <p:nvSpPr>
          <p:cNvPr id="20" name="Shape 18"/>
          <p:cNvSpPr/>
          <p:nvPr/>
        </p:nvSpPr>
        <p:spPr>
          <a:xfrm>
            <a:off x="2157984" y="4553712"/>
            <a:ext cx="1307592" cy="841248"/>
          </a:xfrm>
          <a:prstGeom prst="rect">
            <a:avLst/>
          </a:prstGeom>
          <a:solidFill>
            <a:srgbClr val="7FA7BF"/>
          </a:solidFill>
          <a:ln/>
        </p:spPr>
      </p:sp>
      <p:sp>
        <p:nvSpPr>
          <p:cNvPr id="21" name="Text 19"/>
          <p:cNvSpPr txBox="1"/>
          <p:nvPr/>
        </p:nvSpPr>
        <p:spPr>
          <a:xfrm>
            <a:off x="2249424" y="4663440"/>
            <a:ext cx="1143000" cy="256032"/>
          </a:xfrm>
          <a:prstGeom prst="rect">
            <a:avLst/>
          </a:prstGeom>
          <a:noFill/>
          <a:ln/>
        </p:spPr>
        <p:txBody>
          <a:bodyPr wrap="square" lIns="0" tIns="0" rIns="0" bIns="0" rtlCol="0" anchor="t"/>
          <a:lstStyle/>
          <a:p>
            <a:pPr algn="ctr" indent="0" marL="0">
              <a:lnSpc>
                <a:spcPts val="1820"/>
              </a:lnSpc>
              <a:buNone/>
            </a:pPr>
            <a:r>
              <a:rPr lang="en-US" sz="1300" b="1" dirty="0">
                <a:solidFill>
                  <a:srgbClr val="12304D"/>
                </a:solidFill>
                <a:latin typeface="Arial" pitchFamily="34" charset="0"/>
                <a:ea typeface="맑은 고딕" pitchFamily="34" charset="-122"/>
                <a:cs typeface="Arial" pitchFamily="34" charset="-120"/>
              </a:rPr>
              <a:t>−0.7 ~ −0.3</a:t>
            </a:r>
            <a:endParaRPr lang="en-US" sz="1300" dirty="0"/>
          </a:p>
        </p:txBody>
      </p:sp>
      <p:sp>
        <p:nvSpPr>
          <p:cNvPr id="22" name="Text 20"/>
          <p:cNvSpPr txBox="1"/>
          <p:nvPr/>
        </p:nvSpPr>
        <p:spPr>
          <a:xfrm>
            <a:off x="2249424" y="4983480"/>
            <a:ext cx="1143000" cy="256032"/>
          </a:xfrm>
          <a:prstGeom prst="rect">
            <a:avLst/>
          </a:prstGeom>
          <a:noFill/>
          <a:ln/>
        </p:spPr>
        <p:txBody>
          <a:bodyPr wrap="square" lIns="0" tIns="0" rIns="0" bIns="0" rtlCol="0" anchor="t"/>
          <a:lstStyle/>
          <a:p>
            <a:pPr algn="ctr" indent="0" marL="0">
              <a:lnSpc>
                <a:spcPts val="1820"/>
              </a:lnSpc>
              <a:buNone/>
            </a:pPr>
            <a:r>
              <a:rPr lang="en-US" sz="1300" dirty="0">
                <a:solidFill>
                  <a:srgbClr val="12304D"/>
                </a:solidFill>
                <a:latin typeface="Arial" pitchFamily="34" charset="0"/>
                <a:ea typeface="맑은 고딕" pitchFamily="34" charset="-122"/>
                <a:cs typeface="Arial" pitchFamily="34" charset="-120"/>
              </a:rPr>
              <a:t>보통 음(−)</a:t>
            </a:r>
            <a:endParaRPr lang="en-US" sz="1300" dirty="0"/>
          </a:p>
        </p:txBody>
      </p:sp>
      <p:sp>
        <p:nvSpPr>
          <p:cNvPr id="23" name="Shape 21"/>
          <p:cNvSpPr/>
          <p:nvPr/>
        </p:nvSpPr>
        <p:spPr>
          <a:xfrm>
            <a:off x="3502152" y="4553712"/>
            <a:ext cx="1307592" cy="841248"/>
          </a:xfrm>
          <a:prstGeom prst="rect">
            <a:avLst/>
          </a:prstGeom>
          <a:solidFill>
            <a:srgbClr val="ECEEEA"/>
          </a:solidFill>
          <a:ln/>
        </p:spPr>
      </p:sp>
      <p:sp>
        <p:nvSpPr>
          <p:cNvPr id="24" name="Text 22"/>
          <p:cNvSpPr txBox="1"/>
          <p:nvPr/>
        </p:nvSpPr>
        <p:spPr>
          <a:xfrm>
            <a:off x="3593592" y="4663440"/>
            <a:ext cx="1143000" cy="256032"/>
          </a:xfrm>
          <a:prstGeom prst="rect">
            <a:avLst/>
          </a:prstGeom>
          <a:noFill/>
          <a:ln/>
        </p:spPr>
        <p:txBody>
          <a:bodyPr wrap="square" lIns="0" tIns="0" rIns="0" bIns="0" rtlCol="0" anchor="t"/>
          <a:lstStyle/>
          <a:p>
            <a:pPr algn="ctr" indent="0" marL="0">
              <a:lnSpc>
                <a:spcPts val="1820"/>
              </a:lnSpc>
              <a:buNone/>
            </a:pPr>
            <a:r>
              <a:rPr lang="en-US" sz="1300" b="1" dirty="0">
                <a:solidFill>
                  <a:srgbClr val="12304D"/>
                </a:solidFill>
                <a:latin typeface="Arial" pitchFamily="34" charset="0"/>
                <a:ea typeface="맑은 고딕" pitchFamily="34" charset="-122"/>
                <a:cs typeface="Arial" pitchFamily="34" charset="-120"/>
              </a:rPr>
              <a:t>−0.3 ~ 0.3</a:t>
            </a:r>
            <a:endParaRPr lang="en-US" sz="1300" dirty="0"/>
          </a:p>
        </p:txBody>
      </p:sp>
      <p:sp>
        <p:nvSpPr>
          <p:cNvPr id="25" name="Text 23"/>
          <p:cNvSpPr txBox="1"/>
          <p:nvPr/>
        </p:nvSpPr>
        <p:spPr>
          <a:xfrm>
            <a:off x="3593592" y="4983480"/>
            <a:ext cx="1143000" cy="256032"/>
          </a:xfrm>
          <a:prstGeom prst="rect">
            <a:avLst/>
          </a:prstGeom>
          <a:noFill/>
          <a:ln/>
        </p:spPr>
        <p:txBody>
          <a:bodyPr wrap="square" lIns="0" tIns="0" rIns="0" bIns="0" rtlCol="0" anchor="t"/>
          <a:lstStyle/>
          <a:p>
            <a:pPr algn="ctr" indent="0" marL="0">
              <a:lnSpc>
                <a:spcPts val="1820"/>
              </a:lnSpc>
              <a:buNone/>
            </a:pPr>
            <a:r>
              <a:rPr lang="en-US" sz="1300" dirty="0">
                <a:solidFill>
                  <a:srgbClr val="12304D"/>
                </a:solidFill>
                <a:latin typeface="Arial" pitchFamily="34" charset="0"/>
                <a:ea typeface="맑은 고딕" pitchFamily="34" charset="-122"/>
                <a:cs typeface="Arial" pitchFamily="34" charset="-120"/>
              </a:rPr>
              <a:t>거의 없음</a:t>
            </a:r>
            <a:endParaRPr lang="en-US" sz="1300" dirty="0"/>
          </a:p>
        </p:txBody>
      </p:sp>
      <p:sp>
        <p:nvSpPr>
          <p:cNvPr id="26" name="Shape 24"/>
          <p:cNvSpPr/>
          <p:nvPr/>
        </p:nvSpPr>
        <p:spPr>
          <a:xfrm>
            <a:off x="4846320" y="4553712"/>
            <a:ext cx="1307592" cy="841248"/>
          </a:xfrm>
          <a:prstGeom prst="rect">
            <a:avLst/>
          </a:prstGeom>
          <a:solidFill>
            <a:srgbClr val="F2C08F"/>
          </a:solidFill>
          <a:ln/>
        </p:spPr>
      </p:sp>
      <p:sp>
        <p:nvSpPr>
          <p:cNvPr id="27" name="Text 25"/>
          <p:cNvSpPr txBox="1"/>
          <p:nvPr/>
        </p:nvSpPr>
        <p:spPr>
          <a:xfrm>
            <a:off x="4937760" y="4663440"/>
            <a:ext cx="1143000" cy="256032"/>
          </a:xfrm>
          <a:prstGeom prst="rect">
            <a:avLst/>
          </a:prstGeom>
          <a:noFill/>
          <a:ln/>
        </p:spPr>
        <p:txBody>
          <a:bodyPr wrap="square" lIns="0" tIns="0" rIns="0" bIns="0" rtlCol="0" anchor="t"/>
          <a:lstStyle/>
          <a:p>
            <a:pPr algn="ctr" indent="0" marL="0">
              <a:lnSpc>
                <a:spcPts val="1820"/>
              </a:lnSpc>
              <a:buNone/>
            </a:pPr>
            <a:r>
              <a:rPr lang="en-US" sz="1300" b="1" dirty="0">
                <a:solidFill>
                  <a:srgbClr val="12304D"/>
                </a:solidFill>
                <a:latin typeface="Arial" pitchFamily="34" charset="0"/>
                <a:ea typeface="맑은 고딕" pitchFamily="34" charset="-122"/>
                <a:cs typeface="Arial" pitchFamily="34" charset="-120"/>
              </a:rPr>
              <a:t>0.3 ~ 0.7</a:t>
            </a:r>
            <a:endParaRPr lang="en-US" sz="1300" dirty="0"/>
          </a:p>
        </p:txBody>
      </p:sp>
      <p:sp>
        <p:nvSpPr>
          <p:cNvPr id="28" name="Text 26"/>
          <p:cNvSpPr txBox="1"/>
          <p:nvPr/>
        </p:nvSpPr>
        <p:spPr>
          <a:xfrm>
            <a:off x="4937760" y="4983480"/>
            <a:ext cx="1143000" cy="256032"/>
          </a:xfrm>
          <a:prstGeom prst="rect">
            <a:avLst/>
          </a:prstGeom>
          <a:noFill/>
          <a:ln/>
        </p:spPr>
        <p:txBody>
          <a:bodyPr wrap="square" lIns="0" tIns="0" rIns="0" bIns="0" rtlCol="0" anchor="t"/>
          <a:lstStyle/>
          <a:p>
            <a:pPr algn="ctr" indent="0" marL="0">
              <a:lnSpc>
                <a:spcPts val="1820"/>
              </a:lnSpc>
              <a:buNone/>
            </a:pPr>
            <a:r>
              <a:rPr lang="en-US" sz="1300" dirty="0">
                <a:solidFill>
                  <a:srgbClr val="12304D"/>
                </a:solidFill>
                <a:latin typeface="Arial" pitchFamily="34" charset="0"/>
                <a:ea typeface="맑은 고딕" pitchFamily="34" charset="-122"/>
                <a:cs typeface="Arial" pitchFamily="34" charset="-120"/>
              </a:rPr>
              <a:t>보통 양(+)</a:t>
            </a:r>
            <a:endParaRPr lang="en-US" sz="1300" dirty="0"/>
          </a:p>
        </p:txBody>
      </p:sp>
      <p:sp>
        <p:nvSpPr>
          <p:cNvPr id="29" name="Shape 27"/>
          <p:cNvSpPr/>
          <p:nvPr/>
        </p:nvSpPr>
        <p:spPr>
          <a:xfrm>
            <a:off x="6190488" y="4553712"/>
            <a:ext cx="1307592" cy="841248"/>
          </a:xfrm>
          <a:prstGeom prst="rect">
            <a:avLst/>
          </a:prstGeom>
          <a:solidFill>
            <a:srgbClr val="C8692A"/>
          </a:solidFill>
          <a:ln/>
        </p:spPr>
      </p:sp>
      <p:sp>
        <p:nvSpPr>
          <p:cNvPr id="30" name="Text 28"/>
          <p:cNvSpPr txBox="1"/>
          <p:nvPr/>
        </p:nvSpPr>
        <p:spPr>
          <a:xfrm>
            <a:off x="6281928" y="4663440"/>
            <a:ext cx="1143000" cy="256032"/>
          </a:xfrm>
          <a:prstGeom prst="rect">
            <a:avLst/>
          </a:prstGeom>
          <a:noFill/>
          <a:ln/>
        </p:spPr>
        <p:txBody>
          <a:bodyPr wrap="square" lIns="0" tIns="0" rIns="0" bIns="0" rtlCol="0" anchor="t"/>
          <a:lstStyle/>
          <a:p>
            <a:pPr algn="ctr" indent="0" marL="0">
              <a:lnSpc>
                <a:spcPts val="1820"/>
              </a:lnSpc>
              <a:buNone/>
            </a:pPr>
            <a:r>
              <a:rPr lang="en-US" sz="1300" b="1" dirty="0">
                <a:solidFill>
                  <a:srgbClr val="F5F4EF"/>
                </a:solidFill>
                <a:latin typeface="Arial" pitchFamily="34" charset="0"/>
                <a:ea typeface="맑은 고딕" pitchFamily="34" charset="-122"/>
                <a:cs typeface="Arial" pitchFamily="34" charset="-120"/>
              </a:rPr>
              <a:t>0.7 ~ 1</a:t>
            </a:r>
            <a:endParaRPr lang="en-US" sz="1300" dirty="0"/>
          </a:p>
        </p:txBody>
      </p:sp>
      <p:sp>
        <p:nvSpPr>
          <p:cNvPr id="31" name="Text 29"/>
          <p:cNvSpPr txBox="1"/>
          <p:nvPr/>
        </p:nvSpPr>
        <p:spPr>
          <a:xfrm>
            <a:off x="6281928" y="4983480"/>
            <a:ext cx="1143000" cy="256032"/>
          </a:xfrm>
          <a:prstGeom prst="rect">
            <a:avLst/>
          </a:prstGeom>
          <a:noFill/>
          <a:ln/>
        </p:spPr>
        <p:txBody>
          <a:bodyPr wrap="square" lIns="0" tIns="0" rIns="0" bIns="0" rtlCol="0" anchor="t"/>
          <a:lstStyle/>
          <a:p>
            <a:pPr algn="ctr" indent="0" marL="0">
              <a:lnSpc>
                <a:spcPts val="1820"/>
              </a:lnSpc>
              <a:buNone/>
            </a:pPr>
            <a:r>
              <a:rPr lang="en-US" sz="1300" dirty="0">
                <a:solidFill>
                  <a:srgbClr val="F5F4EF"/>
                </a:solidFill>
                <a:latin typeface="Arial" pitchFamily="34" charset="0"/>
                <a:ea typeface="맑은 고딕" pitchFamily="34" charset="-122"/>
                <a:cs typeface="Arial" pitchFamily="34" charset="-120"/>
              </a:rPr>
              <a:t>강한 양(+)</a:t>
            </a:r>
            <a:endParaRPr lang="en-US" sz="1300" dirty="0"/>
          </a:p>
        </p:txBody>
      </p:sp>
      <p:sp>
        <p:nvSpPr>
          <p:cNvPr id="32" name="Shape 30"/>
          <p:cNvSpPr/>
          <p:nvPr/>
        </p:nvSpPr>
        <p:spPr>
          <a:xfrm>
            <a:off x="7680960" y="4206240"/>
            <a:ext cx="3703320" cy="1188720"/>
          </a:xfrm>
          <a:prstGeom prst="roundRect">
            <a:avLst>
              <a:gd name="adj" fmla="val 9231"/>
            </a:avLst>
          </a:prstGeom>
          <a:solidFill>
            <a:srgbClr val="12304D"/>
          </a:solidFill>
          <a:ln/>
        </p:spPr>
      </p:sp>
      <p:sp>
        <p:nvSpPr>
          <p:cNvPr id="33" name="Text 31"/>
          <p:cNvSpPr txBox="1"/>
          <p:nvPr/>
        </p:nvSpPr>
        <p:spPr>
          <a:xfrm>
            <a:off x="7882128" y="4370832"/>
            <a:ext cx="3337560" cy="274320"/>
          </a:xfrm>
          <a:prstGeom prst="rect">
            <a:avLst/>
          </a:prstGeom>
          <a:noFill/>
          <a:ln/>
        </p:spPr>
        <p:txBody>
          <a:bodyPr wrap="square" lIns="0" tIns="0" rIns="0" bIns="0" rtlCol="0" anchor="t"/>
          <a:lstStyle/>
          <a:p>
            <a:pPr indent="0" marL="0">
              <a:lnSpc>
                <a:spcPts val="1960"/>
              </a:lnSpc>
              <a:buNone/>
            </a:pPr>
            <a:r>
              <a:rPr lang="en-US" sz="1400" b="1" dirty="0">
                <a:solidFill>
                  <a:srgbClr val="F2A65A"/>
                </a:solidFill>
                <a:latin typeface="Arial" pitchFamily="34" charset="0"/>
                <a:ea typeface="맑은 고딕" pitchFamily="34" charset="-122"/>
                <a:cs typeface="Arial" pitchFamily="34" charset="-120"/>
              </a:rPr>
              <a:t>주의 · 상관은 원인이 아닙니다</a:t>
            </a:r>
            <a:endParaRPr lang="en-US" sz="1400" dirty="0"/>
          </a:p>
        </p:txBody>
      </p:sp>
      <p:sp>
        <p:nvSpPr>
          <p:cNvPr id="34" name="Text 32"/>
          <p:cNvSpPr txBox="1"/>
          <p:nvPr/>
        </p:nvSpPr>
        <p:spPr>
          <a:xfrm>
            <a:off x="7882128" y="4700016"/>
            <a:ext cx="3337560" cy="566928"/>
          </a:xfrm>
          <a:prstGeom prst="rect">
            <a:avLst/>
          </a:prstGeom>
          <a:noFill/>
          <a:ln/>
        </p:spPr>
        <p:txBody>
          <a:bodyPr wrap="square" lIns="0" tIns="0" rIns="0" bIns="0" rtlCol="0" anchor="t"/>
          <a:lstStyle/>
          <a:p>
            <a:pPr indent="0" marL="0">
              <a:lnSpc>
                <a:spcPts val="1820"/>
              </a:lnSpc>
              <a:buNone/>
            </a:pPr>
            <a:r>
              <a:rPr lang="en-US" sz="1300" dirty="0">
                <a:solidFill>
                  <a:srgbClr val="F5F4EF"/>
                </a:solidFill>
                <a:latin typeface="Arial" pitchFamily="34" charset="0"/>
                <a:ea typeface="맑은 고딕" pitchFamily="34" charset="-122"/>
                <a:cs typeface="Arial" pitchFamily="34" charset="-120"/>
              </a:rPr>
              <a:t>아이스크림 판매와 물놀이 사고는 함께 늘지만, 원인은 ‘더운 날씨’입니다.</a:t>
            </a:r>
            <a:endParaRPr lang="en-US" sz="1300" dirty="0"/>
          </a:p>
        </p:txBody>
      </p:sp>
      <p:sp>
        <p:nvSpPr>
          <p:cNvPr id="35" name="Text 33"/>
          <p:cNvSpPr txBox="1"/>
          <p:nvPr/>
        </p:nvSpPr>
        <p:spPr>
          <a:xfrm>
            <a:off x="813816" y="6236208"/>
            <a:ext cx="10881360" cy="237744"/>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생성형 AI 실무 활용 · 1일차</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4E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엑셀 준비</a:t>
            </a:r>
            <a:endParaRPr lang="en-US" sz="1400" dirty="0"/>
          </a:p>
        </p:txBody>
      </p:sp>
      <p:sp>
        <p:nvSpPr>
          <p:cNvPr id="3" name="Title"/>
          <p:cNvSpPr/>
          <p:nvPr>
            <p:ph type="title"/>
          </p:nvPr>
        </p:nvSpPr>
        <p:spPr>
          <a:xfrm>
            <a:off x="813816" y="1133856"/>
            <a:ext cx="10881360" cy="493776"/>
          </a:xfrm>
          <a:prstGeom prst="rect">
            <a:avLst/>
          </a:prstGeom>
          <a:noFill/>
          <a:ln/>
        </p:spPr>
        <p:txBody>
          <a:bodyPr wrap="square" lIns="0" tIns="0" rIns="0" bIns="0" rtlCol="0" anchor="t"/>
          <a:lstStyle/>
          <a:p>
            <a:pPr indent="0" marL="0">
              <a:lnSpc>
                <a:spcPts val="4480"/>
              </a:lnSpc>
              <a:buNone/>
            </a:pPr>
            <a:r>
              <a:rPr lang="en-US" sz="3200" b="1" dirty="0">
                <a:solidFill>
                  <a:srgbClr val="12304D"/>
                </a:solidFill>
                <a:latin typeface="Arial" pitchFamily="34" charset="0"/>
                <a:ea typeface="맑은 고딕" pitchFamily="34" charset="-122"/>
                <a:cs typeface="Arial" pitchFamily="34" charset="-120"/>
              </a:rPr>
              <a:t>‘데이터 분석’ 도구를 먼저 켜 둡니다</a:t>
            </a:r>
            <a:endParaRPr lang="en-US" sz="3200" dirty="0"/>
          </a:p>
        </p:txBody>
      </p:sp>
      <p:sp>
        <p:nvSpPr>
          <p:cNvPr id="4" name="Shape 2"/>
          <p:cNvSpPr/>
          <p:nvPr/>
        </p:nvSpPr>
        <p:spPr>
          <a:xfrm>
            <a:off x="813816" y="1883664"/>
            <a:ext cx="4846320" cy="512064"/>
          </a:xfrm>
          <a:prstGeom prst="roundRect">
            <a:avLst>
              <a:gd name="adj" fmla="val 17857"/>
            </a:avLst>
          </a:prstGeom>
          <a:solidFill>
            <a:srgbClr val="FCFCFA"/>
          </a:solidFill>
          <a:ln w="9525">
            <a:solidFill>
              <a:srgbClr val="D9DDE1"/>
            </a:solidFill>
            <a:prstDash val="solid"/>
          </a:ln>
        </p:spPr>
      </p:sp>
      <p:sp>
        <p:nvSpPr>
          <p:cNvPr id="5" name="Text 3"/>
          <p:cNvSpPr txBox="1"/>
          <p:nvPr/>
        </p:nvSpPr>
        <p:spPr>
          <a:xfrm>
            <a:off x="1005840" y="2011680"/>
            <a:ext cx="4572000" cy="274320"/>
          </a:xfrm>
          <a:prstGeom prst="rect">
            <a:avLst/>
          </a:prstGeom>
          <a:noFill/>
          <a:ln/>
        </p:spPr>
        <p:txBody>
          <a:bodyPr wrap="square" lIns="0" tIns="0" rIns="0" bIns="0" rtlCol="0" anchor="t"/>
          <a:lstStyle/>
          <a:p>
            <a:pPr indent="0" marL="0">
              <a:lnSpc>
                <a:spcPts val="1960"/>
              </a:lnSpc>
              <a:buNone/>
            </a:pPr>
            <a:r>
              <a:rPr lang="en-US" sz="1400" b="1" dirty="0">
                <a:solidFill>
                  <a:srgbClr val="1F6F78"/>
                </a:solidFill>
                <a:latin typeface="Arial" pitchFamily="34" charset="0"/>
                <a:ea typeface="맑은 고딕" pitchFamily="34" charset="-122"/>
                <a:cs typeface="Arial" pitchFamily="34" charset="-120"/>
              </a:rPr>
              <a:t>①  </a:t>
            </a:r>
            <a:pPr indent="0" marL="0">
              <a:lnSpc>
                <a:spcPts val="1960"/>
              </a:lnSpc>
              <a:buNone/>
            </a:pPr>
            <a:r>
              <a:rPr lang="en-US" sz="1400" dirty="0">
                <a:solidFill>
                  <a:srgbClr val="12304D"/>
                </a:solidFill>
                <a:latin typeface="Arial" pitchFamily="34" charset="0"/>
                <a:ea typeface="맑은 고딕" pitchFamily="34" charset="-122"/>
                <a:cs typeface="Arial" pitchFamily="34" charset="-120"/>
              </a:rPr>
              <a:t>파일 &gt; 옵션 &gt; 추가 기능</a:t>
            </a:r>
            <a:endParaRPr lang="en-US" sz="1400" dirty="0"/>
          </a:p>
        </p:txBody>
      </p:sp>
      <p:sp>
        <p:nvSpPr>
          <p:cNvPr id="6" name="Shape 4"/>
          <p:cNvSpPr/>
          <p:nvPr/>
        </p:nvSpPr>
        <p:spPr>
          <a:xfrm>
            <a:off x="813816" y="2505456"/>
            <a:ext cx="4846320" cy="512064"/>
          </a:xfrm>
          <a:prstGeom prst="roundRect">
            <a:avLst>
              <a:gd name="adj" fmla="val 17857"/>
            </a:avLst>
          </a:prstGeom>
          <a:solidFill>
            <a:srgbClr val="FCFCFA"/>
          </a:solidFill>
          <a:ln w="9525">
            <a:solidFill>
              <a:srgbClr val="D9DDE1"/>
            </a:solidFill>
            <a:prstDash val="solid"/>
          </a:ln>
        </p:spPr>
      </p:sp>
      <p:sp>
        <p:nvSpPr>
          <p:cNvPr id="7" name="Text 5"/>
          <p:cNvSpPr txBox="1"/>
          <p:nvPr/>
        </p:nvSpPr>
        <p:spPr>
          <a:xfrm>
            <a:off x="1005840" y="2633472"/>
            <a:ext cx="4572000" cy="274320"/>
          </a:xfrm>
          <a:prstGeom prst="rect">
            <a:avLst/>
          </a:prstGeom>
          <a:noFill/>
          <a:ln/>
        </p:spPr>
        <p:txBody>
          <a:bodyPr wrap="square" lIns="0" tIns="0" rIns="0" bIns="0" rtlCol="0" anchor="t"/>
          <a:lstStyle/>
          <a:p>
            <a:pPr indent="0" marL="0">
              <a:lnSpc>
                <a:spcPts val="1960"/>
              </a:lnSpc>
              <a:buNone/>
            </a:pPr>
            <a:r>
              <a:rPr lang="en-US" sz="1400" b="1" dirty="0">
                <a:solidFill>
                  <a:srgbClr val="1F6F78"/>
                </a:solidFill>
                <a:latin typeface="Arial" pitchFamily="34" charset="0"/>
                <a:ea typeface="맑은 고딕" pitchFamily="34" charset="-122"/>
                <a:cs typeface="Arial" pitchFamily="34" charset="-120"/>
              </a:rPr>
              <a:t>②  </a:t>
            </a:r>
            <a:pPr indent="0" marL="0">
              <a:lnSpc>
                <a:spcPts val="1960"/>
              </a:lnSpc>
              <a:buNone/>
            </a:pPr>
            <a:r>
              <a:rPr lang="en-US" sz="1400" dirty="0">
                <a:solidFill>
                  <a:srgbClr val="12304D"/>
                </a:solidFill>
                <a:latin typeface="Arial" pitchFamily="34" charset="0"/>
                <a:ea typeface="맑은 고딕" pitchFamily="34" charset="-122"/>
                <a:cs typeface="Arial" pitchFamily="34" charset="-120"/>
              </a:rPr>
              <a:t>아래 ‘관리: Excel 추가 기능’ → [이동]</a:t>
            </a:r>
            <a:endParaRPr lang="en-US" sz="1400" dirty="0"/>
          </a:p>
        </p:txBody>
      </p:sp>
      <p:sp>
        <p:nvSpPr>
          <p:cNvPr id="8" name="Shape 6"/>
          <p:cNvSpPr/>
          <p:nvPr/>
        </p:nvSpPr>
        <p:spPr>
          <a:xfrm>
            <a:off x="813816" y="3127248"/>
            <a:ext cx="4846320" cy="512064"/>
          </a:xfrm>
          <a:prstGeom prst="roundRect">
            <a:avLst>
              <a:gd name="adj" fmla="val 17857"/>
            </a:avLst>
          </a:prstGeom>
          <a:solidFill>
            <a:srgbClr val="FCFCFA"/>
          </a:solidFill>
          <a:ln w="9525">
            <a:solidFill>
              <a:srgbClr val="D9DDE1"/>
            </a:solidFill>
            <a:prstDash val="solid"/>
          </a:ln>
        </p:spPr>
      </p:sp>
      <p:sp>
        <p:nvSpPr>
          <p:cNvPr id="9" name="Text 7"/>
          <p:cNvSpPr txBox="1"/>
          <p:nvPr/>
        </p:nvSpPr>
        <p:spPr>
          <a:xfrm>
            <a:off x="1005840" y="3255264"/>
            <a:ext cx="4572000" cy="274320"/>
          </a:xfrm>
          <a:prstGeom prst="rect">
            <a:avLst/>
          </a:prstGeom>
          <a:noFill/>
          <a:ln/>
        </p:spPr>
        <p:txBody>
          <a:bodyPr wrap="square" lIns="0" tIns="0" rIns="0" bIns="0" rtlCol="0" anchor="t"/>
          <a:lstStyle/>
          <a:p>
            <a:pPr indent="0" marL="0">
              <a:lnSpc>
                <a:spcPts val="1960"/>
              </a:lnSpc>
              <a:buNone/>
            </a:pPr>
            <a:r>
              <a:rPr lang="en-US" sz="1400" b="1" dirty="0">
                <a:solidFill>
                  <a:srgbClr val="1F6F78"/>
                </a:solidFill>
                <a:latin typeface="Arial" pitchFamily="34" charset="0"/>
                <a:ea typeface="맑은 고딕" pitchFamily="34" charset="-122"/>
                <a:cs typeface="Arial" pitchFamily="34" charset="-120"/>
              </a:rPr>
              <a:t>③  </a:t>
            </a:r>
            <a:pPr indent="0" marL="0">
              <a:lnSpc>
                <a:spcPts val="1960"/>
              </a:lnSpc>
              <a:buNone/>
            </a:pPr>
            <a:r>
              <a:rPr lang="en-US" sz="1400" dirty="0">
                <a:solidFill>
                  <a:srgbClr val="12304D"/>
                </a:solidFill>
                <a:latin typeface="Arial" pitchFamily="34" charset="0"/>
                <a:ea typeface="맑은 고딕" pitchFamily="34" charset="-122"/>
                <a:cs typeface="Arial" pitchFamily="34" charset="-120"/>
              </a:rPr>
              <a:t>‘분석 도구’ 체크 → [확인]</a:t>
            </a:r>
            <a:endParaRPr lang="en-US" sz="1400" dirty="0"/>
          </a:p>
        </p:txBody>
      </p:sp>
      <p:sp>
        <p:nvSpPr>
          <p:cNvPr id="10" name="Shape 8"/>
          <p:cNvSpPr/>
          <p:nvPr/>
        </p:nvSpPr>
        <p:spPr>
          <a:xfrm>
            <a:off x="813816" y="3749040"/>
            <a:ext cx="4846320" cy="512064"/>
          </a:xfrm>
          <a:prstGeom prst="roundRect">
            <a:avLst>
              <a:gd name="adj" fmla="val 17857"/>
            </a:avLst>
          </a:prstGeom>
          <a:solidFill>
            <a:srgbClr val="12304D"/>
          </a:solidFill>
          <a:ln/>
        </p:spPr>
      </p:sp>
      <p:sp>
        <p:nvSpPr>
          <p:cNvPr id="11" name="Text 9"/>
          <p:cNvSpPr txBox="1"/>
          <p:nvPr/>
        </p:nvSpPr>
        <p:spPr>
          <a:xfrm>
            <a:off x="1005840" y="3877056"/>
            <a:ext cx="4572000" cy="274320"/>
          </a:xfrm>
          <a:prstGeom prst="rect">
            <a:avLst/>
          </a:prstGeom>
          <a:noFill/>
          <a:ln/>
        </p:spPr>
        <p:txBody>
          <a:bodyPr wrap="square" lIns="0" tIns="0" rIns="0" bIns="0" rtlCol="0" anchor="t"/>
          <a:lstStyle/>
          <a:p>
            <a:pPr indent="0" marL="0">
              <a:lnSpc>
                <a:spcPts val="1960"/>
              </a:lnSpc>
              <a:buNone/>
            </a:pPr>
            <a:r>
              <a:rPr lang="en-US" sz="1400" b="1" dirty="0">
                <a:solidFill>
                  <a:srgbClr val="F2A65A"/>
                </a:solidFill>
                <a:latin typeface="Arial" pitchFamily="34" charset="0"/>
                <a:ea typeface="맑은 고딕" pitchFamily="34" charset="-122"/>
                <a:cs typeface="Arial" pitchFamily="34" charset="-120"/>
              </a:rPr>
              <a:t>④  </a:t>
            </a:r>
            <a:pPr indent="0" marL="0">
              <a:lnSpc>
                <a:spcPts val="1960"/>
              </a:lnSpc>
              <a:buNone/>
            </a:pPr>
            <a:r>
              <a:rPr lang="en-US" sz="1400" dirty="0">
                <a:solidFill>
                  <a:srgbClr val="F5F4EF"/>
                </a:solidFill>
                <a:latin typeface="Arial" pitchFamily="34" charset="0"/>
                <a:ea typeface="맑은 고딕" pitchFamily="34" charset="-122"/>
                <a:cs typeface="Arial" pitchFamily="34" charset="-120"/>
              </a:rPr>
              <a:t>데이터 탭 오른쪽 끝 [데이터 분석] 확인</a:t>
            </a:r>
            <a:endParaRPr lang="en-US" sz="1400" dirty="0"/>
          </a:p>
        </p:txBody>
      </p:sp>
      <p:sp>
        <p:nvSpPr>
          <p:cNvPr id="12" name="Text 10"/>
          <p:cNvSpPr txBox="1"/>
          <p:nvPr/>
        </p:nvSpPr>
        <p:spPr>
          <a:xfrm>
            <a:off x="813816" y="4434840"/>
            <a:ext cx="4846320" cy="256032"/>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Mac은 도구 &gt; Excel 추가 기능 &gt; ‘분석 도구’ 체크</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89320" y="1883664"/>
          <a:ext cx="5394960" cy="914400"/>
        </p:xfrm>
        <a:graphic>
          <a:graphicData uri="http://schemas.openxmlformats.org/drawingml/2006/table">
            <a:tbl>
              <a:tblPr/>
              <a:tblGrid>
                <a:gridCol w="731520"/>
                <a:gridCol w="2103120"/>
                <a:gridCol w="2560320"/>
              </a:tblGrid>
              <a:tr h="457200">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l" indent="0" marL="0">
                        <a:buNone/>
                      </a:pPr>
                      <a:r>
                        <a:rPr lang="en-US" sz="1300" b="1" dirty="0">
                          <a:solidFill>
                            <a:srgbClr val="F5F4EF"/>
                          </a:solidFill>
                          <a:latin typeface="Arial" pitchFamily="34" charset="0"/>
                          <a:ea typeface="맑은 고딕" pitchFamily="34" charset="-122"/>
                          <a:cs typeface="Arial" pitchFamily="34" charset="-120"/>
                        </a:rPr>
                        <a:t>함수</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l" indent="0" marL="0">
                        <a:buNone/>
                      </a:pPr>
                      <a:r>
                        <a:rPr lang="en-US" sz="1300" b="1" dirty="0">
                          <a:solidFill>
                            <a:srgbClr val="F5F4EF"/>
                          </a:solidFill>
                          <a:latin typeface="Arial" pitchFamily="34" charset="0"/>
                          <a:ea typeface="맑은 고딕" pitchFamily="34" charset="-122"/>
                          <a:cs typeface="Arial" pitchFamily="34" charset="-120"/>
                        </a:rPr>
                        <a:t>데이터 분석 도구</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r>
              <a:tr h="457200">
                <a:tc>
                  <a:txBody>
                    <a:bodyPr/>
                    <a:lstStyle/>
                    <a:p>
                      <a:pPr algn="l" indent="0" marL="0">
                        <a:buNone/>
                      </a:pPr>
                      <a:r>
                        <a:rPr lang="en-US" sz="1300" b="1" dirty="0">
                          <a:solidFill>
                            <a:srgbClr val="12304D"/>
                          </a:solidFill>
                          <a:latin typeface="Arial" pitchFamily="34" charset="0"/>
                          <a:ea typeface="맑은 고딕" pitchFamily="34" charset="-122"/>
                          <a:cs typeface="Arial" pitchFamily="34" charset="-120"/>
                        </a:rPr>
                        <a:t>예</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CORREL, SLOPE, RSQ</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상관 분석, 회귀 분석</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457200">
                <a:tc>
                  <a:txBody>
                    <a:bodyPr/>
                    <a:lstStyle/>
                    <a:p>
                      <a:pPr algn="l" indent="0" marL="0">
                        <a:buNone/>
                      </a:pPr>
                      <a:r>
                        <a:rPr lang="en-US" sz="1300" b="1" dirty="0">
                          <a:solidFill>
                            <a:srgbClr val="12304D"/>
                          </a:solidFill>
                          <a:latin typeface="Arial" pitchFamily="34" charset="0"/>
                          <a:ea typeface="맑은 고딕" pitchFamily="34" charset="-122"/>
                          <a:cs typeface="Arial" pitchFamily="34" charset="-120"/>
                        </a:rPr>
                        <a:t>결과</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셀 하나에 값 하나</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표 전체를 한 번에</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r>
              <a:tr h="457200">
                <a:tc>
                  <a:txBody>
                    <a:bodyPr/>
                    <a:lstStyle/>
                    <a:p>
                      <a:pPr algn="l" indent="0" marL="0">
                        <a:buNone/>
                      </a:pPr>
                      <a:r>
                        <a:rPr lang="en-US" sz="1300" b="1" dirty="0">
                          <a:solidFill>
                            <a:srgbClr val="12304D"/>
                          </a:solidFill>
                          <a:latin typeface="Arial" pitchFamily="34" charset="0"/>
                          <a:ea typeface="맑은 고딕" pitchFamily="34" charset="-122"/>
                          <a:cs typeface="Arial" pitchFamily="34" charset="-120"/>
                        </a:rPr>
                        <a:t>장점</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자동 재계산</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P-값까지 자세한 통계</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457200">
                <a:tc>
                  <a:txBody>
                    <a:bodyPr/>
                    <a:lstStyle/>
                    <a:p>
                      <a:pPr algn="l" indent="0" marL="0">
                        <a:buNone/>
                      </a:pPr>
                      <a:r>
                        <a:rPr lang="en-US" sz="1300" b="1" dirty="0">
                          <a:solidFill>
                            <a:srgbClr val="12304D"/>
                          </a:solidFill>
                          <a:latin typeface="Arial" pitchFamily="34" charset="0"/>
                          <a:ea typeface="맑은 고딕" pitchFamily="34" charset="-122"/>
                          <a:cs typeface="Arial" pitchFamily="34" charset="-120"/>
                        </a:rPr>
                        <a:t>언제</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핵심 수치 몇 개</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여러 변수 · 보고서 근거표</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r>
            </a:tbl>
          </a:graphicData>
        </a:graphic>
      </p:graphicFrame>
      <p:sp>
        <p:nvSpPr>
          <p:cNvPr id="14" name="Shape 11"/>
          <p:cNvSpPr/>
          <p:nvPr/>
        </p:nvSpPr>
        <p:spPr>
          <a:xfrm>
            <a:off x="813816" y="4892040"/>
            <a:ext cx="10570464" cy="621792"/>
          </a:xfrm>
          <a:prstGeom prst="roundRect">
            <a:avLst>
              <a:gd name="adj" fmla="val 14706"/>
            </a:avLst>
          </a:prstGeom>
          <a:solidFill>
            <a:srgbClr val="12304D"/>
          </a:solidFill>
          <a:ln/>
        </p:spPr>
      </p:sp>
      <p:sp>
        <p:nvSpPr>
          <p:cNvPr id="15" name="Text 12"/>
          <p:cNvSpPr txBox="1"/>
          <p:nvPr/>
        </p:nvSpPr>
        <p:spPr>
          <a:xfrm>
            <a:off x="1024128" y="5056632"/>
            <a:ext cx="10149840" cy="292608"/>
          </a:xfrm>
          <a:prstGeom prst="rect">
            <a:avLst/>
          </a:prstGeom>
          <a:noFill/>
          <a:ln/>
        </p:spPr>
        <p:txBody>
          <a:bodyPr wrap="square" lIns="0" tIns="0" rIns="0" bIns="0" rtlCol="0" anchor="t"/>
          <a:lstStyle/>
          <a:p>
            <a:pPr indent="0" marL="0">
              <a:lnSpc>
                <a:spcPts val="2100"/>
              </a:lnSpc>
              <a:buNone/>
            </a:pPr>
            <a:r>
              <a:rPr lang="en-US" sz="1500" dirty="0">
                <a:solidFill>
                  <a:srgbClr val="F5F4EF"/>
                </a:solidFill>
                <a:latin typeface="Arial" pitchFamily="34" charset="0"/>
                <a:ea typeface="맑은 고딕" pitchFamily="34" charset="-122"/>
                <a:cs typeface="Arial" pitchFamily="34" charset="-120"/>
              </a:rPr>
              <a:t>오늘은 두 가지를 모두 씁니다 · </a:t>
            </a:r>
            <a:pPr indent="0" marL="0">
              <a:lnSpc>
                <a:spcPts val="2100"/>
              </a:lnSpc>
              <a:buNone/>
            </a:pPr>
            <a:r>
              <a:rPr lang="en-US" sz="1500" b="1" dirty="0">
                <a:solidFill>
                  <a:srgbClr val="F2A65A"/>
                </a:solidFill>
                <a:latin typeface="Arial" pitchFamily="34" charset="0"/>
                <a:ea typeface="맑은 고딕" pitchFamily="34" charset="-122"/>
                <a:cs typeface="Arial" pitchFamily="34" charset="-120"/>
              </a:rPr>
              <a:t>함수로 핵심 수치를 확인</a:t>
            </a:r>
            <a:pPr indent="0" marL="0">
              <a:lnSpc>
                <a:spcPts val="2100"/>
              </a:lnSpc>
              <a:buNone/>
            </a:pPr>
            <a:r>
              <a:rPr lang="en-US" sz="1500" dirty="0">
                <a:solidFill>
                  <a:srgbClr val="F5F4EF"/>
                </a:solidFill>
                <a:latin typeface="Arial" pitchFamily="34" charset="0"/>
                <a:ea typeface="맑은 고딕" pitchFamily="34" charset="-122"/>
                <a:cs typeface="Arial" pitchFamily="34" charset="-120"/>
              </a:rPr>
              <a:t>하고, </a:t>
            </a:r>
            <a:pPr indent="0" marL="0">
              <a:lnSpc>
                <a:spcPts val="2100"/>
              </a:lnSpc>
              <a:buNone/>
            </a:pPr>
            <a:r>
              <a:rPr lang="en-US" sz="1500" b="1" dirty="0">
                <a:solidFill>
                  <a:srgbClr val="F2A65A"/>
                </a:solidFill>
                <a:latin typeface="Arial" pitchFamily="34" charset="0"/>
                <a:ea typeface="맑은 고딕" pitchFamily="34" charset="-122"/>
                <a:cs typeface="Arial" pitchFamily="34" charset="-120"/>
              </a:rPr>
              <a:t>분석 도구로 보고서용 근거표</a:t>
            </a:r>
            <a:pPr indent="0" marL="0">
              <a:lnSpc>
                <a:spcPts val="2100"/>
              </a:lnSpc>
              <a:buNone/>
            </a:pPr>
            <a:r>
              <a:rPr lang="en-US" sz="1500" dirty="0">
                <a:solidFill>
                  <a:srgbClr val="F5F4EF"/>
                </a:solidFill>
                <a:latin typeface="Arial" pitchFamily="34" charset="0"/>
                <a:ea typeface="맑은 고딕" pitchFamily="34" charset="-122"/>
                <a:cs typeface="Arial" pitchFamily="34" charset="-120"/>
              </a:rPr>
              <a:t>를 만듭니다.</a:t>
            </a:r>
            <a:endParaRPr lang="en-US" sz="1500" dirty="0"/>
          </a:p>
        </p:txBody>
      </p:sp>
      <p:sp>
        <p:nvSpPr>
          <p:cNvPr id="16" name="Text 13"/>
          <p:cNvSpPr txBox="1"/>
          <p:nvPr/>
        </p:nvSpPr>
        <p:spPr>
          <a:xfrm>
            <a:off x="813816" y="6236208"/>
            <a:ext cx="10881360" cy="237744"/>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생성형 AI 실무 활용 · 1일차</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4E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상관분석 · 엑셀로 하기</a:t>
            </a:r>
            <a:endParaRPr lang="en-US" sz="1400" dirty="0"/>
          </a:p>
        </p:txBody>
      </p:sp>
      <p:sp>
        <p:nvSpPr>
          <p:cNvPr id="3" name="Title"/>
          <p:cNvSpPr/>
          <p:nvPr>
            <p:ph type="title"/>
          </p:nvPr>
        </p:nvSpPr>
        <p:spPr>
          <a:xfrm>
            <a:off x="813816" y="1133856"/>
            <a:ext cx="10881360" cy="493776"/>
          </a:xfrm>
          <a:prstGeom prst="rect">
            <a:avLst/>
          </a:prstGeom>
          <a:noFill/>
          <a:ln/>
        </p:spPr>
        <p:txBody>
          <a:bodyPr wrap="square" lIns="0" tIns="0" rIns="0" bIns="0" rtlCol="0" anchor="t"/>
          <a:lstStyle/>
          <a:p>
            <a:pPr indent="0" marL="0">
              <a:lnSpc>
                <a:spcPts val="4480"/>
              </a:lnSpc>
              <a:buNone/>
            </a:pPr>
            <a:r>
              <a:rPr lang="en-US" sz="3200" b="1" dirty="0">
                <a:solidFill>
                  <a:srgbClr val="12304D"/>
                </a:solidFill>
                <a:latin typeface="Arial" pitchFamily="34" charset="0"/>
                <a:ea typeface="맑은 고딕" pitchFamily="34" charset="-122"/>
                <a:cs typeface="Arial" pitchFamily="34" charset="-120"/>
              </a:rPr>
              <a:t>함수 한 줄 또는 도구 한 번이면 됩니다</a:t>
            </a:r>
            <a:endParaRPr lang="en-US" sz="3200" dirty="0"/>
          </a:p>
        </p:txBody>
      </p:sp>
      <p:sp>
        <p:nvSpPr>
          <p:cNvPr id="4" name="Shape 2"/>
          <p:cNvSpPr/>
          <p:nvPr/>
        </p:nvSpPr>
        <p:spPr>
          <a:xfrm>
            <a:off x="813816" y="1883664"/>
            <a:ext cx="3419856" cy="2011680"/>
          </a:xfrm>
          <a:prstGeom prst="roundRect">
            <a:avLst>
              <a:gd name="adj" fmla="val 5455"/>
            </a:avLst>
          </a:prstGeom>
          <a:solidFill>
            <a:srgbClr val="FCFCFA"/>
          </a:solidFill>
          <a:ln w="9525">
            <a:solidFill>
              <a:srgbClr val="D9DDE1"/>
            </a:solidFill>
            <a:prstDash val="solid"/>
          </a:ln>
        </p:spPr>
      </p:sp>
      <p:sp>
        <p:nvSpPr>
          <p:cNvPr id="5" name="Text 3"/>
          <p:cNvSpPr txBox="1"/>
          <p:nvPr/>
        </p:nvSpPr>
        <p:spPr>
          <a:xfrm>
            <a:off x="1042416" y="2084832"/>
            <a:ext cx="3008376" cy="301752"/>
          </a:xfrm>
          <a:prstGeom prst="rect">
            <a:avLst/>
          </a:prstGeom>
          <a:noFill/>
          <a:ln/>
        </p:spPr>
        <p:txBody>
          <a:bodyPr wrap="square" lIns="0" tIns="0" rIns="0" bIns="0" rtlCol="0" anchor="t"/>
          <a:lstStyle/>
          <a:p>
            <a:pPr indent="0" marL="0">
              <a:lnSpc>
                <a:spcPts val="2520"/>
              </a:lnSpc>
              <a:buNone/>
            </a:pPr>
            <a:r>
              <a:rPr lang="en-US" sz="1800" b="1" dirty="0">
                <a:solidFill>
                  <a:srgbClr val="12304D"/>
                </a:solidFill>
                <a:latin typeface="Arial" pitchFamily="34" charset="0"/>
                <a:ea typeface="맑은 고딕" pitchFamily="34" charset="-122"/>
                <a:cs typeface="Arial" pitchFamily="34" charset="-120"/>
              </a:rPr>
              <a:t>방법 1 · 함수</a:t>
            </a:r>
            <a:endParaRPr lang="en-US" sz="1800" dirty="0"/>
          </a:p>
        </p:txBody>
      </p:sp>
      <p:sp>
        <p:nvSpPr>
          <p:cNvPr id="6" name="Text 4"/>
          <p:cNvSpPr txBox="1"/>
          <p:nvPr/>
        </p:nvSpPr>
        <p:spPr>
          <a:xfrm>
            <a:off x="1042416" y="2542032"/>
            <a:ext cx="3008376" cy="320040"/>
          </a:xfrm>
          <a:prstGeom prst="rect">
            <a:avLst/>
          </a:prstGeom>
          <a:noFill/>
          <a:ln/>
        </p:spPr>
        <p:txBody>
          <a:bodyPr wrap="square" lIns="0" tIns="0" rIns="0" bIns="0" rtlCol="0" anchor="t"/>
          <a:lstStyle/>
          <a:p>
            <a:pPr indent="0" marL="0">
              <a:lnSpc>
                <a:spcPts val="2100"/>
              </a:lnSpc>
              <a:buNone/>
            </a:pPr>
            <a:r>
              <a:rPr lang="en-US" sz="1500" b="1" dirty="0">
                <a:solidFill>
                  <a:srgbClr val="A64F16"/>
                </a:solidFill>
                <a:latin typeface="Arial" pitchFamily="34" charset="0"/>
                <a:ea typeface="맑은 고딕" pitchFamily="34" charset="-122"/>
                <a:cs typeface="Arial" pitchFamily="34" charset="-120"/>
              </a:rPr>
              <a:t>=CORREL(D2:D31,G2:G31)</a:t>
            </a:r>
            <a:endParaRPr lang="en-US" sz="1500" dirty="0"/>
          </a:p>
        </p:txBody>
      </p:sp>
      <p:sp>
        <p:nvSpPr>
          <p:cNvPr id="7" name="Text 5"/>
          <p:cNvSpPr txBox="1"/>
          <p:nvPr/>
        </p:nvSpPr>
        <p:spPr>
          <a:xfrm>
            <a:off x="1042416" y="3017520"/>
            <a:ext cx="3008376" cy="640080"/>
          </a:xfrm>
          <a:prstGeom prst="rect">
            <a:avLst/>
          </a:prstGeom>
          <a:noFill/>
          <a:ln/>
        </p:spPr>
        <p:txBody>
          <a:bodyPr wrap="square" lIns="0" tIns="0" rIns="0" bIns="0" rtlCol="0" anchor="t"/>
          <a:lstStyle/>
          <a:p>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최고기온(D)과 아이스음료(G)의</a:t>
            </a:r>
            <a:endParaRPr lang="en-US" sz="1300" dirty="0"/>
          </a:p>
          <a:p>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상관계수 하나 → 0.88</a:t>
            </a:r>
            <a:endParaRPr lang="en-US" sz="1300" dirty="0"/>
          </a:p>
        </p:txBody>
      </p:sp>
      <p:sp>
        <p:nvSpPr>
          <p:cNvPr id="8" name="Shape 6"/>
          <p:cNvSpPr/>
          <p:nvPr/>
        </p:nvSpPr>
        <p:spPr>
          <a:xfrm>
            <a:off x="4389120" y="1883664"/>
            <a:ext cx="3419856" cy="2011680"/>
          </a:xfrm>
          <a:prstGeom prst="roundRect">
            <a:avLst>
              <a:gd name="adj" fmla="val 5455"/>
            </a:avLst>
          </a:prstGeom>
          <a:solidFill>
            <a:srgbClr val="FCFCFA"/>
          </a:solidFill>
          <a:ln w="9525">
            <a:solidFill>
              <a:srgbClr val="D9DDE1"/>
            </a:solidFill>
            <a:prstDash val="solid"/>
          </a:ln>
        </p:spPr>
      </p:sp>
      <p:sp>
        <p:nvSpPr>
          <p:cNvPr id="9" name="Text 7"/>
          <p:cNvSpPr txBox="1"/>
          <p:nvPr/>
        </p:nvSpPr>
        <p:spPr>
          <a:xfrm>
            <a:off x="4617720" y="2084832"/>
            <a:ext cx="3008376" cy="301752"/>
          </a:xfrm>
          <a:prstGeom prst="rect">
            <a:avLst/>
          </a:prstGeom>
          <a:noFill/>
          <a:ln/>
        </p:spPr>
        <p:txBody>
          <a:bodyPr wrap="square" lIns="0" tIns="0" rIns="0" bIns="0" rtlCol="0" anchor="t"/>
          <a:lstStyle/>
          <a:p>
            <a:pPr indent="0" marL="0">
              <a:lnSpc>
                <a:spcPts val="2520"/>
              </a:lnSpc>
              <a:buNone/>
            </a:pPr>
            <a:r>
              <a:rPr lang="en-US" sz="1800" b="1" dirty="0">
                <a:solidFill>
                  <a:srgbClr val="12304D"/>
                </a:solidFill>
                <a:latin typeface="Arial" pitchFamily="34" charset="0"/>
                <a:ea typeface="맑은 고딕" pitchFamily="34" charset="-122"/>
                <a:cs typeface="Arial" pitchFamily="34" charset="-120"/>
              </a:rPr>
              <a:t>방법 2 · 분석 도구</a:t>
            </a:r>
            <a:endParaRPr lang="en-US" sz="1800" dirty="0"/>
          </a:p>
        </p:txBody>
      </p:sp>
      <p:sp>
        <p:nvSpPr>
          <p:cNvPr id="10" name="Text 8"/>
          <p:cNvSpPr txBox="1"/>
          <p:nvPr/>
        </p:nvSpPr>
        <p:spPr>
          <a:xfrm>
            <a:off x="4617720" y="2542032"/>
            <a:ext cx="3008376" cy="320040"/>
          </a:xfrm>
          <a:prstGeom prst="rect">
            <a:avLst/>
          </a:prstGeom>
          <a:noFill/>
          <a:ln/>
        </p:spPr>
        <p:txBody>
          <a:bodyPr wrap="square" lIns="0" tIns="0" rIns="0" bIns="0" rtlCol="0" anchor="t"/>
          <a:lstStyle/>
          <a:p>
            <a:pPr indent="0" marL="0">
              <a:lnSpc>
                <a:spcPts val="2100"/>
              </a:lnSpc>
              <a:buNone/>
            </a:pPr>
            <a:r>
              <a:rPr lang="en-US" sz="1400" b="1" dirty="0">
                <a:solidFill>
                  <a:srgbClr val="A64F16"/>
                </a:solidFill>
                <a:latin typeface="Arial" pitchFamily="34" charset="0"/>
                <a:ea typeface="맑은 고딕" pitchFamily="34" charset="-122"/>
                <a:cs typeface="Arial" pitchFamily="34" charset="-120"/>
              </a:rPr>
              <a:t>데이터 &gt; 데이터 분석 &gt; 상관 분석</a:t>
            </a:r>
            <a:endParaRPr lang="en-US" sz="1500" dirty="0"/>
          </a:p>
        </p:txBody>
      </p:sp>
      <p:sp>
        <p:nvSpPr>
          <p:cNvPr id="11" name="Text 9"/>
          <p:cNvSpPr txBox="1"/>
          <p:nvPr/>
        </p:nvSpPr>
        <p:spPr>
          <a:xfrm>
            <a:off x="4617720" y="3017520"/>
            <a:ext cx="3008376" cy="640080"/>
          </a:xfrm>
          <a:prstGeom prst="rect">
            <a:avLst/>
          </a:prstGeom>
          <a:noFill/>
          <a:ln/>
        </p:spPr>
        <p:txBody>
          <a:bodyPr wrap="square" lIns="0" tIns="0" rIns="0" bIns="0" rtlCol="0" anchor="t"/>
          <a:lstStyle/>
          <a:p>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입력 범위 D1:I31 · 첫째 행 이름표 ✓</a:t>
            </a:r>
            <a:endParaRPr lang="en-US" sz="1300" dirty="0"/>
          </a:p>
          <a:p>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출력 범위 K1 → 6×6 상관표</a:t>
            </a:r>
            <a:endParaRPr lang="en-US" sz="1300" dirty="0"/>
          </a:p>
        </p:txBody>
      </p:sp>
      <p:sp>
        <p:nvSpPr>
          <p:cNvPr id="12" name="Shape 10"/>
          <p:cNvSpPr/>
          <p:nvPr/>
        </p:nvSpPr>
        <p:spPr>
          <a:xfrm>
            <a:off x="7964424" y="1883664"/>
            <a:ext cx="3419856" cy="2011680"/>
          </a:xfrm>
          <a:prstGeom prst="roundRect">
            <a:avLst>
              <a:gd name="adj" fmla="val 5455"/>
            </a:avLst>
          </a:prstGeom>
          <a:solidFill>
            <a:srgbClr val="FCFCFA"/>
          </a:solidFill>
          <a:ln w="9525">
            <a:solidFill>
              <a:srgbClr val="D9DDE1"/>
            </a:solidFill>
            <a:prstDash val="solid"/>
          </a:ln>
        </p:spPr>
      </p:sp>
      <p:sp>
        <p:nvSpPr>
          <p:cNvPr id="13" name="Text 11"/>
          <p:cNvSpPr txBox="1"/>
          <p:nvPr/>
        </p:nvSpPr>
        <p:spPr>
          <a:xfrm>
            <a:off x="8193024" y="2084832"/>
            <a:ext cx="3008376" cy="301752"/>
          </a:xfrm>
          <a:prstGeom prst="rect">
            <a:avLst/>
          </a:prstGeom>
          <a:noFill/>
          <a:ln/>
        </p:spPr>
        <p:txBody>
          <a:bodyPr wrap="square" lIns="0" tIns="0" rIns="0" bIns="0" rtlCol="0" anchor="t"/>
          <a:lstStyle/>
          <a:p>
            <a:pPr indent="0" marL="0">
              <a:lnSpc>
                <a:spcPts val="2520"/>
              </a:lnSpc>
              <a:buNone/>
            </a:pPr>
            <a:r>
              <a:rPr lang="en-US" sz="1800" b="1" dirty="0">
                <a:solidFill>
                  <a:srgbClr val="12304D"/>
                </a:solidFill>
                <a:latin typeface="Arial" pitchFamily="34" charset="0"/>
                <a:ea typeface="맑은 고딕" pitchFamily="34" charset="-122"/>
                <a:cs typeface="Arial" pitchFamily="34" charset="-120"/>
              </a:rPr>
              <a:t>방법 3 · 색 입히기</a:t>
            </a:r>
            <a:endParaRPr lang="en-US" sz="1800" dirty="0"/>
          </a:p>
        </p:txBody>
      </p:sp>
      <p:sp>
        <p:nvSpPr>
          <p:cNvPr id="14" name="Text 12"/>
          <p:cNvSpPr txBox="1"/>
          <p:nvPr/>
        </p:nvSpPr>
        <p:spPr>
          <a:xfrm>
            <a:off x="8193024" y="2542032"/>
            <a:ext cx="3008376" cy="320040"/>
          </a:xfrm>
          <a:prstGeom prst="rect">
            <a:avLst/>
          </a:prstGeom>
          <a:noFill/>
          <a:ln/>
        </p:spPr>
        <p:txBody>
          <a:bodyPr wrap="square" lIns="0" tIns="0" rIns="0" bIns="0" rtlCol="0" anchor="t"/>
          <a:lstStyle/>
          <a:p>
            <a:pPr indent="0" marL="0">
              <a:lnSpc>
                <a:spcPts val="2100"/>
              </a:lnSpc>
              <a:buNone/>
            </a:pPr>
            <a:r>
              <a:rPr lang="en-US" sz="1400" b="1" dirty="0">
                <a:solidFill>
                  <a:srgbClr val="A64F16"/>
                </a:solidFill>
                <a:latin typeface="Arial" pitchFamily="34" charset="0"/>
                <a:ea typeface="맑은 고딕" pitchFamily="34" charset="-122"/>
                <a:cs typeface="Arial" pitchFamily="34" charset="-120"/>
              </a:rPr>
              <a:t>홈 &gt; 조건부 서식 &gt; 색조</a:t>
            </a:r>
            <a:endParaRPr lang="en-US" sz="1500" dirty="0"/>
          </a:p>
        </p:txBody>
      </p:sp>
      <p:sp>
        <p:nvSpPr>
          <p:cNvPr id="15" name="Text 13"/>
          <p:cNvSpPr txBox="1"/>
          <p:nvPr/>
        </p:nvSpPr>
        <p:spPr>
          <a:xfrm>
            <a:off x="8193024" y="3017520"/>
            <a:ext cx="3008376" cy="640080"/>
          </a:xfrm>
          <a:prstGeom prst="rect">
            <a:avLst/>
          </a:prstGeom>
          <a:noFill/>
          <a:ln/>
        </p:spPr>
        <p:txBody>
          <a:bodyPr wrap="square" lIns="0" tIns="0" rIns="0" bIns="0" rtlCol="0" anchor="t"/>
          <a:lstStyle/>
          <a:p>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상관표 숫자 칸을 선택하고 적용</a:t>
            </a:r>
            <a:endParaRPr lang="en-US" sz="1300" dirty="0"/>
          </a:p>
          <a:p>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강한 관계가 진한 색으로 보임</a:t>
            </a:r>
            <a:endParaRPr lang="en-US" sz="1300" dirty="0"/>
          </a:p>
        </p:txBody>
      </p:sp>
      <p:sp>
        <p:nvSpPr>
          <p:cNvPr id="16" name="Shape 14"/>
          <p:cNvSpPr/>
          <p:nvPr/>
        </p:nvSpPr>
        <p:spPr>
          <a:xfrm>
            <a:off x="813816" y="4114800"/>
            <a:ext cx="10570464" cy="1371600"/>
          </a:xfrm>
          <a:prstGeom prst="roundRect">
            <a:avLst>
              <a:gd name="adj" fmla="val 8000"/>
            </a:avLst>
          </a:prstGeom>
          <a:solidFill>
            <a:srgbClr val="12304D"/>
          </a:solidFill>
          <a:ln/>
        </p:spPr>
      </p:sp>
      <p:sp>
        <p:nvSpPr>
          <p:cNvPr id="17" name="Text 15"/>
          <p:cNvSpPr txBox="1"/>
          <p:nvPr/>
        </p:nvSpPr>
        <p:spPr>
          <a:xfrm>
            <a:off x="1051560" y="4279392"/>
            <a:ext cx="10058400" cy="274320"/>
          </a:xfrm>
          <a:prstGeom prst="rect">
            <a:avLst/>
          </a:prstGeom>
          <a:noFill/>
          <a:ln/>
        </p:spPr>
        <p:txBody>
          <a:bodyPr wrap="square" lIns="0" tIns="0" rIns="0" bIns="0" rtlCol="0" anchor="t"/>
          <a:lstStyle/>
          <a:p>
            <a:pPr indent="0" marL="0">
              <a:lnSpc>
                <a:spcPts val="1820"/>
              </a:lnSpc>
              <a:buNone/>
            </a:pPr>
            <a:r>
              <a:rPr lang="en-US" sz="1300" b="1" dirty="0">
                <a:solidFill>
                  <a:srgbClr val="F2A65A"/>
                </a:solidFill>
                <a:latin typeface="Arial" pitchFamily="34" charset="0"/>
                <a:ea typeface="맑은 고딕" pitchFamily="34" charset="-122"/>
                <a:cs typeface="Arial" pitchFamily="34" charset="-120"/>
              </a:rPr>
              <a:t>AI에게 묻기 · 데이터 대신 열 이름과 위치만</a:t>
            </a:r>
            <a:endParaRPr lang="en-US" sz="1300" dirty="0"/>
          </a:p>
        </p:txBody>
      </p:sp>
      <p:sp>
        <p:nvSpPr>
          <p:cNvPr id="18" name="Text 16"/>
          <p:cNvSpPr txBox="1"/>
          <p:nvPr/>
        </p:nvSpPr>
        <p:spPr>
          <a:xfrm>
            <a:off x="1051560" y="4608576"/>
            <a:ext cx="10104120" cy="685800"/>
          </a:xfrm>
          <a:prstGeom prst="rect">
            <a:avLst/>
          </a:prstGeom>
          <a:noFill/>
          <a:ln/>
        </p:spPr>
        <p:txBody>
          <a:bodyPr wrap="square" lIns="0" tIns="0" rIns="0" bIns="0" rtlCol="0" anchor="t"/>
          <a:lstStyle/>
          <a:p>
            <a:pPr indent="0" marL="0">
              <a:lnSpc>
                <a:spcPts val="2100"/>
              </a:lnSpc>
              <a:buNone/>
            </a:pPr>
            <a:r>
              <a:rPr lang="en-US" sz="1500" dirty="0">
                <a:solidFill>
                  <a:srgbClr val="F5F4EF"/>
                </a:solidFill>
                <a:latin typeface="Arial" pitchFamily="34" charset="0"/>
                <a:ea typeface="맑은 고딕" pitchFamily="34" charset="-122"/>
                <a:cs typeface="Arial" pitchFamily="34" charset="-120"/>
              </a:rPr>
              <a:t>“엑셀에서 D열은 최고기온, G열은 아이스음료이고 데이터는 2~31행에 있어. 두 열의 상관계수를 구하는 수식과, 결과를 해석하는 기준을 알려 줘.”</a:t>
            </a:r>
            <a:endParaRPr lang="en-US" sz="1500" dirty="0"/>
          </a:p>
        </p:txBody>
      </p:sp>
      <p:sp>
        <p:nvSpPr>
          <p:cNvPr id="19" name="Text 17"/>
          <p:cNvSpPr txBox="1"/>
          <p:nvPr/>
        </p:nvSpPr>
        <p:spPr>
          <a:xfrm>
            <a:off x="813816" y="6236208"/>
            <a:ext cx="10881360" cy="237744"/>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생성형 AI 실무 활용 · 1일차</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4E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상관분석 결과</a:t>
            </a:r>
            <a:endParaRPr lang="en-US" sz="1400" dirty="0"/>
          </a:p>
        </p:txBody>
      </p:sp>
      <p:sp>
        <p:nvSpPr>
          <p:cNvPr id="3" name="Title"/>
          <p:cNvSpPr/>
          <p:nvPr>
            <p:ph type="title"/>
          </p:nvPr>
        </p:nvSpPr>
        <p:spPr>
          <a:xfrm>
            <a:off x="813816" y="1133856"/>
            <a:ext cx="10881360" cy="429768"/>
          </a:xfrm>
          <a:prstGeom prst="rect">
            <a:avLst/>
          </a:prstGeom>
          <a:noFill/>
          <a:ln/>
        </p:spPr>
        <p:txBody>
          <a:bodyPr wrap="square" lIns="0" tIns="0" rIns="0" bIns="0" rtlCol="0" anchor="t"/>
          <a:lstStyle/>
          <a:p>
            <a:pPr indent="0" marL="0">
              <a:lnSpc>
                <a:spcPts val="3920"/>
              </a:lnSpc>
              <a:buNone/>
            </a:pPr>
            <a:r>
              <a:rPr lang="en-US" sz="2800" b="1" dirty="0">
                <a:solidFill>
                  <a:srgbClr val="12304D"/>
                </a:solidFill>
                <a:latin typeface="Arial" pitchFamily="34" charset="0"/>
                <a:ea typeface="맑은 고딕" pitchFamily="34" charset="-122"/>
                <a:cs typeface="Arial" pitchFamily="34" charset="-120"/>
              </a:rPr>
              <a:t>아이스음료는 기온, 방문객은 비와 함께 움직입니다</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13816" y="1828800"/>
          <a:ext cx="6675120" cy="914400"/>
        </p:xfrm>
        <a:graphic>
          <a:graphicData uri="http://schemas.openxmlformats.org/drawingml/2006/table">
            <a:tbl>
              <a:tblPr/>
              <a:tblGrid>
                <a:gridCol w="1133856"/>
                <a:gridCol w="923544"/>
                <a:gridCol w="923544"/>
                <a:gridCol w="923544"/>
                <a:gridCol w="923544"/>
                <a:gridCol w="923544"/>
                <a:gridCol w="923544"/>
              </a:tblGrid>
              <a:tr h="457200">
                <a:tc>
                  <a:txBody>
                    <a:bodyPr/>
                    <a:lstStyle/>
                    <a:p>
                      <a:pPr algn="ctr" indent="0" marL="0">
                        <a:buNone/>
                      </a:pP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200" b="1" dirty="0">
                          <a:solidFill>
                            <a:srgbClr val="F5F4EF"/>
                          </a:solidFill>
                          <a:latin typeface="Arial" pitchFamily="34" charset="0"/>
                          <a:ea typeface="맑은 고딕" pitchFamily="34" charset="-122"/>
                          <a:cs typeface="Arial" pitchFamily="34" charset="-120"/>
                        </a:rPr>
                        <a:t>최고기온</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200" b="1" dirty="0">
                          <a:solidFill>
                            <a:srgbClr val="F5F4EF"/>
                          </a:solidFill>
                          <a:latin typeface="Arial" pitchFamily="34" charset="0"/>
                          <a:ea typeface="맑은 고딕" pitchFamily="34" charset="-122"/>
                          <a:cs typeface="Arial" pitchFamily="34" charset="-120"/>
                        </a:rPr>
                        <a:t>강수량</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200" b="1" dirty="0">
                          <a:solidFill>
                            <a:srgbClr val="F5F4EF"/>
                          </a:solidFill>
                          <a:latin typeface="Arial" pitchFamily="34" charset="0"/>
                          <a:ea typeface="맑은 고딕" pitchFamily="34" charset="-122"/>
                          <a:cs typeface="Arial" pitchFamily="34" charset="-120"/>
                        </a:rPr>
                        <a:t>방문객수</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200" b="1" dirty="0">
                          <a:solidFill>
                            <a:srgbClr val="F5F4EF"/>
                          </a:solidFill>
                          <a:latin typeface="Arial" pitchFamily="34" charset="0"/>
                          <a:ea typeface="맑은 고딕" pitchFamily="34" charset="-122"/>
                          <a:cs typeface="Arial" pitchFamily="34" charset="-120"/>
                        </a:rPr>
                        <a:t>아이스음료</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200" b="1" dirty="0">
                          <a:solidFill>
                            <a:srgbClr val="F5F4EF"/>
                          </a:solidFill>
                          <a:latin typeface="Arial" pitchFamily="34" charset="0"/>
                          <a:ea typeface="맑은 고딕" pitchFamily="34" charset="-122"/>
                          <a:cs typeface="Arial" pitchFamily="34" charset="-120"/>
                        </a:rPr>
                        <a:t>따뜻한음료</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200" b="1" dirty="0">
                          <a:solidFill>
                            <a:srgbClr val="F5F4EF"/>
                          </a:solidFill>
                          <a:latin typeface="Arial" pitchFamily="34" charset="0"/>
                          <a:ea typeface="맑은 고딕" pitchFamily="34" charset="-122"/>
                          <a:cs typeface="Arial" pitchFamily="34" charset="-120"/>
                        </a:rPr>
                        <a:t>매출액</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r>
              <a:tr h="457200">
                <a:tc>
                  <a:txBody>
                    <a:bodyPr/>
                    <a:lstStyle/>
                    <a:p>
                      <a:pPr algn="l" indent="0" marL="0">
                        <a:buNone/>
                      </a:pPr>
                      <a:r>
                        <a:rPr lang="en-US" sz="1200" b="1" dirty="0">
                          <a:solidFill>
                            <a:srgbClr val="F5F4EF"/>
                          </a:solidFill>
                          <a:latin typeface="Arial" pitchFamily="34" charset="0"/>
                          <a:ea typeface="맑은 고딕" pitchFamily="34" charset="-122"/>
                          <a:cs typeface="Arial" pitchFamily="34" charset="-120"/>
                        </a:rPr>
                        <a:t>최고기온</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300" dirty="0">
                          <a:solidFill>
                            <a:srgbClr val="5E6977"/>
                          </a:solidFill>
                          <a:latin typeface="Arial" pitchFamily="34" charset="0"/>
                          <a:ea typeface="맑은 고딕" pitchFamily="34" charset="-122"/>
                          <a:cs typeface="Arial" pitchFamily="34" charset="-120"/>
                        </a:rPr>
                        <a:t>1.00</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3E6E9"/>
                    </a:solidFill>
                  </a:tcPr>
                </a:tc>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457200">
                <a:tc>
                  <a:txBody>
                    <a:bodyPr/>
                    <a:lstStyle/>
                    <a:p>
                      <a:pPr algn="l" indent="0" marL="0">
                        <a:buNone/>
                      </a:pPr>
                      <a:r>
                        <a:rPr lang="en-US" sz="1200" b="1" dirty="0">
                          <a:solidFill>
                            <a:srgbClr val="F5F4EF"/>
                          </a:solidFill>
                          <a:latin typeface="Arial" pitchFamily="34" charset="0"/>
                          <a:ea typeface="맑은 고딕" pitchFamily="34" charset="-122"/>
                          <a:cs typeface="Arial" pitchFamily="34" charset="-120"/>
                        </a:rPr>
                        <a:t>강수량</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300" dirty="0">
                          <a:solidFill>
                            <a:srgbClr val="12304D"/>
                          </a:solidFill>
                          <a:latin typeface="Arial" pitchFamily="34" charset="0"/>
                          <a:ea typeface="맑은 고딕" pitchFamily="34" charset="-122"/>
                          <a:cs typeface="Arial" pitchFamily="34" charset="-120"/>
                        </a:rPr>
                        <a:t>−0.24</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ctr" indent="0" marL="0">
                        <a:buNone/>
                      </a:pPr>
                      <a:r>
                        <a:rPr lang="en-US" sz="1300" dirty="0">
                          <a:solidFill>
                            <a:srgbClr val="5E6977"/>
                          </a:solidFill>
                          <a:latin typeface="Arial" pitchFamily="34" charset="0"/>
                          <a:ea typeface="맑은 고딕" pitchFamily="34" charset="-122"/>
                          <a:cs typeface="Arial" pitchFamily="34" charset="-120"/>
                        </a:rPr>
                        <a:t>1.00</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3E6E9"/>
                    </a:solidFill>
                  </a:tcPr>
                </a:tc>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457200">
                <a:tc>
                  <a:txBody>
                    <a:bodyPr/>
                    <a:lstStyle/>
                    <a:p>
                      <a:pPr algn="l" indent="0" marL="0">
                        <a:buNone/>
                      </a:pPr>
                      <a:r>
                        <a:rPr lang="en-US" sz="1200" b="1" dirty="0">
                          <a:solidFill>
                            <a:srgbClr val="F5F4EF"/>
                          </a:solidFill>
                          <a:latin typeface="Arial" pitchFamily="34" charset="0"/>
                          <a:ea typeface="맑은 고딕" pitchFamily="34" charset="-122"/>
                          <a:cs typeface="Arial" pitchFamily="34" charset="-120"/>
                        </a:rPr>
                        <a:t>방문객수</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300" dirty="0">
                          <a:solidFill>
                            <a:srgbClr val="12304D"/>
                          </a:solidFill>
                          <a:latin typeface="Arial" pitchFamily="34" charset="0"/>
                          <a:ea typeface="맑은 고딕" pitchFamily="34" charset="-122"/>
                          <a:cs typeface="Arial" pitchFamily="34" charset="-120"/>
                        </a:rPr>
                        <a:t>0.18</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ctr" indent="0" marL="0">
                        <a:buNone/>
                      </a:pPr>
                      <a:r>
                        <a:rPr lang="en-US" sz="1300" b="1" dirty="0">
                          <a:solidFill>
                            <a:srgbClr val="12304D"/>
                          </a:solidFill>
                          <a:latin typeface="Arial" pitchFamily="34" charset="0"/>
                          <a:ea typeface="맑은 고딕" pitchFamily="34" charset="-122"/>
                          <a:cs typeface="Arial" pitchFamily="34" charset="-120"/>
                        </a:rPr>
                        <a:t>−0.64</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7FA7BF"/>
                    </a:solidFill>
                  </a:tcPr>
                </a:tc>
                <a:tc>
                  <a:txBody>
                    <a:bodyPr/>
                    <a:lstStyle/>
                    <a:p>
                      <a:pPr algn="ctr" indent="0" marL="0">
                        <a:buNone/>
                      </a:pPr>
                      <a:r>
                        <a:rPr lang="en-US" sz="1300" dirty="0">
                          <a:solidFill>
                            <a:srgbClr val="5E6977"/>
                          </a:solidFill>
                          <a:latin typeface="Arial" pitchFamily="34" charset="0"/>
                          <a:ea typeface="맑은 고딕" pitchFamily="34" charset="-122"/>
                          <a:cs typeface="Arial" pitchFamily="34" charset="-120"/>
                        </a:rPr>
                        <a:t>1.00</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3E6E9"/>
                    </a:solidFill>
                  </a:tcPr>
                </a:tc>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457200">
                <a:tc>
                  <a:txBody>
                    <a:bodyPr/>
                    <a:lstStyle/>
                    <a:p>
                      <a:pPr algn="l" indent="0" marL="0">
                        <a:buNone/>
                      </a:pPr>
                      <a:r>
                        <a:rPr lang="en-US" sz="1200" b="1" dirty="0">
                          <a:solidFill>
                            <a:srgbClr val="F5F4EF"/>
                          </a:solidFill>
                          <a:latin typeface="Arial" pitchFamily="34" charset="0"/>
                          <a:ea typeface="맑은 고딕" pitchFamily="34" charset="-122"/>
                          <a:cs typeface="Arial" pitchFamily="34" charset="-120"/>
                        </a:rPr>
                        <a:t>아이스음료</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300" b="1" dirty="0">
                          <a:solidFill>
                            <a:srgbClr val="F5F4EF"/>
                          </a:solidFill>
                          <a:latin typeface="Arial" pitchFamily="34" charset="0"/>
                          <a:ea typeface="맑은 고딕" pitchFamily="34" charset="-122"/>
                          <a:cs typeface="Arial" pitchFamily="34" charset="-120"/>
                        </a:rPr>
                        <a:t>0.88</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C8692A"/>
                    </a:solidFill>
                  </a:tcPr>
                </a:tc>
                <a:tc>
                  <a:txBody>
                    <a:bodyPr/>
                    <a:lstStyle/>
                    <a:p>
                      <a:pPr algn="ctr" indent="0" marL="0">
                        <a:buNone/>
                      </a:pPr>
                      <a:r>
                        <a:rPr lang="en-US" sz="1300" dirty="0">
                          <a:solidFill>
                            <a:srgbClr val="12304D"/>
                          </a:solidFill>
                          <a:latin typeface="Arial" pitchFamily="34" charset="0"/>
                          <a:ea typeface="맑은 고딕" pitchFamily="34" charset="-122"/>
                          <a:cs typeface="Arial" pitchFamily="34" charset="-120"/>
                        </a:rPr>
                        <a:t>−0.48</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7FA7BF"/>
                    </a:solidFill>
                  </a:tcPr>
                </a:tc>
                <a:tc>
                  <a:txBody>
                    <a:bodyPr/>
                    <a:lstStyle/>
                    <a:p>
                      <a:pPr algn="ctr" indent="0" marL="0">
                        <a:buNone/>
                      </a:pPr>
                      <a:r>
                        <a:rPr lang="en-US" sz="1300" dirty="0">
                          <a:solidFill>
                            <a:srgbClr val="12304D"/>
                          </a:solidFill>
                          <a:latin typeface="Arial" pitchFamily="34" charset="0"/>
                          <a:ea typeface="맑은 고딕" pitchFamily="34" charset="-122"/>
                          <a:cs typeface="Arial" pitchFamily="34" charset="-120"/>
                        </a:rPr>
                        <a:t>0.57</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2C08F"/>
                    </a:solidFill>
                  </a:tcPr>
                </a:tc>
                <a:tc>
                  <a:txBody>
                    <a:bodyPr/>
                    <a:lstStyle/>
                    <a:p>
                      <a:pPr algn="ctr" indent="0" marL="0">
                        <a:buNone/>
                      </a:pPr>
                      <a:r>
                        <a:rPr lang="en-US" sz="1300" dirty="0">
                          <a:solidFill>
                            <a:srgbClr val="5E6977"/>
                          </a:solidFill>
                          <a:latin typeface="Arial" pitchFamily="34" charset="0"/>
                          <a:ea typeface="맑은 고딕" pitchFamily="34" charset="-122"/>
                          <a:cs typeface="Arial" pitchFamily="34" charset="-120"/>
                        </a:rPr>
                        <a:t>1.00</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3E6E9"/>
                    </a:solidFill>
                  </a:tcPr>
                </a:tc>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457200">
                <a:tc>
                  <a:txBody>
                    <a:bodyPr/>
                    <a:lstStyle/>
                    <a:p>
                      <a:pPr algn="l" indent="0" marL="0">
                        <a:buNone/>
                      </a:pPr>
                      <a:r>
                        <a:rPr lang="en-US" sz="1200" b="1" dirty="0">
                          <a:solidFill>
                            <a:srgbClr val="F5F4EF"/>
                          </a:solidFill>
                          <a:latin typeface="Arial" pitchFamily="34" charset="0"/>
                          <a:ea typeface="맑은 고딕" pitchFamily="34" charset="-122"/>
                          <a:cs typeface="Arial" pitchFamily="34" charset="-120"/>
                        </a:rPr>
                        <a:t>따뜻한음료</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300" dirty="0">
                          <a:solidFill>
                            <a:srgbClr val="12304D"/>
                          </a:solidFill>
                          <a:latin typeface="Arial" pitchFamily="34" charset="0"/>
                          <a:ea typeface="맑은 고딕" pitchFamily="34" charset="-122"/>
                          <a:cs typeface="Arial" pitchFamily="34" charset="-120"/>
                        </a:rPr>
                        <a:t>−0.53</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7FA7BF"/>
                    </a:solidFill>
                  </a:tcPr>
                </a:tc>
                <a:tc>
                  <a:txBody>
                    <a:bodyPr/>
                    <a:lstStyle/>
                    <a:p>
                      <a:pPr algn="ctr" indent="0" marL="0">
                        <a:buNone/>
                      </a:pPr>
                      <a:r>
                        <a:rPr lang="en-US" sz="1300" dirty="0">
                          <a:solidFill>
                            <a:srgbClr val="12304D"/>
                          </a:solidFill>
                          <a:latin typeface="Arial" pitchFamily="34" charset="0"/>
                          <a:ea typeface="맑은 고딕" pitchFamily="34" charset="-122"/>
                          <a:cs typeface="Arial" pitchFamily="34" charset="-120"/>
                        </a:rPr>
                        <a:t>−0.24</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ctr" indent="0" marL="0">
                        <a:buNone/>
                      </a:pPr>
                      <a:r>
                        <a:rPr lang="en-US" sz="1300" dirty="0">
                          <a:solidFill>
                            <a:srgbClr val="12304D"/>
                          </a:solidFill>
                          <a:latin typeface="Arial" pitchFamily="34" charset="0"/>
                          <a:ea typeface="맑은 고딕" pitchFamily="34" charset="-122"/>
                          <a:cs typeface="Arial" pitchFamily="34" charset="-120"/>
                        </a:rPr>
                        <a:t>0.60</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2C08F"/>
                    </a:solidFill>
                  </a:tcPr>
                </a:tc>
                <a:tc>
                  <a:txBody>
                    <a:bodyPr/>
                    <a:lstStyle/>
                    <a:p>
                      <a:pPr algn="ctr" indent="0" marL="0">
                        <a:buNone/>
                      </a:pPr>
                      <a:r>
                        <a:rPr lang="en-US" sz="1300" dirty="0">
                          <a:solidFill>
                            <a:srgbClr val="12304D"/>
                          </a:solidFill>
                          <a:latin typeface="Arial" pitchFamily="34" charset="0"/>
                          <a:ea typeface="맑은 고딕" pitchFamily="34" charset="-122"/>
                          <a:cs typeface="Arial" pitchFamily="34" charset="-120"/>
                        </a:rPr>
                        <a:t>−0.19</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ctr" indent="0" marL="0">
                        <a:buNone/>
                      </a:pPr>
                      <a:r>
                        <a:rPr lang="en-US" sz="1300" dirty="0">
                          <a:solidFill>
                            <a:srgbClr val="5E6977"/>
                          </a:solidFill>
                          <a:latin typeface="Arial" pitchFamily="34" charset="0"/>
                          <a:ea typeface="맑은 고딕" pitchFamily="34" charset="-122"/>
                          <a:cs typeface="Arial" pitchFamily="34" charset="-120"/>
                        </a:rPr>
                        <a:t>1.00</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3E6E9"/>
                    </a:solidFill>
                  </a:tcPr>
                </a:tc>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457200">
                <a:tc>
                  <a:txBody>
                    <a:bodyPr/>
                    <a:lstStyle/>
                    <a:p>
                      <a:pPr algn="l" indent="0" marL="0">
                        <a:buNone/>
                      </a:pPr>
                      <a:r>
                        <a:rPr lang="en-US" sz="1200" b="1" dirty="0">
                          <a:solidFill>
                            <a:srgbClr val="F5F4EF"/>
                          </a:solidFill>
                          <a:latin typeface="Arial" pitchFamily="34" charset="0"/>
                          <a:ea typeface="맑은 고딕" pitchFamily="34" charset="-122"/>
                          <a:cs typeface="Arial" pitchFamily="34" charset="-120"/>
                        </a:rPr>
                        <a:t>매출액</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ctr" indent="0" marL="0">
                        <a:buNone/>
                      </a:pPr>
                      <a:r>
                        <a:rPr lang="en-US" sz="1300" dirty="0">
                          <a:solidFill>
                            <a:srgbClr val="12304D"/>
                          </a:solidFill>
                          <a:latin typeface="Arial" pitchFamily="34" charset="0"/>
                          <a:ea typeface="맑은 고딕" pitchFamily="34" charset="-122"/>
                          <a:cs typeface="Arial" pitchFamily="34" charset="-120"/>
                        </a:rPr>
                        <a:t>0.18</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ctr" indent="0" marL="0">
                        <a:buNone/>
                      </a:pPr>
                      <a:r>
                        <a:rPr lang="en-US" sz="1300" dirty="0">
                          <a:solidFill>
                            <a:srgbClr val="12304D"/>
                          </a:solidFill>
                          <a:latin typeface="Arial" pitchFamily="34" charset="0"/>
                          <a:ea typeface="맑은 고딕" pitchFamily="34" charset="-122"/>
                          <a:cs typeface="Arial" pitchFamily="34" charset="-120"/>
                        </a:rPr>
                        <a:t>−0.63</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7FA7BF"/>
                    </a:solidFill>
                  </a:tcPr>
                </a:tc>
                <a:tc>
                  <a:txBody>
                    <a:bodyPr/>
                    <a:lstStyle/>
                    <a:p>
                      <a:pPr algn="ctr" indent="0" marL="0">
                        <a:buNone/>
                      </a:pPr>
                      <a:r>
                        <a:rPr lang="en-US" sz="1300" dirty="0">
                          <a:solidFill>
                            <a:srgbClr val="F5F4EF"/>
                          </a:solidFill>
                          <a:latin typeface="Arial" pitchFamily="34" charset="0"/>
                          <a:ea typeface="맑은 고딕" pitchFamily="34" charset="-122"/>
                          <a:cs typeface="Arial" pitchFamily="34" charset="-120"/>
                        </a:rPr>
                        <a:t>0.98</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C8692A"/>
                    </a:solidFill>
                  </a:tcPr>
                </a:tc>
                <a:tc>
                  <a:txBody>
                    <a:bodyPr/>
                    <a:lstStyle/>
                    <a:p>
                      <a:pPr algn="ctr" indent="0" marL="0">
                        <a:buNone/>
                      </a:pPr>
                      <a:r>
                        <a:rPr lang="en-US" sz="1300" dirty="0">
                          <a:solidFill>
                            <a:srgbClr val="12304D"/>
                          </a:solidFill>
                          <a:latin typeface="Arial" pitchFamily="34" charset="0"/>
                          <a:ea typeface="맑은 고딕" pitchFamily="34" charset="-122"/>
                          <a:cs typeface="Arial" pitchFamily="34" charset="-120"/>
                        </a:rPr>
                        <a:t>0.55</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2C08F"/>
                    </a:solidFill>
                  </a:tcPr>
                </a:tc>
                <a:tc>
                  <a:txBody>
                    <a:bodyPr/>
                    <a:lstStyle/>
                    <a:p>
                      <a:pPr algn="ctr" indent="0" marL="0">
                        <a:buNone/>
                      </a:pPr>
                      <a:r>
                        <a:rPr lang="en-US" sz="1300" dirty="0">
                          <a:solidFill>
                            <a:srgbClr val="12304D"/>
                          </a:solidFill>
                          <a:latin typeface="Arial" pitchFamily="34" charset="0"/>
                          <a:ea typeface="맑은 고딕" pitchFamily="34" charset="-122"/>
                          <a:cs typeface="Arial" pitchFamily="34" charset="-120"/>
                        </a:rPr>
                        <a:t>0.58</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2C08F"/>
                    </a:solidFill>
                  </a:tcPr>
                </a:tc>
                <a:tc>
                  <a:txBody>
                    <a:bodyPr/>
                    <a:lstStyle/>
                    <a:p>
                      <a:pPr algn="ctr" indent="0" marL="0">
                        <a:buNone/>
                      </a:pPr>
                      <a:r>
                        <a:rPr lang="en-US" sz="1300" dirty="0">
                          <a:solidFill>
                            <a:srgbClr val="5E6977"/>
                          </a:solidFill>
                          <a:latin typeface="Arial" pitchFamily="34" charset="0"/>
                          <a:ea typeface="맑은 고딕" pitchFamily="34" charset="-122"/>
                          <a:cs typeface="Arial" pitchFamily="34" charset="-120"/>
                        </a:rPr>
                        <a:t>1.00</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3E6E9"/>
                    </a:solidFill>
                  </a:tcPr>
                </a:tc>
              </a:tr>
            </a:tbl>
          </a:graphicData>
        </a:graphic>
      </p:graphicFrame>
      <p:sp>
        <p:nvSpPr>
          <p:cNvPr id="5" name="Text 2"/>
          <p:cNvSpPr txBox="1"/>
          <p:nvPr/>
        </p:nvSpPr>
        <p:spPr>
          <a:xfrm>
            <a:off x="813816" y="5138928"/>
            <a:ext cx="6675120" cy="256032"/>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엑셀 ‘상관 분석’ 출력 + 조건부 서식(색조) · 아래쪽 삼각형만 채워지는 것이 정상</a:t>
            </a:r>
            <a:endParaRPr lang="en-US" sz="1200" dirty="0"/>
          </a:p>
        </p:txBody>
      </p:sp>
      <p:sp>
        <p:nvSpPr>
          <p:cNvPr id="6" name="Shape 3"/>
          <p:cNvSpPr/>
          <p:nvPr/>
        </p:nvSpPr>
        <p:spPr>
          <a:xfrm>
            <a:off x="7726680" y="1828800"/>
            <a:ext cx="3657600" cy="987552"/>
          </a:xfrm>
          <a:prstGeom prst="roundRect">
            <a:avLst>
              <a:gd name="adj" fmla="val 11111"/>
            </a:avLst>
          </a:prstGeom>
          <a:solidFill>
            <a:srgbClr val="FCFCFA"/>
          </a:solidFill>
          <a:ln w="9525">
            <a:solidFill>
              <a:srgbClr val="D9DDE1"/>
            </a:solidFill>
            <a:prstDash val="solid"/>
          </a:ln>
        </p:spPr>
      </p:sp>
      <p:sp>
        <p:nvSpPr>
          <p:cNvPr id="7" name="Text 4"/>
          <p:cNvSpPr txBox="1"/>
          <p:nvPr/>
        </p:nvSpPr>
        <p:spPr>
          <a:xfrm>
            <a:off x="7909560" y="1975104"/>
            <a:ext cx="1051560" cy="411480"/>
          </a:xfrm>
          <a:prstGeom prst="rect">
            <a:avLst/>
          </a:prstGeom>
          <a:noFill/>
          <a:ln/>
        </p:spPr>
        <p:txBody>
          <a:bodyPr wrap="square" lIns="0" tIns="0" rIns="0" bIns="0" rtlCol="0" anchor="t"/>
          <a:lstStyle/>
          <a:p>
            <a:pPr indent="0" marL="0">
              <a:lnSpc>
                <a:spcPts val="3360"/>
              </a:lnSpc>
              <a:buNone/>
            </a:pPr>
            <a:r>
              <a:rPr lang="en-US" sz="2400" b="1" dirty="0">
                <a:solidFill>
                  <a:srgbClr val="A64F16"/>
                </a:solidFill>
                <a:latin typeface="Arial" pitchFamily="34" charset="0"/>
                <a:ea typeface="맑은 고딕" pitchFamily="34" charset="-122"/>
                <a:cs typeface="Arial" pitchFamily="34" charset="-120"/>
              </a:rPr>
              <a:t>0.88</a:t>
            </a:r>
            <a:endParaRPr lang="en-US" sz="2400" dirty="0"/>
          </a:p>
        </p:txBody>
      </p:sp>
      <p:sp>
        <p:nvSpPr>
          <p:cNvPr id="8" name="Text 5"/>
          <p:cNvSpPr txBox="1"/>
          <p:nvPr/>
        </p:nvSpPr>
        <p:spPr>
          <a:xfrm>
            <a:off x="9006840" y="1993392"/>
            <a:ext cx="2286000" cy="274320"/>
          </a:xfrm>
          <a:prstGeom prst="rect">
            <a:avLst/>
          </a:prstGeom>
          <a:noFill/>
          <a:ln/>
        </p:spPr>
        <p:txBody>
          <a:bodyPr wrap="square" lIns="0" tIns="0" rIns="0" bIns="0" rtlCol="0" anchor="t"/>
          <a:lstStyle/>
          <a:p>
            <a:pPr indent="0" marL="0">
              <a:lnSpc>
                <a:spcPts val="1960"/>
              </a:lnSpc>
              <a:buNone/>
            </a:pPr>
            <a:r>
              <a:rPr lang="en-US" sz="1400" b="1" dirty="0">
                <a:solidFill>
                  <a:srgbClr val="12304D"/>
                </a:solidFill>
                <a:latin typeface="Arial" pitchFamily="34" charset="0"/>
                <a:ea typeface="맑은 고딕" pitchFamily="34" charset="-122"/>
                <a:cs typeface="Arial" pitchFamily="34" charset="-120"/>
              </a:rPr>
              <a:t>최고기온 ↔ 아이스음료</a:t>
            </a:r>
            <a:endParaRPr lang="en-US" sz="1400" dirty="0"/>
          </a:p>
        </p:txBody>
      </p:sp>
      <p:sp>
        <p:nvSpPr>
          <p:cNvPr id="9" name="Text 6"/>
          <p:cNvSpPr txBox="1"/>
          <p:nvPr/>
        </p:nvSpPr>
        <p:spPr>
          <a:xfrm>
            <a:off x="7909560" y="2377440"/>
            <a:ext cx="3383280" cy="365760"/>
          </a:xfrm>
          <a:prstGeom prst="rect">
            <a:avLst/>
          </a:prstGeom>
          <a:noFill/>
          <a:ln/>
        </p:spPr>
        <p:txBody>
          <a:bodyPr wrap="square" lIns="0" tIns="0" rIns="0" bIns="0" rtlCol="0" anchor="t"/>
          <a:lstStyle/>
          <a:p>
            <a:pPr indent="0" marL="0">
              <a:lnSpc>
                <a:spcPts val="1680"/>
              </a:lnSpc>
              <a:buNone/>
            </a:pPr>
            <a:r>
              <a:rPr lang="en-US" sz="1200" dirty="0">
                <a:solidFill>
                  <a:srgbClr val="3D4A57"/>
                </a:solidFill>
                <a:latin typeface="Arial" pitchFamily="34" charset="0"/>
                <a:ea typeface="맑은 고딕" pitchFamily="34" charset="-122"/>
                <a:cs typeface="Arial" pitchFamily="34" charset="-120"/>
              </a:rPr>
              <a:t>강한 양(+) · 더운 날 아이스음료가 많이 팔림</a:t>
            </a:r>
            <a:endParaRPr lang="en-US" sz="1200" dirty="0"/>
          </a:p>
        </p:txBody>
      </p:sp>
      <p:sp>
        <p:nvSpPr>
          <p:cNvPr id="10" name="Shape 7"/>
          <p:cNvSpPr/>
          <p:nvPr/>
        </p:nvSpPr>
        <p:spPr>
          <a:xfrm>
            <a:off x="7726680" y="2944368"/>
            <a:ext cx="3657600" cy="987552"/>
          </a:xfrm>
          <a:prstGeom prst="roundRect">
            <a:avLst>
              <a:gd name="adj" fmla="val 11111"/>
            </a:avLst>
          </a:prstGeom>
          <a:solidFill>
            <a:srgbClr val="FCFCFA"/>
          </a:solidFill>
          <a:ln w="9525">
            <a:solidFill>
              <a:srgbClr val="D9DDE1"/>
            </a:solidFill>
            <a:prstDash val="solid"/>
          </a:ln>
        </p:spPr>
      </p:sp>
      <p:sp>
        <p:nvSpPr>
          <p:cNvPr id="11" name="Text 8"/>
          <p:cNvSpPr txBox="1"/>
          <p:nvPr/>
        </p:nvSpPr>
        <p:spPr>
          <a:xfrm>
            <a:off x="7909560" y="3090672"/>
            <a:ext cx="1051560" cy="411480"/>
          </a:xfrm>
          <a:prstGeom prst="rect">
            <a:avLst/>
          </a:prstGeom>
          <a:noFill/>
          <a:ln/>
        </p:spPr>
        <p:txBody>
          <a:bodyPr wrap="square" lIns="0" tIns="0" rIns="0" bIns="0" rtlCol="0" anchor="t"/>
          <a:lstStyle/>
          <a:p>
            <a:pPr indent="0" marL="0">
              <a:lnSpc>
                <a:spcPts val="3360"/>
              </a:lnSpc>
              <a:buNone/>
            </a:pPr>
            <a:r>
              <a:rPr lang="en-US" sz="2400" b="1" dirty="0">
                <a:solidFill>
                  <a:srgbClr val="1F6F78"/>
                </a:solidFill>
                <a:latin typeface="Arial" pitchFamily="34" charset="0"/>
                <a:ea typeface="맑은 고딕" pitchFamily="34" charset="-122"/>
                <a:cs typeface="Arial" pitchFamily="34" charset="-120"/>
              </a:rPr>
              <a:t>−0.64</a:t>
            </a:r>
            <a:endParaRPr lang="en-US" sz="2400" dirty="0"/>
          </a:p>
        </p:txBody>
      </p:sp>
      <p:sp>
        <p:nvSpPr>
          <p:cNvPr id="12" name="Text 9"/>
          <p:cNvSpPr txBox="1"/>
          <p:nvPr/>
        </p:nvSpPr>
        <p:spPr>
          <a:xfrm>
            <a:off x="9006840" y="3108960"/>
            <a:ext cx="2286000" cy="274320"/>
          </a:xfrm>
          <a:prstGeom prst="rect">
            <a:avLst/>
          </a:prstGeom>
          <a:noFill/>
          <a:ln/>
        </p:spPr>
        <p:txBody>
          <a:bodyPr wrap="square" lIns="0" tIns="0" rIns="0" bIns="0" rtlCol="0" anchor="t"/>
          <a:lstStyle/>
          <a:p>
            <a:pPr indent="0" marL="0">
              <a:lnSpc>
                <a:spcPts val="1960"/>
              </a:lnSpc>
              <a:buNone/>
            </a:pPr>
            <a:r>
              <a:rPr lang="en-US" sz="1400" b="1" dirty="0">
                <a:solidFill>
                  <a:srgbClr val="12304D"/>
                </a:solidFill>
                <a:latin typeface="Arial" pitchFamily="34" charset="0"/>
                <a:ea typeface="맑은 고딕" pitchFamily="34" charset="-122"/>
                <a:cs typeface="Arial" pitchFamily="34" charset="-120"/>
              </a:rPr>
              <a:t>강수량 ↔ 방문객수</a:t>
            </a:r>
            <a:endParaRPr lang="en-US" sz="1400" dirty="0"/>
          </a:p>
        </p:txBody>
      </p:sp>
      <p:sp>
        <p:nvSpPr>
          <p:cNvPr id="13" name="Text 10"/>
          <p:cNvSpPr txBox="1"/>
          <p:nvPr/>
        </p:nvSpPr>
        <p:spPr>
          <a:xfrm>
            <a:off x="7909560" y="3493008"/>
            <a:ext cx="3383280" cy="365760"/>
          </a:xfrm>
          <a:prstGeom prst="rect">
            <a:avLst/>
          </a:prstGeom>
          <a:noFill/>
          <a:ln/>
        </p:spPr>
        <p:txBody>
          <a:bodyPr wrap="square" lIns="0" tIns="0" rIns="0" bIns="0" rtlCol="0" anchor="t"/>
          <a:lstStyle/>
          <a:p>
            <a:pPr indent="0" marL="0">
              <a:lnSpc>
                <a:spcPts val="1680"/>
              </a:lnSpc>
              <a:buNone/>
            </a:pPr>
            <a:r>
              <a:rPr lang="en-US" sz="1200" dirty="0">
                <a:solidFill>
                  <a:srgbClr val="3D4A57"/>
                </a:solidFill>
                <a:latin typeface="Arial" pitchFamily="34" charset="0"/>
                <a:ea typeface="맑은 고딕" pitchFamily="34" charset="-122"/>
                <a:cs typeface="Arial" pitchFamily="34" charset="-120"/>
              </a:rPr>
              <a:t>보통 음(−) · 비 오는 날 손님이 줄어듦</a:t>
            </a:r>
            <a:endParaRPr lang="en-US" sz="1200" dirty="0"/>
          </a:p>
        </p:txBody>
      </p:sp>
      <p:sp>
        <p:nvSpPr>
          <p:cNvPr id="14" name="Shape 11"/>
          <p:cNvSpPr/>
          <p:nvPr/>
        </p:nvSpPr>
        <p:spPr>
          <a:xfrm>
            <a:off x="7726680" y="4059936"/>
            <a:ext cx="3657600" cy="987552"/>
          </a:xfrm>
          <a:prstGeom prst="roundRect">
            <a:avLst>
              <a:gd name="adj" fmla="val 11111"/>
            </a:avLst>
          </a:prstGeom>
          <a:solidFill>
            <a:srgbClr val="FCFCFA"/>
          </a:solidFill>
          <a:ln w="9525">
            <a:solidFill>
              <a:srgbClr val="D9DDE1"/>
            </a:solidFill>
            <a:prstDash val="solid"/>
          </a:ln>
        </p:spPr>
      </p:sp>
      <p:sp>
        <p:nvSpPr>
          <p:cNvPr id="15" name="Text 12"/>
          <p:cNvSpPr txBox="1"/>
          <p:nvPr/>
        </p:nvSpPr>
        <p:spPr>
          <a:xfrm>
            <a:off x="7909560" y="4206240"/>
            <a:ext cx="1051560" cy="411480"/>
          </a:xfrm>
          <a:prstGeom prst="rect">
            <a:avLst/>
          </a:prstGeom>
          <a:noFill/>
          <a:ln/>
        </p:spPr>
        <p:txBody>
          <a:bodyPr wrap="square" lIns="0" tIns="0" rIns="0" bIns="0" rtlCol="0" anchor="t"/>
          <a:lstStyle/>
          <a:p>
            <a:pPr indent="0" marL="0">
              <a:lnSpc>
                <a:spcPts val="3360"/>
              </a:lnSpc>
              <a:buNone/>
            </a:pPr>
            <a:r>
              <a:rPr lang="en-US" sz="2400" b="1" dirty="0">
                <a:solidFill>
                  <a:srgbClr val="5E6977"/>
                </a:solidFill>
                <a:latin typeface="Arial" pitchFamily="34" charset="0"/>
                <a:ea typeface="맑은 고딕" pitchFamily="34" charset="-122"/>
                <a:cs typeface="Arial" pitchFamily="34" charset="-120"/>
              </a:rPr>
              <a:t>0.18</a:t>
            </a:r>
            <a:endParaRPr lang="en-US" sz="2400" dirty="0"/>
          </a:p>
        </p:txBody>
      </p:sp>
      <p:sp>
        <p:nvSpPr>
          <p:cNvPr id="16" name="Text 13"/>
          <p:cNvSpPr txBox="1"/>
          <p:nvPr/>
        </p:nvSpPr>
        <p:spPr>
          <a:xfrm>
            <a:off x="9006840" y="4224528"/>
            <a:ext cx="2286000" cy="274320"/>
          </a:xfrm>
          <a:prstGeom prst="rect">
            <a:avLst/>
          </a:prstGeom>
          <a:noFill/>
          <a:ln/>
        </p:spPr>
        <p:txBody>
          <a:bodyPr wrap="square" lIns="0" tIns="0" rIns="0" bIns="0" rtlCol="0" anchor="t"/>
          <a:lstStyle/>
          <a:p>
            <a:pPr indent="0" marL="0">
              <a:lnSpc>
                <a:spcPts val="1960"/>
              </a:lnSpc>
              <a:buNone/>
            </a:pPr>
            <a:r>
              <a:rPr lang="en-US" sz="1400" b="1" dirty="0">
                <a:solidFill>
                  <a:srgbClr val="12304D"/>
                </a:solidFill>
                <a:latin typeface="Arial" pitchFamily="34" charset="0"/>
                <a:ea typeface="맑은 고딕" pitchFamily="34" charset="-122"/>
                <a:cs typeface="Arial" pitchFamily="34" charset="-120"/>
              </a:rPr>
              <a:t>최고기온 ↔ 방문객수</a:t>
            </a:r>
            <a:endParaRPr lang="en-US" sz="1400" dirty="0"/>
          </a:p>
        </p:txBody>
      </p:sp>
      <p:sp>
        <p:nvSpPr>
          <p:cNvPr id="17" name="Text 14"/>
          <p:cNvSpPr txBox="1"/>
          <p:nvPr/>
        </p:nvSpPr>
        <p:spPr>
          <a:xfrm>
            <a:off x="7909560" y="4608576"/>
            <a:ext cx="3383280" cy="365760"/>
          </a:xfrm>
          <a:prstGeom prst="rect">
            <a:avLst/>
          </a:prstGeom>
          <a:noFill/>
          <a:ln/>
        </p:spPr>
        <p:txBody>
          <a:bodyPr wrap="square" lIns="0" tIns="0" rIns="0" bIns="0" rtlCol="0" anchor="t"/>
          <a:lstStyle/>
          <a:p>
            <a:pPr indent="0" marL="0">
              <a:lnSpc>
                <a:spcPts val="1680"/>
              </a:lnSpc>
              <a:buNone/>
            </a:pPr>
            <a:r>
              <a:rPr lang="en-US" sz="1200" dirty="0">
                <a:solidFill>
                  <a:srgbClr val="3D4A57"/>
                </a:solidFill>
                <a:latin typeface="Arial" pitchFamily="34" charset="0"/>
                <a:ea typeface="맑은 고딕" pitchFamily="34" charset="-122"/>
                <a:cs typeface="Arial" pitchFamily="34" charset="-120"/>
              </a:rPr>
              <a:t>거의 없음 · 기온과 손님 수는 무관</a:t>
            </a:r>
            <a:endParaRPr lang="en-US" sz="1200" dirty="0"/>
          </a:p>
        </p:txBody>
      </p:sp>
      <p:sp>
        <p:nvSpPr>
          <p:cNvPr id="18" name="Text 15"/>
          <p:cNvSpPr txBox="1"/>
          <p:nvPr/>
        </p:nvSpPr>
        <p:spPr>
          <a:xfrm>
            <a:off x="7726680" y="5138928"/>
            <a:ext cx="3657600" cy="256032"/>
          </a:xfrm>
          <a:prstGeom prst="rect">
            <a:avLst/>
          </a:prstGeom>
          <a:noFill/>
          <a:ln/>
        </p:spPr>
        <p:txBody>
          <a:bodyPr wrap="square" lIns="0" tIns="0" rIns="0" bIns="0" rtlCol="0" anchor="t"/>
          <a:lstStyle/>
          <a:p>
            <a:pPr indent="0" marL="0">
              <a:lnSpc>
                <a:spcPts val="1680"/>
              </a:lnSpc>
              <a:buNone/>
            </a:pPr>
            <a:r>
              <a:rPr lang="en-US" sz="1200" b="1" dirty="0">
                <a:solidFill>
                  <a:srgbClr val="12304D"/>
                </a:solidFill>
                <a:latin typeface="Arial" pitchFamily="34" charset="0"/>
                <a:ea typeface="맑은 고딕" pitchFamily="34" charset="-122"/>
                <a:cs typeface="Arial" pitchFamily="34" charset="-120"/>
              </a:rPr>
              <a:t>덤</a:t>
            </a:r>
            <a:pPr indent="0" marL="0">
              <a:lnSpc>
                <a:spcPts val="1680"/>
              </a:lnSpc>
              <a:buNone/>
            </a:pPr>
            <a:r>
              <a:rPr lang="en-US" sz="1200" dirty="0">
                <a:solidFill>
                  <a:srgbClr val="3D4A57"/>
                </a:solidFill>
                <a:latin typeface="Arial" pitchFamily="34" charset="0"/>
                <a:ea typeface="맑은 고딕" pitchFamily="34" charset="-122"/>
                <a:cs typeface="Arial" pitchFamily="34" charset="-120"/>
              </a:rPr>
              <a:t> · 방문객수 ↔ 매출액 0.98 → 손님 수가 곧 매출</a:t>
            </a:r>
            <a:endParaRPr lang="en-US" sz="1200" dirty="0"/>
          </a:p>
        </p:txBody>
      </p:sp>
      <p:sp>
        <p:nvSpPr>
          <p:cNvPr id="19" name="Text 16"/>
          <p:cNvSpPr txBox="1"/>
          <p:nvPr/>
        </p:nvSpPr>
        <p:spPr>
          <a:xfrm>
            <a:off x="813816" y="6236208"/>
            <a:ext cx="10881360" cy="237744"/>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생성형 AI 실무 활용 · 1일차 · 강사 시연용 가상 데이터</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4E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회귀분석 · 엑셀로 하기</a:t>
            </a:r>
            <a:endParaRPr lang="en-US" sz="1400" dirty="0"/>
          </a:p>
        </p:txBody>
      </p:sp>
      <p:sp>
        <p:nvSpPr>
          <p:cNvPr id="3" name="Title"/>
          <p:cNvSpPr/>
          <p:nvPr>
            <p:ph type="title"/>
          </p:nvPr>
        </p:nvSpPr>
        <p:spPr>
          <a:xfrm>
            <a:off x="813816" y="1133856"/>
            <a:ext cx="10881360" cy="493776"/>
          </a:xfrm>
          <a:prstGeom prst="rect">
            <a:avLst/>
          </a:prstGeom>
          <a:noFill/>
          <a:ln/>
        </p:spPr>
        <p:txBody>
          <a:bodyPr wrap="square" lIns="0" tIns="0" rIns="0" bIns="0" rtlCol="0" anchor="t"/>
          <a:lstStyle/>
          <a:p>
            <a:pPr indent="0" marL="0">
              <a:lnSpc>
                <a:spcPts val="4480"/>
              </a:lnSpc>
              <a:buNone/>
            </a:pPr>
            <a:r>
              <a:rPr lang="en-US" sz="3200" b="1" dirty="0">
                <a:solidFill>
                  <a:srgbClr val="12304D"/>
                </a:solidFill>
                <a:latin typeface="Arial" pitchFamily="34" charset="0"/>
                <a:ea typeface="맑은 고딕" pitchFamily="34" charset="-122"/>
                <a:cs typeface="Arial" pitchFamily="34" charset="-120"/>
              </a:rPr>
              <a:t>기온으로 아이스음료 판매량을 설명해 봅니다</a:t>
            </a:r>
            <a:endParaRPr lang="en-US" sz="3200" dirty="0"/>
          </a:p>
        </p:txBody>
      </p:sp>
      <p:sp>
        <p:nvSpPr>
          <p:cNvPr id="4" name="Text 2"/>
          <p:cNvSpPr txBox="1"/>
          <p:nvPr/>
        </p:nvSpPr>
        <p:spPr>
          <a:xfrm>
            <a:off x="813816" y="1828800"/>
            <a:ext cx="5943600" cy="274320"/>
          </a:xfrm>
          <a:prstGeom prst="rect">
            <a:avLst/>
          </a:prstGeom>
          <a:noFill/>
          <a:ln/>
        </p:spPr>
        <p:txBody>
          <a:bodyPr wrap="square" lIns="0" tIns="0" rIns="0" bIns="0" rtlCol="0" anchor="t"/>
          <a:lstStyle/>
          <a:p>
            <a:pPr indent="0" marL="0">
              <a:lnSpc>
                <a:spcPts val="1960"/>
              </a:lnSpc>
              <a:buNone/>
            </a:pPr>
            <a:r>
              <a:rPr lang="en-US" sz="1400" b="1" dirty="0">
                <a:solidFill>
                  <a:srgbClr val="12304D"/>
                </a:solidFill>
                <a:latin typeface="Arial" pitchFamily="34" charset="0"/>
                <a:ea typeface="맑은 고딕" pitchFamily="34" charset="-122"/>
                <a:cs typeface="Arial" pitchFamily="34" charset="-120"/>
              </a:rPr>
              <a:t>함수로 핵심 수치 구하기</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3816" y="2176272"/>
          <a:ext cx="6035040" cy="914400"/>
        </p:xfrm>
        <a:graphic>
          <a:graphicData uri="http://schemas.openxmlformats.org/drawingml/2006/table">
            <a:tbl>
              <a:tblPr/>
              <a:tblGrid>
                <a:gridCol w="1325880"/>
                <a:gridCol w="3749040"/>
                <a:gridCol w="960120"/>
              </a:tblGrid>
              <a:tr h="420624">
                <a:tc>
                  <a:txBody>
                    <a:bodyPr/>
                    <a:lstStyle/>
                    <a:p>
                      <a:pPr algn="l" indent="0" marL="0">
                        <a:buNone/>
                      </a:pPr>
                      <a:r>
                        <a:rPr lang="en-US" sz="1300" b="1" dirty="0">
                          <a:solidFill>
                            <a:srgbClr val="F5F4EF"/>
                          </a:solidFill>
                          <a:latin typeface="Arial" pitchFamily="34" charset="0"/>
                          <a:ea typeface="맑은 고딕" pitchFamily="34" charset="-122"/>
                          <a:cs typeface="Arial" pitchFamily="34" charset="-120"/>
                        </a:rPr>
                        <a:t>구하는 것</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l" indent="0" marL="0">
                        <a:buNone/>
                      </a:pPr>
                      <a:r>
                        <a:rPr lang="en-US" sz="1300" b="1" dirty="0">
                          <a:solidFill>
                            <a:srgbClr val="F5F4EF"/>
                          </a:solidFill>
                          <a:latin typeface="Arial" pitchFamily="34" charset="0"/>
                          <a:ea typeface="맑은 고딕" pitchFamily="34" charset="-122"/>
                          <a:cs typeface="Arial" pitchFamily="34" charset="-120"/>
                        </a:rPr>
                        <a:t>수식</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r" indent="0" marL="0">
                        <a:buNone/>
                      </a:pPr>
                      <a:r>
                        <a:rPr lang="en-US" sz="1300" b="1" dirty="0">
                          <a:solidFill>
                            <a:srgbClr val="F5F4EF"/>
                          </a:solidFill>
                          <a:latin typeface="Arial" pitchFamily="34" charset="0"/>
                          <a:ea typeface="맑은 고딕" pitchFamily="34" charset="-122"/>
                          <a:cs typeface="Arial" pitchFamily="34" charset="-120"/>
                        </a:rPr>
                        <a:t>결과</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r>
              <a:tr h="420624">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기울기 b</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300" b="1" dirty="0">
                          <a:solidFill>
                            <a:srgbClr val="A64F16"/>
                          </a:solidFill>
                          <a:latin typeface="Arial" pitchFamily="34" charset="0"/>
                          <a:ea typeface="맑은 고딕" pitchFamily="34" charset="-122"/>
                          <a:cs typeface="Arial" pitchFamily="34" charset="-120"/>
                        </a:rPr>
                        <a:t>=SLOPE(G2:G31,D2:D31)</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300" dirty="0">
                          <a:solidFill>
                            <a:srgbClr val="12304D"/>
                          </a:solidFill>
                          <a:latin typeface="Arial" pitchFamily="34" charset="0"/>
                          <a:ea typeface="맑은 고딕" pitchFamily="34" charset="-122"/>
                          <a:cs typeface="Arial" pitchFamily="34" charset="-120"/>
                        </a:rPr>
                        <a:t>15.04</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420624">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절편 a</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l" indent="0" marL="0">
                        <a:buNone/>
                      </a:pPr>
                      <a:r>
                        <a:rPr lang="en-US" sz="1300" b="1" dirty="0">
                          <a:solidFill>
                            <a:srgbClr val="A64F16"/>
                          </a:solidFill>
                          <a:latin typeface="Arial" pitchFamily="34" charset="0"/>
                          <a:ea typeface="맑은 고딕" pitchFamily="34" charset="-122"/>
                          <a:cs typeface="Arial" pitchFamily="34" charset="-120"/>
                        </a:rPr>
                        <a:t>=INTERCEPT(G2:G31,D2:D31)</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300" dirty="0">
                          <a:solidFill>
                            <a:srgbClr val="12304D"/>
                          </a:solidFill>
                          <a:latin typeface="Arial" pitchFamily="34" charset="0"/>
                          <a:ea typeface="맑은 고딕" pitchFamily="34" charset="-122"/>
                          <a:cs typeface="Arial" pitchFamily="34" charset="-120"/>
                        </a:rPr>
                        <a:t>−209.6</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r>
              <a:tr h="420624">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결정계수 R²</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300" b="1" dirty="0">
                          <a:solidFill>
                            <a:srgbClr val="A64F16"/>
                          </a:solidFill>
                          <a:latin typeface="Arial" pitchFamily="34" charset="0"/>
                          <a:ea typeface="맑은 고딕" pitchFamily="34" charset="-122"/>
                          <a:cs typeface="Arial" pitchFamily="34" charset="-120"/>
                        </a:rPr>
                        <a:t>=RSQ(G2:G31,D2:D31)</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300" dirty="0">
                          <a:solidFill>
                            <a:srgbClr val="12304D"/>
                          </a:solidFill>
                          <a:latin typeface="Arial" pitchFamily="34" charset="0"/>
                          <a:ea typeface="맑은 고딕" pitchFamily="34" charset="-122"/>
                          <a:cs typeface="Arial" pitchFamily="34" charset="-120"/>
                        </a:rPr>
                        <a:t>0.78</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420624">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28℃일 때 예측</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l" indent="0" marL="0">
                        <a:buNone/>
                      </a:pPr>
                      <a:r>
                        <a:rPr lang="en-US" sz="1300" b="1" dirty="0">
                          <a:solidFill>
                            <a:srgbClr val="A64F16"/>
                          </a:solidFill>
                          <a:latin typeface="Arial" pitchFamily="34" charset="0"/>
                          <a:ea typeface="맑은 고딕" pitchFamily="34" charset="-122"/>
                          <a:cs typeface="Arial" pitchFamily="34" charset="-120"/>
                        </a:rPr>
                        <a:t>=FORECAST.LINEAR(28,G2:G31,D2:D31)</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300" dirty="0">
                          <a:solidFill>
                            <a:srgbClr val="12304D"/>
                          </a:solidFill>
                          <a:latin typeface="Arial" pitchFamily="34" charset="0"/>
                          <a:ea typeface="맑은 고딕" pitchFamily="34" charset="-122"/>
                          <a:cs typeface="Arial" pitchFamily="34" charset="-120"/>
                        </a:rPr>
                        <a:t>211</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r>
            </a:tbl>
          </a:graphicData>
        </a:graphic>
      </p:graphicFrame>
      <p:sp>
        <p:nvSpPr>
          <p:cNvPr id="6" name="Text 3"/>
          <p:cNvSpPr txBox="1"/>
          <p:nvPr/>
        </p:nvSpPr>
        <p:spPr>
          <a:xfrm>
            <a:off x="813816" y="4407408"/>
            <a:ext cx="6035040" cy="274320"/>
          </a:xfrm>
          <a:prstGeom prst="rect">
            <a:avLst/>
          </a:prstGeom>
          <a:noFill/>
          <a:ln/>
        </p:spPr>
        <p:txBody>
          <a:bodyPr wrap="square" lIns="0" tIns="0" rIns="0" bIns="0" rtlCol="0" anchor="t"/>
          <a:lstStyle/>
          <a:p>
            <a:pPr indent="0" marL="0">
              <a:lnSpc>
                <a:spcPts val="1820"/>
              </a:lnSpc>
              <a:buNone/>
            </a:pPr>
            <a:r>
              <a:rPr lang="en-US" sz="1300" b="1" dirty="0">
                <a:solidFill>
                  <a:srgbClr val="A64F16"/>
                </a:solidFill>
                <a:latin typeface="Arial" pitchFamily="34" charset="0"/>
                <a:ea typeface="맑은 고딕" pitchFamily="34" charset="-122"/>
                <a:cs typeface="Arial" pitchFamily="34" charset="-120"/>
              </a:rPr>
              <a:t>순서 주의</a:t>
            </a:r>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 · (y 범위, x 범위) — 결과(아이스음료 G)를 먼저 씁니다</a:t>
            </a:r>
            <a:endParaRPr lang="en-US" sz="1300" dirty="0"/>
          </a:p>
        </p:txBody>
      </p:sp>
      <p:sp>
        <p:nvSpPr>
          <p:cNvPr id="7" name="Shape 4"/>
          <p:cNvSpPr/>
          <p:nvPr/>
        </p:nvSpPr>
        <p:spPr>
          <a:xfrm>
            <a:off x="7086600" y="1828800"/>
            <a:ext cx="4297680" cy="2852928"/>
          </a:xfrm>
          <a:prstGeom prst="roundRect">
            <a:avLst>
              <a:gd name="adj" fmla="val 3846"/>
            </a:avLst>
          </a:prstGeom>
          <a:solidFill>
            <a:srgbClr val="FCFCFA"/>
          </a:solidFill>
          <a:ln w="9525">
            <a:solidFill>
              <a:srgbClr val="D9DDE1"/>
            </a:solidFill>
            <a:prstDash val="solid"/>
          </a:ln>
        </p:spPr>
      </p:sp>
      <p:sp>
        <p:nvSpPr>
          <p:cNvPr id="8" name="Text 5"/>
          <p:cNvSpPr txBox="1"/>
          <p:nvPr/>
        </p:nvSpPr>
        <p:spPr>
          <a:xfrm>
            <a:off x="7315200" y="2011680"/>
            <a:ext cx="3931920" cy="301752"/>
          </a:xfrm>
          <a:prstGeom prst="rect">
            <a:avLst/>
          </a:prstGeom>
          <a:noFill/>
          <a:ln/>
        </p:spPr>
        <p:txBody>
          <a:bodyPr wrap="square" lIns="0" tIns="0" rIns="0" bIns="0" rtlCol="0" anchor="t"/>
          <a:lstStyle/>
          <a:p>
            <a:pPr indent="0" marL="0">
              <a:lnSpc>
                <a:spcPts val="2380"/>
              </a:lnSpc>
              <a:buNone/>
            </a:pPr>
            <a:r>
              <a:rPr lang="en-US" sz="1700" b="1" dirty="0">
                <a:solidFill>
                  <a:srgbClr val="12304D"/>
                </a:solidFill>
                <a:latin typeface="Arial" pitchFamily="34" charset="0"/>
                <a:ea typeface="맑은 고딕" pitchFamily="34" charset="-122"/>
                <a:cs typeface="Arial" pitchFamily="34" charset="-120"/>
              </a:rPr>
              <a:t>데이터 분석 &gt; 회귀 분석</a:t>
            </a:r>
            <a:endParaRPr lang="en-US" sz="1700" dirty="0"/>
          </a:p>
        </p:txBody>
      </p:sp>
      <p:sp>
        <p:nvSpPr>
          <p:cNvPr id="9" name="Text 6"/>
          <p:cNvSpPr txBox="1"/>
          <p:nvPr/>
        </p:nvSpPr>
        <p:spPr>
          <a:xfrm>
            <a:off x="7315200" y="2450592"/>
            <a:ext cx="3931920" cy="274320"/>
          </a:xfrm>
          <a:prstGeom prst="rect">
            <a:avLst/>
          </a:prstGeom>
          <a:noFill/>
          <a:ln/>
        </p:spPr>
        <p:txBody>
          <a:bodyPr wrap="square" lIns="0" tIns="0" rIns="0" bIns="0" rtlCol="0" anchor="t"/>
          <a:lstStyle/>
          <a:p>
            <a:pPr indent="0" marL="0">
              <a:lnSpc>
                <a:spcPts val="1820"/>
              </a:lnSpc>
              <a:buNone/>
            </a:pPr>
            <a:r>
              <a:rPr lang="en-US" sz="1300" b="1" dirty="0">
                <a:solidFill>
                  <a:srgbClr val="1F6F78"/>
                </a:solidFill>
                <a:latin typeface="Arial" pitchFamily="34" charset="0"/>
                <a:ea typeface="맑은 고딕" pitchFamily="34" charset="-122"/>
                <a:cs typeface="Arial" pitchFamily="34" charset="-120"/>
              </a:rPr>
              <a:t>Y축 입력 범위  </a:t>
            </a:r>
            <a:pPr indent="0" marL="0">
              <a:lnSpc>
                <a:spcPts val="1820"/>
              </a:lnSpc>
              <a:buNone/>
            </a:pPr>
            <a:r>
              <a:rPr lang="en-US" sz="1300" dirty="0">
                <a:solidFill>
                  <a:srgbClr val="12304D"/>
                </a:solidFill>
                <a:latin typeface="Arial" pitchFamily="34" charset="0"/>
                <a:ea typeface="맑은 고딕" pitchFamily="34" charset="-122"/>
                <a:cs typeface="Arial" pitchFamily="34" charset="-120"/>
              </a:rPr>
              <a:t>G1:G31 (아이스음료)</a:t>
            </a:r>
            <a:endParaRPr lang="en-US" sz="1300" dirty="0"/>
          </a:p>
        </p:txBody>
      </p:sp>
      <p:sp>
        <p:nvSpPr>
          <p:cNvPr id="10" name="Text 7"/>
          <p:cNvSpPr txBox="1"/>
          <p:nvPr/>
        </p:nvSpPr>
        <p:spPr>
          <a:xfrm>
            <a:off x="7315200" y="2852928"/>
            <a:ext cx="3931920" cy="274320"/>
          </a:xfrm>
          <a:prstGeom prst="rect">
            <a:avLst/>
          </a:prstGeom>
          <a:noFill/>
          <a:ln/>
        </p:spPr>
        <p:txBody>
          <a:bodyPr wrap="square" lIns="0" tIns="0" rIns="0" bIns="0" rtlCol="0" anchor="t"/>
          <a:lstStyle/>
          <a:p>
            <a:pPr indent="0" marL="0">
              <a:lnSpc>
                <a:spcPts val="1820"/>
              </a:lnSpc>
              <a:buNone/>
            </a:pPr>
            <a:r>
              <a:rPr lang="en-US" sz="1300" b="1" dirty="0">
                <a:solidFill>
                  <a:srgbClr val="1F6F78"/>
                </a:solidFill>
                <a:latin typeface="Arial" pitchFamily="34" charset="0"/>
                <a:ea typeface="맑은 고딕" pitchFamily="34" charset="-122"/>
                <a:cs typeface="Arial" pitchFamily="34" charset="-120"/>
              </a:rPr>
              <a:t>X축 입력 범위  </a:t>
            </a:r>
            <a:pPr indent="0" marL="0">
              <a:lnSpc>
                <a:spcPts val="1820"/>
              </a:lnSpc>
              <a:buNone/>
            </a:pPr>
            <a:r>
              <a:rPr lang="en-US" sz="1300" dirty="0">
                <a:solidFill>
                  <a:srgbClr val="12304D"/>
                </a:solidFill>
                <a:latin typeface="Arial" pitchFamily="34" charset="0"/>
                <a:ea typeface="맑은 고딕" pitchFamily="34" charset="-122"/>
                <a:cs typeface="Arial" pitchFamily="34" charset="-120"/>
              </a:rPr>
              <a:t>D1:D31 (최고기온)</a:t>
            </a:r>
            <a:endParaRPr lang="en-US" sz="1300" dirty="0"/>
          </a:p>
        </p:txBody>
      </p:sp>
      <p:sp>
        <p:nvSpPr>
          <p:cNvPr id="11" name="Text 8"/>
          <p:cNvSpPr txBox="1"/>
          <p:nvPr/>
        </p:nvSpPr>
        <p:spPr>
          <a:xfrm>
            <a:off x="7315200" y="3255264"/>
            <a:ext cx="3931920" cy="274320"/>
          </a:xfrm>
          <a:prstGeom prst="rect">
            <a:avLst/>
          </a:prstGeom>
          <a:noFill/>
          <a:ln/>
        </p:spPr>
        <p:txBody>
          <a:bodyPr wrap="square" lIns="0" tIns="0" rIns="0" bIns="0" rtlCol="0" anchor="t"/>
          <a:lstStyle/>
          <a:p>
            <a:pPr indent="0" marL="0">
              <a:lnSpc>
                <a:spcPts val="1820"/>
              </a:lnSpc>
              <a:buNone/>
            </a:pPr>
            <a:r>
              <a:rPr lang="en-US" sz="1300" b="1" dirty="0">
                <a:solidFill>
                  <a:srgbClr val="1F6F78"/>
                </a:solidFill>
                <a:latin typeface="Arial" pitchFamily="34" charset="0"/>
                <a:ea typeface="맑은 고딕" pitchFamily="34" charset="-122"/>
                <a:cs typeface="Arial" pitchFamily="34" charset="-120"/>
              </a:rPr>
              <a:t>이름표  </a:t>
            </a:r>
            <a:pPr indent="0" marL="0">
              <a:lnSpc>
                <a:spcPts val="1820"/>
              </a:lnSpc>
              <a:buNone/>
            </a:pPr>
            <a:r>
              <a:rPr lang="en-US" sz="1300" dirty="0">
                <a:solidFill>
                  <a:srgbClr val="12304D"/>
                </a:solidFill>
                <a:latin typeface="Arial" pitchFamily="34" charset="0"/>
                <a:ea typeface="맑은 고딕" pitchFamily="34" charset="-122"/>
                <a:cs typeface="Arial" pitchFamily="34" charset="-120"/>
              </a:rPr>
              <a:t>✓ 첫 행이 열 이름</a:t>
            </a:r>
            <a:endParaRPr lang="en-US" sz="1300" dirty="0"/>
          </a:p>
        </p:txBody>
      </p:sp>
      <p:sp>
        <p:nvSpPr>
          <p:cNvPr id="12" name="Text 9"/>
          <p:cNvSpPr txBox="1"/>
          <p:nvPr/>
        </p:nvSpPr>
        <p:spPr>
          <a:xfrm>
            <a:off x="7315200" y="3657600"/>
            <a:ext cx="3931920" cy="274320"/>
          </a:xfrm>
          <a:prstGeom prst="rect">
            <a:avLst/>
          </a:prstGeom>
          <a:noFill/>
          <a:ln/>
        </p:spPr>
        <p:txBody>
          <a:bodyPr wrap="square" lIns="0" tIns="0" rIns="0" bIns="0" rtlCol="0" anchor="t"/>
          <a:lstStyle/>
          <a:p>
            <a:pPr indent="0" marL="0">
              <a:lnSpc>
                <a:spcPts val="1820"/>
              </a:lnSpc>
              <a:buNone/>
            </a:pPr>
            <a:r>
              <a:rPr lang="en-US" sz="1300" b="1" dirty="0">
                <a:solidFill>
                  <a:srgbClr val="1F6F78"/>
                </a:solidFill>
                <a:latin typeface="Arial" pitchFamily="34" charset="0"/>
                <a:ea typeface="맑은 고딕" pitchFamily="34" charset="-122"/>
                <a:cs typeface="Arial" pitchFamily="34" charset="-120"/>
              </a:rPr>
              <a:t>출력 옵션  </a:t>
            </a:r>
            <a:pPr indent="0" marL="0">
              <a:lnSpc>
                <a:spcPts val="1820"/>
              </a:lnSpc>
              <a:buNone/>
            </a:pPr>
            <a:r>
              <a:rPr lang="en-US" sz="1300" dirty="0">
                <a:solidFill>
                  <a:srgbClr val="12304D"/>
                </a:solidFill>
                <a:latin typeface="Arial" pitchFamily="34" charset="0"/>
                <a:ea typeface="맑은 고딕" pitchFamily="34" charset="-122"/>
                <a:cs typeface="Arial" pitchFamily="34" charset="-120"/>
              </a:rPr>
              <a:t>새로운 워크시트</a:t>
            </a:r>
            <a:endParaRPr lang="en-US" sz="1300" dirty="0"/>
          </a:p>
        </p:txBody>
      </p:sp>
      <p:sp>
        <p:nvSpPr>
          <p:cNvPr id="13" name="Text 10"/>
          <p:cNvSpPr txBox="1"/>
          <p:nvPr/>
        </p:nvSpPr>
        <p:spPr>
          <a:xfrm>
            <a:off x="7315200" y="4059936"/>
            <a:ext cx="3931920" cy="274320"/>
          </a:xfrm>
          <a:prstGeom prst="rect">
            <a:avLst/>
          </a:prstGeom>
          <a:noFill/>
          <a:ln/>
        </p:spPr>
        <p:txBody>
          <a:bodyPr wrap="square" lIns="0" tIns="0" rIns="0" bIns="0" rtlCol="0" anchor="t"/>
          <a:lstStyle/>
          <a:p>
            <a:pPr indent="0" marL="0">
              <a:lnSpc>
                <a:spcPts val="1820"/>
              </a:lnSpc>
              <a:buNone/>
            </a:pPr>
            <a:r>
              <a:rPr lang="en-US" sz="1300" b="1" dirty="0">
                <a:solidFill>
                  <a:srgbClr val="1F6F78"/>
                </a:solidFill>
                <a:latin typeface="Arial" pitchFamily="34" charset="0"/>
                <a:ea typeface="맑은 고딕" pitchFamily="34" charset="-122"/>
                <a:cs typeface="Arial" pitchFamily="34" charset="-120"/>
              </a:rPr>
              <a:t>잔차  </a:t>
            </a:r>
            <a:pPr indent="0" marL="0">
              <a:lnSpc>
                <a:spcPts val="1820"/>
              </a:lnSpc>
              <a:buNone/>
            </a:pPr>
            <a:r>
              <a:rPr lang="en-US" sz="1300" dirty="0">
                <a:solidFill>
                  <a:srgbClr val="12304D"/>
                </a:solidFill>
                <a:latin typeface="Arial" pitchFamily="34" charset="0"/>
                <a:ea typeface="맑은 고딕" pitchFamily="34" charset="-122"/>
                <a:cs typeface="Arial" pitchFamily="34" charset="-120"/>
              </a:rPr>
              <a:t>✓ 잔차 · ✓ 선적합도</a:t>
            </a:r>
            <a:endParaRPr lang="en-US" sz="1300" dirty="0"/>
          </a:p>
        </p:txBody>
      </p:sp>
      <p:sp>
        <p:nvSpPr>
          <p:cNvPr id="14" name="Shape 11"/>
          <p:cNvSpPr/>
          <p:nvPr/>
        </p:nvSpPr>
        <p:spPr>
          <a:xfrm>
            <a:off x="813816" y="4892040"/>
            <a:ext cx="10570464" cy="621792"/>
          </a:xfrm>
          <a:prstGeom prst="roundRect">
            <a:avLst>
              <a:gd name="adj" fmla="val 14706"/>
            </a:avLst>
          </a:prstGeom>
          <a:solidFill>
            <a:srgbClr val="12304D"/>
          </a:solidFill>
          <a:ln/>
        </p:spPr>
      </p:sp>
      <p:sp>
        <p:nvSpPr>
          <p:cNvPr id="15" name="Text 12"/>
          <p:cNvSpPr txBox="1"/>
          <p:nvPr/>
        </p:nvSpPr>
        <p:spPr>
          <a:xfrm>
            <a:off x="1024128" y="5056632"/>
            <a:ext cx="10149840" cy="292608"/>
          </a:xfrm>
          <a:prstGeom prst="rect">
            <a:avLst/>
          </a:prstGeom>
          <a:noFill/>
          <a:ln/>
        </p:spPr>
        <p:txBody>
          <a:bodyPr wrap="square" lIns="0" tIns="0" rIns="0" bIns="0" rtlCol="0" anchor="t"/>
          <a:lstStyle/>
          <a:p>
            <a:pPr indent="0" marL="0">
              <a:lnSpc>
                <a:spcPts val="2100"/>
              </a:lnSpc>
              <a:buNone/>
            </a:pPr>
            <a:r>
              <a:rPr lang="en-US" sz="1500" dirty="0">
                <a:solidFill>
                  <a:srgbClr val="F5F4EF"/>
                </a:solidFill>
                <a:latin typeface="Arial" pitchFamily="34" charset="0"/>
                <a:ea typeface="맑은 고딕" pitchFamily="34" charset="-122"/>
                <a:cs typeface="Arial" pitchFamily="34" charset="-120"/>
              </a:rPr>
              <a:t>회귀식 · </a:t>
            </a:r>
            <a:pPr indent="0" marL="0">
              <a:lnSpc>
                <a:spcPts val="2100"/>
              </a:lnSpc>
              <a:buNone/>
            </a:pPr>
            <a:r>
              <a:rPr lang="en-US" sz="1500" b="1" dirty="0">
                <a:solidFill>
                  <a:srgbClr val="F2A65A"/>
                </a:solidFill>
                <a:latin typeface="Arial" pitchFamily="34" charset="0"/>
                <a:ea typeface="맑은 고딕" pitchFamily="34" charset="-122"/>
                <a:cs typeface="Arial" pitchFamily="34" charset="-120"/>
              </a:rPr>
              <a:t>아이스음료(잔) = 15.04 × 최고기온(℃) − 209.6</a:t>
            </a:r>
            <a:pPr indent="0" marL="0">
              <a:lnSpc>
                <a:spcPts val="2100"/>
              </a:lnSpc>
              <a:buNone/>
            </a:pPr>
            <a:r>
              <a:rPr lang="en-US" sz="1500" dirty="0">
                <a:solidFill>
                  <a:srgbClr val="F5F4EF"/>
                </a:solidFill>
                <a:latin typeface="Arial" pitchFamily="34" charset="0"/>
                <a:ea typeface="맑은 고딕" pitchFamily="34" charset="-122"/>
                <a:cs typeface="Arial" pitchFamily="34" charset="-120"/>
              </a:rPr>
              <a:t>　결정계수 R² = 0.78</a:t>
            </a:r>
            <a:endParaRPr lang="en-US" sz="1500" dirty="0"/>
          </a:p>
        </p:txBody>
      </p:sp>
      <p:sp>
        <p:nvSpPr>
          <p:cNvPr id="16" name="Text 13"/>
          <p:cNvSpPr txBox="1"/>
          <p:nvPr/>
        </p:nvSpPr>
        <p:spPr>
          <a:xfrm>
            <a:off x="813816" y="6236208"/>
            <a:ext cx="10881360" cy="237744"/>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생성형 AI 실무 활용 · 1일차 · 강사 시연용 가상 데이터</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4E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회귀분석 결과 읽기</a:t>
            </a:r>
            <a:endParaRPr lang="en-US" sz="1400" dirty="0"/>
          </a:p>
        </p:txBody>
      </p:sp>
      <p:sp>
        <p:nvSpPr>
          <p:cNvPr id="3" name="Title"/>
          <p:cNvSpPr/>
          <p:nvPr>
            <p:ph type="title"/>
          </p:nvPr>
        </p:nvSpPr>
        <p:spPr>
          <a:xfrm>
            <a:off x="813816" y="1133856"/>
            <a:ext cx="10881360" cy="493776"/>
          </a:xfrm>
          <a:prstGeom prst="rect">
            <a:avLst/>
          </a:prstGeom>
          <a:noFill/>
          <a:ln/>
        </p:spPr>
        <p:txBody>
          <a:bodyPr wrap="square" lIns="0" tIns="0" rIns="0" bIns="0" rtlCol="0" anchor="t"/>
          <a:lstStyle/>
          <a:p>
            <a:pPr indent="0" marL="0">
              <a:lnSpc>
                <a:spcPts val="4480"/>
              </a:lnSpc>
              <a:buNone/>
            </a:pPr>
            <a:r>
              <a:rPr lang="en-US" sz="3200" b="1" dirty="0">
                <a:solidFill>
                  <a:srgbClr val="12304D"/>
                </a:solidFill>
                <a:latin typeface="Arial" pitchFamily="34" charset="0"/>
                <a:ea typeface="맑은 고딕" pitchFamily="34" charset="-122"/>
                <a:cs typeface="Arial" pitchFamily="34" charset="-120"/>
              </a:rPr>
              <a:t>출력표에서 세 숫자만 읽으면 됩니다</a:t>
            </a:r>
            <a:endParaRPr lang="en-US" sz="3200" dirty="0"/>
          </a:p>
        </p:txBody>
      </p:sp>
      <p:sp>
        <p:nvSpPr>
          <p:cNvPr id="4" name="Text 2"/>
          <p:cNvSpPr txBox="1"/>
          <p:nvPr/>
        </p:nvSpPr>
        <p:spPr>
          <a:xfrm>
            <a:off x="813816" y="1828800"/>
            <a:ext cx="2743200" cy="256032"/>
          </a:xfrm>
          <a:prstGeom prst="rect">
            <a:avLst/>
          </a:prstGeom>
          <a:noFill/>
          <a:ln/>
        </p:spPr>
        <p:txBody>
          <a:bodyPr wrap="square" lIns="0" tIns="0" rIns="0" bIns="0" rtlCol="0" anchor="t"/>
          <a:lstStyle/>
          <a:p>
            <a:pPr indent="0" marL="0">
              <a:lnSpc>
                <a:spcPts val="1820"/>
              </a:lnSpc>
              <a:buNone/>
            </a:pPr>
            <a:r>
              <a:rPr lang="en-US" sz="1300" b="1" dirty="0">
                <a:solidFill>
                  <a:srgbClr val="12304D"/>
                </a:solidFill>
                <a:latin typeface="Arial" pitchFamily="34" charset="0"/>
                <a:ea typeface="맑은 고딕" pitchFamily="34" charset="-122"/>
                <a:cs typeface="Arial" pitchFamily="34" charset="-120"/>
              </a:rPr>
              <a:t>회귀분석 통계량</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13816" y="2121408"/>
          <a:ext cx="2743200" cy="914400"/>
        </p:xfrm>
        <a:graphic>
          <a:graphicData uri="http://schemas.openxmlformats.org/drawingml/2006/table">
            <a:tbl>
              <a:tblPr/>
              <a:tblGrid>
                <a:gridCol w="1737360"/>
                <a:gridCol w="1005840"/>
              </a:tblGrid>
              <a:tr h="329184">
                <a:tc>
                  <a:txBody>
                    <a:bodyPr/>
                    <a:lstStyle/>
                    <a:p>
                      <a:pPr algn="l" indent="0" marL="0">
                        <a:buNone/>
                      </a:pPr>
                      <a:r>
                        <a:rPr lang="en-US" sz="1200" dirty="0">
                          <a:solidFill>
                            <a:srgbClr val="12304D"/>
                          </a:solidFill>
                          <a:latin typeface="Arial" pitchFamily="34" charset="0"/>
                          <a:ea typeface="맑은 고딕" pitchFamily="34" charset="-122"/>
                          <a:cs typeface="Arial" pitchFamily="34" charset="-120"/>
                        </a:rPr>
                        <a:t>다중 상관계수</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0.88</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r>
              <a:tr h="329184">
                <a:tc>
                  <a:txBody>
                    <a:bodyPr/>
                    <a:lstStyle/>
                    <a:p>
                      <a:pPr algn="l" indent="0" marL="0">
                        <a:buNone/>
                      </a:pPr>
                      <a:r>
                        <a:rPr lang="en-US" sz="1200" b="1" dirty="0">
                          <a:solidFill>
                            <a:srgbClr val="12304D"/>
                          </a:solidFill>
                          <a:latin typeface="Arial" pitchFamily="34" charset="0"/>
                          <a:ea typeface="맑은 고딕" pitchFamily="34" charset="-122"/>
                          <a:cs typeface="Arial" pitchFamily="34" charset="-120"/>
                        </a:rPr>
                        <a:t>결정계수</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7D9B9"/>
                    </a:solidFill>
                  </a:tcPr>
                </a:tc>
                <a:tc>
                  <a:txBody>
                    <a:bodyPr/>
                    <a:lstStyle/>
                    <a:p>
                      <a:pPr algn="r" indent="0" marL="0">
                        <a:buNone/>
                      </a:pPr>
                      <a:r>
                        <a:rPr lang="en-US" sz="1200" b="1" dirty="0">
                          <a:solidFill>
                            <a:srgbClr val="12304D"/>
                          </a:solidFill>
                          <a:latin typeface="Arial" pitchFamily="34" charset="0"/>
                          <a:ea typeface="맑은 고딕" pitchFamily="34" charset="-122"/>
                          <a:cs typeface="Arial" pitchFamily="34" charset="-120"/>
                        </a:rPr>
                        <a:t>0.78</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7D9B9"/>
                    </a:solidFill>
                  </a:tcPr>
                </a:tc>
              </a:tr>
              <a:tr h="329184">
                <a:tc>
                  <a:txBody>
                    <a:bodyPr/>
                    <a:lstStyle/>
                    <a:p>
                      <a:pPr algn="l" indent="0" marL="0">
                        <a:buNone/>
                      </a:pPr>
                      <a:r>
                        <a:rPr lang="en-US" sz="1200" dirty="0">
                          <a:solidFill>
                            <a:srgbClr val="12304D"/>
                          </a:solidFill>
                          <a:latin typeface="Arial" pitchFamily="34" charset="0"/>
                          <a:ea typeface="맑은 고딕" pitchFamily="34" charset="-122"/>
                          <a:cs typeface="Arial" pitchFamily="34" charset="-120"/>
                        </a:rPr>
                        <a:t>조정된 결정계수</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0.77</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r>
              <a:tr h="329184">
                <a:tc>
                  <a:txBody>
                    <a:bodyPr/>
                    <a:lstStyle/>
                    <a:p>
                      <a:pPr algn="l" indent="0" marL="0">
                        <a:buNone/>
                      </a:pPr>
                      <a:r>
                        <a:rPr lang="en-US" sz="1200" dirty="0">
                          <a:solidFill>
                            <a:srgbClr val="12304D"/>
                          </a:solidFill>
                          <a:latin typeface="Arial" pitchFamily="34" charset="0"/>
                          <a:ea typeface="맑은 고딕" pitchFamily="34" charset="-122"/>
                          <a:cs typeface="Arial" pitchFamily="34" charset="-120"/>
                        </a:rPr>
                        <a:t>표준 오차</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17.5</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329184">
                <a:tc>
                  <a:txBody>
                    <a:bodyPr/>
                    <a:lstStyle/>
                    <a:p>
                      <a:pPr algn="l" indent="0" marL="0">
                        <a:buNone/>
                      </a:pPr>
                      <a:r>
                        <a:rPr lang="en-US" sz="1200" dirty="0">
                          <a:solidFill>
                            <a:srgbClr val="12304D"/>
                          </a:solidFill>
                          <a:latin typeface="Arial" pitchFamily="34" charset="0"/>
                          <a:ea typeface="맑은 고딕" pitchFamily="34" charset="-122"/>
                          <a:cs typeface="Arial" pitchFamily="34" charset="-120"/>
                        </a:rPr>
                        <a:t>관측수</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200" dirty="0">
                          <a:solidFill>
                            <a:srgbClr val="12304D"/>
                          </a:solidFill>
                          <a:latin typeface="Arial" pitchFamily="34" charset="0"/>
                          <a:ea typeface="맑은 고딕" pitchFamily="34" charset="-122"/>
                          <a:cs typeface="Arial" pitchFamily="34" charset="-120"/>
                        </a:rPr>
                        <a:t>30</a:t>
                      </a:r>
                      <a:endParaRPr lang="en-US" sz="12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r>
            </a:tbl>
          </a:graphicData>
        </a:graphic>
      </p:graphicFrame>
      <p:sp>
        <p:nvSpPr>
          <p:cNvPr id="6" name="Text 3"/>
          <p:cNvSpPr txBox="1"/>
          <p:nvPr/>
        </p:nvSpPr>
        <p:spPr>
          <a:xfrm>
            <a:off x="3749040" y="1828800"/>
            <a:ext cx="2743200" cy="256032"/>
          </a:xfrm>
          <a:prstGeom prst="rect">
            <a:avLst/>
          </a:prstGeom>
          <a:noFill/>
          <a:ln/>
        </p:spPr>
        <p:txBody>
          <a:bodyPr wrap="square" lIns="0" tIns="0" rIns="0" bIns="0" rtlCol="0" anchor="t"/>
          <a:lstStyle/>
          <a:p>
            <a:pPr indent="0" marL="0">
              <a:lnSpc>
                <a:spcPts val="1820"/>
              </a:lnSpc>
              <a:buNone/>
            </a:pPr>
            <a:r>
              <a:rPr lang="en-US" sz="1300" b="1" dirty="0">
                <a:solidFill>
                  <a:srgbClr val="12304D"/>
                </a:solidFill>
                <a:latin typeface="Arial" pitchFamily="34" charset="0"/>
                <a:ea typeface="맑은 고딕" pitchFamily="34" charset="-122"/>
                <a:cs typeface="Arial" pitchFamily="34" charset="-120"/>
              </a:rPr>
              <a:t>계수표</a:t>
            </a:r>
            <a:endParaRPr lang="en-US" sz="13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3749040" y="2121408"/>
          <a:ext cx="3977640" cy="914400"/>
        </p:xfrm>
        <a:graphic>
          <a:graphicData uri="http://schemas.openxmlformats.org/drawingml/2006/table">
            <a:tbl>
              <a:tblPr/>
              <a:tblGrid>
                <a:gridCol w="1097280"/>
                <a:gridCol w="685800"/>
                <a:gridCol w="731520"/>
                <a:gridCol w="685800"/>
                <a:gridCol w="777240"/>
              </a:tblGrid>
              <a:tr h="365760">
                <a:tc>
                  <a:txBody>
                    <a:bodyPr/>
                    <a:lstStyle/>
                    <a:p>
                      <a:pPr algn="l" indent="0" marL="0">
                        <a:buNone/>
                      </a:pP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r" indent="0" marL="0">
                        <a:buNone/>
                      </a:pPr>
                      <a:r>
                        <a:rPr lang="en-US" sz="1100" b="1" dirty="0">
                          <a:solidFill>
                            <a:srgbClr val="F5F4EF"/>
                          </a:solidFill>
                          <a:latin typeface="Arial" pitchFamily="34" charset="0"/>
                          <a:ea typeface="맑은 고딕" pitchFamily="34" charset="-122"/>
                          <a:cs typeface="Arial" pitchFamily="34" charset="-120"/>
                        </a:rPr>
                        <a:t>계수</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r" indent="0" marL="0">
                        <a:buNone/>
                      </a:pPr>
                      <a:r>
                        <a:rPr lang="en-US" sz="1100" b="1" dirty="0">
                          <a:solidFill>
                            <a:srgbClr val="F5F4EF"/>
                          </a:solidFill>
                          <a:latin typeface="Arial" pitchFamily="34" charset="0"/>
                          <a:ea typeface="맑은 고딕" pitchFamily="34" charset="-122"/>
                          <a:cs typeface="Arial" pitchFamily="34" charset="-120"/>
                        </a:rPr>
                        <a:t>표준 오차</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r" indent="0" marL="0">
                        <a:buNone/>
                      </a:pPr>
                      <a:r>
                        <a:rPr lang="en-US" sz="1100" b="1" dirty="0">
                          <a:solidFill>
                            <a:srgbClr val="F5F4EF"/>
                          </a:solidFill>
                          <a:latin typeface="Arial" pitchFamily="34" charset="0"/>
                          <a:ea typeface="맑은 고딕" pitchFamily="34" charset="-122"/>
                          <a:cs typeface="Arial" pitchFamily="34" charset="-120"/>
                        </a:rPr>
                        <a:t>t 통계량</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r" indent="0" marL="0">
                        <a:buNone/>
                      </a:pPr>
                      <a:r>
                        <a:rPr lang="en-US" sz="1100" b="1" dirty="0">
                          <a:solidFill>
                            <a:srgbClr val="F5F4EF"/>
                          </a:solidFill>
                          <a:latin typeface="Arial" pitchFamily="34" charset="0"/>
                          <a:ea typeface="맑은 고딕" pitchFamily="34" charset="-122"/>
                          <a:cs typeface="Arial" pitchFamily="34" charset="-120"/>
                        </a:rPr>
                        <a:t>P-값</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r>
              <a:tr h="365760">
                <a:tc>
                  <a:txBody>
                    <a:bodyPr/>
                    <a:lstStyle/>
                    <a:p>
                      <a:pPr algn="l" indent="0" marL="0">
                        <a:buNone/>
                      </a:pPr>
                      <a:r>
                        <a:rPr lang="en-US" sz="1100" dirty="0">
                          <a:solidFill>
                            <a:srgbClr val="12304D"/>
                          </a:solidFill>
                          <a:latin typeface="Arial" pitchFamily="34" charset="0"/>
                          <a:ea typeface="맑은 고딕" pitchFamily="34" charset="-122"/>
                          <a:cs typeface="Arial" pitchFamily="34" charset="-120"/>
                        </a:rPr>
                        <a:t>Y 절편</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100" dirty="0">
                          <a:solidFill>
                            <a:srgbClr val="12304D"/>
                          </a:solidFill>
                          <a:latin typeface="Arial" pitchFamily="34" charset="0"/>
                          <a:ea typeface="맑은 고딕" pitchFamily="34" charset="-122"/>
                          <a:cs typeface="Arial" pitchFamily="34" charset="-120"/>
                        </a:rPr>
                        <a:t>−209.59</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100" dirty="0">
                          <a:solidFill>
                            <a:srgbClr val="12304D"/>
                          </a:solidFill>
                          <a:latin typeface="Arial" pitchFamily="34" charset="0"/>
                          <a:ea typeface="맑은 고딕" pitchFamily="34" charset="-122"/>
                          <a:cs typeface="Arial" pitchFamily="34" charset="-120"/>
                        </a:rPr>
                        <a:t>42.81</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100" dirty="0">
                          <a:solidFill>
                            <a:srgbClr val="12304D"/>
                          </a:solidFill>
                          <a:latin typeface="Arial" pitchFamily="34" charset="0"/>
                          <a:ea typeface="맑은 고딕" pitchFamily="34" charset="-122"/>
                          <a:cs typeface="Arial" pitchFamily="34" charset="-120"/>
                        </a:rPr>
                        <a:t>−4.90</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100" dirty="0">
                          <a:solidFill>
                            <a:srgbClr val="12304D"/>
                          </a:solidFill>
                          <a:latin typeface="Arial" pitchFamily="34" charset="0"/>
                          <a:ea typeface="맑은 고딕" pitchFamily="34" charset="-122"/>
                          <a:cs typeface="Arial" pitchFamily="34" charset="-120"/>
                        </a:rPr>
                        <a:t>3.69E-05</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365760">
                <a:tc>
                  <a:txBody>
                    <a:bodyPr/>
                    <a:lstStyle/>
                    <a:p>
                      <a:pPr algn="l" indent="0" marL="0">
                        <a:buNone/>
                      </a:pPr>
                      <a:r>
                        <a:rPr lang="en-US" sz="1100" b="1" dirty="0">
                          <a:solidFill>
                            <a:srgbClr val="12304D"/>
                          </a:solidFill>
                          <a:latin typeface="Arial" pitchFamily="34" charset="0"/>
                          <a:ea typeface="맑은 고딕" pitchFamily="34" charset="-122"/>
                          <a:cs typeface="Arial" pitchFamily="34" charset="-120"/>
                        </a:rPr>
                        <a:t>최고기온(℃)</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100" b="1" dirty="0">
                          <a:solidFill>
                            <a:srgbClr val="12304D"/>
                          </a:solidFill>
                          <a:latin typeface="Arial" pitchFamily="34" charset="0"/>
                          <a:ea typeface="맑은 고딕" pitchFamily="34" charset="-122"/>
                          <a:cs typeface="Arial" pitchFamily="34" charset="-120"/>
                        </a:rPr>
                        <a:t>15.04</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7D9B9"/>
                    </a:solidFill>
                  </a:tcPr>
                </a:tc>
                <a:tc>
                  <a:txBody>
                    <a:bodyPr/>
                    <a:lstStyle/>
                    <a:p>
                      <a:pPr algn="r" indent="0" marL="0">
                        <a:buNone/>
                      </a:pPr>
                      <a:r>
                        <a:rPr lang="en-US" sz="1100" dirty="0">
                          <a:solidFill>
                            <a:srgbClr val="12304D"/>
                          </a:solidFill>
                          <a:latin typeface="Arial" pitchFamily="34" charset="0"/>
                          <a:ea typeface="맑은 고딕" pitchFamily="34" charset="-122"/>
                          <a:cs typeface="Arial" pitchFamily="34" charset="-120"/>
                        </a:rPr>
                        <a:t>1.52</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100" dirty="0">
                          <a:solidFill>
                            <a:srgbClr val="12304D"/>
                          </a:solidFill>
                          <a:latin typeface="Arial" pitchFamily="34" charset="0"/>
                          <a:ea typeface="맑은 고딕" pitchFamily="34" charset="-122"/>
                          <a:cs typeface="Arial" pitchFamily="34" charset="-120"/>
                        </a:rPr>
                        <a:t>9.91</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100" b="1" dirty="0">
                          <a:solidFill>
                            <a:srgbClr val="12304D"/>
                          </a:solidFill>
                          <a:latin typeface="Arial" pitchFamily="34" charset="0"/>
                          <a:ea typeface="맑은 고딕" pitchFamily="34" charset="-122"/>
                          <a:cs typeface="Arial" pitchFamily="34" charset="-120"/>
                        </a:rPr>
                        <a:t>1.17E-10</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7D9B9"/>
                    </a:solidFill>
                  </a:tcPr>
                </a:tc>
              </a:tr>
            </a:tbl>
          </a:graphicData>
        </a:graphic>
      </p:graphicFrame>
      <p:sp>
        <p:nvSpPr>
          <p:cNvPr id="8" name="Text 4"/>
          <p:cNvSpPr txBox="1"/>
          <p:nvPr/>
        </p:nvSpPr>
        <p:spPr>
          <a:xfrm>
            <a:off x="3749040" y="3310128"/>
            <a:ext cx="3977640" cy="256032"/>
          </a:xfrm>
          <a:prstGeom prst="rect">
            <a:avLst/>
          </a:prstGeom>
          <a:noFill/>
          <a:ln/>
        </p:spPr>
        <p:txBody>
          <a:bodyPr wrap="square" lIns="0" tIns="0" rIns="0" bIns="0" rtlCol="0" anchor="t"/>
          <a:lstStyle/>
          <a:p>
            <a:pPr indent="0" marL="0">
              <a:lnSpc>
                <a:spcPts val="1540"/>
              </a:lnSpc>
              <a:buNone/>
            </a:pPr>
            <a:r>
              <a:rPr lang="en-US" sz="1100" dirty="0">
                <a:solidFill>
                  <a:srgbClr val="5E6977"/>
                </a:solidFill>
                <a:latin typeface="Arial" pitchFamily="34" charset="0"/>
                <a:ea typeface="맑은 고딕" pitchFamily="34" charset="-122"/>
                <a:cs typeface="Arial" pitchFamily="34" charset="-120"/>
              </a:rPr>
              <a:t>엑셀 ‘회귀 분석’ 출력 중 일부 · 1.17E-10 = 0.000000000117</a:t>
            </a:r>
            <a:endParaRPr lang="en-US" sz="1100" dirty="0"/>
          </a:p>
        </p:txBody>
      </p:sp>
      <p:sp>
        <p:nvSpPr>
          <p:cNvPr id="9" name="Shape 5"/>
          <p:cNvSpPr/>
          <p:nvPr/>
        </p:nvSpPr>
        <p:spPr>
          <a:xfrm>
            <a:off x="7955280" y="1828800"/>
            <a:ext cx="3429000" cy="877824"/>
          </a:xfrm>
          <a:prstGeom prst="roundRect">
            <a:avLst>
              <a:gd name="adj" fmla="val 12500"/>
            </a:avLst>
          </a:prstGeom>
          <a:solidFill>
            <a:srgbClr val="FCFCFA"/>
          </a:solidFill>
          <a:ln w="9525">
            <a:solidFill>
              <a:srgbClr val="D9DDE1"/>
            </a:solidFill>
            <a:prstDash val="solid"/>
          </a:ln>
        </p:spPr>
      </p:sp>
      <p:sp>
        <p:nvSpPr>
          <p:cNvPr id="10" name="Text 6"/>
          <p:cNvSpPr txBox="1"/>
          <p:nvPr/>
        </p:nvSpPr>
        <p:spPr>
          <a:xfrm>
            <a:off x="8138160" y="1947672"/>
            <a:ext cx="3108960" cy="274320"/>
          </a:xfrm>
          <a:prstGeom prst="rect">
            <a:avLst/>
          </a:prstGeom>
          <a:noFill/>
          <a:ln/>
        </p:spPr>
        <p:txBody>
          <a:bodyPr wrap="square" lIns="0" tIns="0" rIns="0" bIns="0" rtlCol="0" anchor="t"/>
          <a:lstStyle/>
          <a:p>
            <a:pPr indent="0" marL="0">
              <a:lnSpc>
                <a:spcPts val="2100"/>
              </a:lnSpc>
              <a:buNone/>
            </a:pPr>
            <a:r>
              <a:rPr lang="en-US" sz="1500" b="1" dirty="0">
                <a:solidFill>
                  <a:srgbClr val="1F6F78"/>
                </a:solidFill>
                <a:latin typeface="Arial" pitchFamily="34" charset="0"/>
                <a:ea typeface="맑은 고딕" pitchFamily="34" charset="-122"/>
                <a:cs typeface="Arial" pitchFamily="34" charset="-120"/>
              </a:rPr>
              <a:t>① </a:t>
            </a:r>
            <a:pPr indent="0" marL="0">
              <a:lnSpc>
                <a:spcPts val="2100"/>
              </a:lnSpc>
              <a:buNone/>
            </a:pPr>
            <a:r>
              <a:rPr lang="en-US" sz="1500" b="1" dirty="0">
                <a:solidFill>
                  <a:srgbClr val="12304D"/>
                </a:solidFill>
                <a:latin typeface="Arial" pitchFamily="34" charset="0"/>
                <a:ea typeface="맑은 고딕" pitchFamily="34" charset="-122"/>
                <a:cs typeface="Arial" pitchFamily="34" charset="-120"/>
              </a:rPr>
              <a:t>결정계수 0.78</a:t>
            </a:r>
            <a:endParaRPr lang="en-US" sz="1500" dirty="0"/>
          </a:p>
        </p:txBody>
      </p:sp>
      <p:sp>
        <p:nvSpPr>
          <p:cNvPr id="11" name="Text 7"/>
          <p:cNvSpPr txBox="1"/>
          <p:nvPr/>
        </p:nvSpPr>
        <p:spPr>
          <a:xfrm>
            <a:off x="8138160" y="2249424"/>
            <a:ext cx="3154680" cy="365760"/>
          </a:xfrm>
          <a:prstGeom prst="rect">
            <a:avLst/>
          </a:prstGeom>
          <a:noFill/>
          <a:ln/>
        </p:spPr>
        <p:txBody>
          <a:bodyPr wrap="square" lIns="0" tIns="0" rIns="0" bIns="0" rtlCol="0" anchor="t"/>
          <a:lstStyle/>
          <a:p>
            <a:pPr indent="0" marL="0">
              <a:lnSpc>
                <a:spcPts val="1680"/>
              </a:lnSpc>
              <a:buNone/>
            </a:pPr>
            <a:r>
              <a:rPr lang="en-US" sz="1200" dirty="0">
                <a:solidFill>
                  <a:srgbClr val="3D4A57"/>
                </a:solidFill>
                <a:latin typeface="Arial" pitchFamily="34" charset="0"/>
                <a:ea typeface="맑은 고딕" pitchFamily="34" charset="-122"/>
                <a:cs typeface="Arial" pitchFamily="34" charset="-120"/>
              </a:rPr>
              <a:t>판매량 변동의 78%를 기온으로 설명</a:t>
            </a:r>
            <a:endParaRPr lang="en-US" sz="1200" dirty="0"/>
          </a:p>
        </p:txBody>
      </p:sp>
      <p:sp>
        <p:nvSpPr>
          <p:cNvPr id="12" name="Shape 8"/>
          <p:cNvSpPr/>
          <p:nvPr/>
        </p:nvSpPr>
        <p:spPr>
          <a:xfrm>
            <a:off x="7955280" y="2816352"/>
            <a:ext cx="3429000" cy="877824"/>
          </a:xfrm>
          <a:prstGeom prst="roundRect">
            <a:avLst>
              <a:gd name="adj" fmla="val 12500"/>
            </a:avLst>
          </a:prstGeom>
          <a:solidFill>
            <a:srgbClr val="FCFCFA"/>
          </a:solidFill>
          <a:ln w="9525">
            <a:solidFill>
              <a:srgbClr val="D9DDE1"/>
            </a:solidFill>
            <a:prstDash val="solid"/>
          </a:ln>
        </p:spPr>
      </p:sp>
      <p:sp>
        <p:nvSpPr>
          <p:cNvPr id="13" name="Text 9"/>
          <p:cNvSpPr txBox="1"/>
          <p:nvPr/>
        </p:nvSpPr>
        <p:spPr>
          <a:xfrm>
            <a:off x="8138160" y="2935224"/>
            <a:ext cx="3108960" cy="274320"/>
          </a:xfrm>
          <a:prstGeom prst="rect">
            <a:avLst/>
          </a:prstGeom>
          <a:noFill/>
          <a:ln/>
        </p:spPr>
        <p:txBody>
          <a:bodyPr wrap="square" lIns="0" tIns="0" rIns="0" bIns="0" rtlCol="0" anchor="t"/>
          <a:lstStyle/>
          <a:p>
            <a:pPr indent="0" marL="0">
              <a:lnSpc>
                <a:spcPts val="2100"/>
              </a:lnSpc>
              <a:buNone/>
            </a:pPr>
            <a:r>
              <a:rPr lang="en-US" sz="1500" b="1" dirty="0">
                <a:solidFill>
                  <a:srgbClr val="1F6F78"/>
                </a:solidFill>
                <a:latin typeface="Arial" pitchFamily="34" charset="0"/>
                <a:ea typeface="맑은 고딕" pitchFamily="34" charset="-122"/>
                <a:cs typeface="Arial" pitchFamily="34" charset="-120"/>
              </a:rPr>
              <a:t>② </a:t>
            </a:r>
            <a:pPr indent="0" marL="0">
              <a:lnSpc>
                <a:spcPts val="2100"/>
              </a:lnSpc>
              <a:buNone/>
            </a:pPr>
            <a:r>
              <a:rPr lang="en-US" sz="1500" b="1" dirty="0">
                <a:solidFill>
                  <a:srgbClr val="12304D"/>
                </a:solidFill>
                <a:latin typeface="Arial" pitchFamily="34" charset="0"/>
                <a:ea typeface="맑은 고딕" pitchFamily="34" charset="-122"/>
                <a:cs typeface="Arial" pitchFamily="34" charset="-120"/>
              </a:rPr>
              <a:t>계수 15.04</a:t>
            </a:r>
            <a:endParaRPr lang="en-US" sz="1500" dirty="0"/>
          </a:p>
        </p:txBody>
      </p:sp>
      <p:sp>
        <p:nvSpPr>
          <p:cNvPr id="14" name="Text 10"/>
          <p:cNvSpPr txBox="1"/>
          <p:nvPr/>
        </p:nvSpPr>
        <p:spPr>
          <a:xfrm>
            <a:off x="8138160" y="3236976"/>
            <a:ext cx="3154680" cy="365760"/>
          </a:xfrm>
          <a:prstGeom prst="rect">
            <a:avLst/>
          </a:prstGeom>
          <a:noFill/>
          <a:ln/>
        </p:spPr>
        <p:txBody>
          <a:bodyPr wrap="square" lIns="0" tIns="0" rIns="0" bIns="0" rtlCol="0" anchor="t"/>
          <a:lstStyle/>
          <a:p>
            <a:pPr indent="0" marL="0">
              <a:lnSpc>
                <a:spcPts val="1680"/>
              </a:lnSpc>
              <a:buNone/>
            </a:pPr>
            <a:r>
              <a:rPr lang="en-US" sz="1200" dirty="0">
                <a:solidFill>
                  <a:srgbClr val="3D4A57"/>
                </a:solidFill>
                <a:latin typeface="Arial" pitchFamily="34" charset="0"/>
                <a:ea typeface="맑은 고딕" pitchFamily="34" charset="-122"/>
                <a:cs typeface="Arial" pitchFamily="34" charset="-120"/>
              </a:rPr>
              <a:t>최고기온 1℃ ↑ → 아이스음료 약 15잔 ↑</a:t>
            </a:r>
            <a:endParaRPr lang="en-US" sz="1200" dirty="0"/>
          </a:p>
        </p:txBody>
      </p:sp>
      <p:sp>
        <p:nvSpPr>
          <p:cNvPr id="15" name="Shape 11"/>
          <p:cNvSpPr/>
          <p:nvPr/>
        </p:nvSpPr>
        <p:spPr>
          <a:xfrm>
            <a:off x="7955280" y="3803904"/>
            <a:ext cx="3429000" cy="877824"/>
          </a:xfrm>
          <a:prstGeom prst="roundRect">
            <a:avLst>
              <a:gd name="adj" fmla="val 12500"/>
            </a:avLst>
          </a:prstGeom>
          <a:solidFill>
            <a:srgbClr val="FCFCFA"/>
          </a:solidFill>
          <a:ln w="9525">
            <a:solidFill>
              <a:srgbClr val="D9DDE1"/>
            </a:solidFill>
            <a:prstDash val="solid"/>
          </a:ln>
        </p:spPr>
      </p:sp>
      <p:sp>
        <p:nvSpPr>
          <p:cNvPr id="16" name="Text 12"/>
          <p:cNvSpPr txBox="1"/>
          <p:nvPr/>
        </p:nvSpPr>
        <p:spPr>
          <a:xfrm>
            <a:off x="8138160" y="3922776"/>
            <a:ext cx="3108960" cy="274320"/>
          </a:xfrm>
          <a:prstGeom prst="rect">
            <a:avLst/>
          </a:prstGeom>
          <a:noFill/>
          <a:ln/>
        </p:spPr>
        <p:txBody>
          <a:bodyPr wrap="square" lIns="0" tIns="0" rIns="0" bIns="0" rtlCol="0" anchor="t"/>
          <a:lstStyle/>
          <a:p>
            <a:pPr indent="0" marL="0">
              <a:lnSpc>
                <a:spcPts val="2100"/>
              </a:lnSpc>
              <a:buNone/>
            </a:pPr>
            <a:r>
              <a:rPr lang="en-US" sz="1500" b="1" dirty="0">
                <a:solidFill>
                  <a:srgbClr val="1F6F78"/>
                </a:solidFill>
                <a:latin typeface="Arial" pitchFamily="34" charset="0"/>
                <a:ea typeface="맑은 고딕" pitchFamily="34" charset="-122"/>
                <a:cs typeface="Arial" pitchFamily="34" charset="-120"/>
              </a:rPr>
              <a:t>③ </a:t>
            </a:r>
            <a:pPr indent="0" marL="0">
              <a:lnSpc>
                <a:spcPts val="2100"/>
              </a:lnSpc>
              <a:buNone/>
            </a:pPr>
            <a:r>
              <a:rPr lang="en-US" sz="1500" b="1" dirty="0">
                <a:solidFill>
                  <a:srgbClr val="12304D"/>
                </a:solidFill>
                <a:latin typeface="Arial" pitchFamily="34" charset="0"/>
                <a:ea typeface="맑은 고딕" pitchFamily="34" charset="-122"/>
                <a:cs typeface="Arial" pitchFamily="34" charset="-120"/>
              </a:rPr>
              <a:t>P-값 &lt; 0.05</a:t>
            </a:r>
            <a:endParaRPr lang="en-US" sz="1500" dirty="0"/>
          </a:p>
        </p:txBody>
      </p:sp>
      <p:sp>
        <p:nvSpPr>
          <p:cNvPr id="17" name="Text 13"/>
          <p:cNvSpPr txBox="1"/>
          <p:nvPr/>
        </p:nvSpPr>
        <p:spPr>
          <a:xfrm>
            <a:off x="8138160" y="4224528"/>
            <a:ext cx="3154680" cy="365760"/>
          </a:xfrm>
          <a:prstGeom prst="rect">
            <a:avLst/>
          </a:prstGeom>
          <a:noFill/>
          <a:ln/>
        </p:spPr>
        <p:txBody>
          <a:bodyPr wrap="square" lIns="0" tIns="0" rIns="0" bIns="0" rtlCol="0" anchor="t"/>
          <a:lstStyle/>
          <a:p>
            <a:pPr indent="0" marL="0">
              <a:lnSpc>
                <a:spcPts val="1680"/>
              </a:lnSpc>
              <a:buNone/>
            </a:pPr>
            <a:r>
              <a:rPr lang="en-US" sz="1200" dirty="0">
                <a:solidFill>
                  <a:srgbClr val="3D4A57"/>
                </a:solidFill>
                <a:latin typeface="Arial" pitchFamily="34" charset="0"/>
                <a:ea typeface="맑은 고딕" pitchFamily="34" charset="-122"/>
                <a:cs typeface="Arial" pitchFamily="34" charset="-120"/>
              </a:rPr>
              <a:t>우연이라 보기 어려운 관계 (유의함)</a:t>
            </a:r>
            <a:endParaRPr lang="en-US" sz="1200" dirty="0"/>
          </a:p>
        </p:txBody>
      </p:sp>
      <p:sp>
        <p:nvSpPr>
          <p:cNvPr id="18" name="Shape 14"/>
          <p:cNvSpPr/>
          <p:nvPr/>
        </p:nvSpPr>
        <p:spPr>
          <a:xfrm>
            <a:off x="813816" y="3840480"/>
            <a:ext cx="6912864" cy="822960"/>
          </a:xfrm>
          <a:prstGeom prst="roundRect">
            <a:avLst>
              <a:gd name="adj" fmla="val 13333"/>
            </a:avLst>
          </a:prstGeom>
          <a:solidFill>
            <a:srgbClr val="FCFCFA"/>
          </a:solidFill>
          <a:ln w="9525">
            <a:solidFill>
              <a:srgbClr val="D9DDE1"/>
            </a:solidFill>
            <a:prstDash val="solid"/>
          </a:ln>
        </p:spPr>
      </p:sp>
      <p:sp>
        <p:nvSpPr>
          <p:cNvPr id="19" name="Text 15"/>
          <p:cNvSpPr txBox="1"/>
          <p:nvPr/>
        </p:nvSpPr>
        <p:spPr>
          <a:xfrm>
            <a:off x="1024128" y="3977640"/>
            <a:ext cx="6583680" cy="594360"/>
          </a:xfrm>
          <a:prstGeom prst="rect">
            <a:avLst/>
          </a:prstGeom>
          <a:noFill/>
          <a:ln/>
        </p:spPr>
        <p:txBody>
          <a:bodyPr wrap="square" lIns="0" tIns="0" rIns="0" bIns="0" rtlCol="0" anchor="t"/>
          <a:lstStyle/>
          <a:p>
            <a:pPr indent="0" marL="0">
              <a:lnSpc>
                <a:spcPts val="1820"/>
              </a:lnSpc>
              <a:buNone/>
            </a:pPr>
            <a:r>
              <a:rPr lang="en-US" sz="1300" b="1" dirty="0">
                <a:solidFill>
                  <a:srgbClr val="12304D"/>
                </a:solidFill>
                <a:latin typeface="Arial" pitchFamily="34" charset="0"/>
                <a:ea typeface="맑은 고딕" pitchFamily="34" charset="-122"/>
                <a:cs typeface="Arial" pitchFamily="34" charset="-120"/>
              </a:rPr>
              <a:t>예측하기</a:t>
            </a:r>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　내일 최고기온 28℃ 예보 → 15.04 × 28 − 209.6 ≈ </a:t>
            </a:r>
            <a:pPr indent="0" marL="0">
              <a:lnSpc>
                <a:spcPts val="1820"/>
              </a:lnSpc>
              <a:buNone/>
            </a:pPr>
            <a:r>
              <a:rPr lang="en-US" sz="1300" b="1" dirty="0">
                <a:solidFill>
                  <a:srgbClr val="A64F16"/>
                </a:solidFill>
                <a:latin typeface="Arial" pitchFamily="34" charset="0"/>
                <a:ea typeface="맑은 고딕" pitchFamily="34" charset="-122"/>
                <a:cs typeface="Arial" pitchFamily="34" charset="-120"/>
              </a:rPr>
              <a:t>211잔</a:t>
            </a:r>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 준비</a:t>
            </a:r>
            <a:endParaRPr lang="en-US" sz="1300" dirty="0"/>
          </a:p>
          <a:p>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표준 오차 17.5 → 실제 판매는 예측과 보통 ±18잔 정도 차이</a:t>
            </a:r>
            <a:endParaRPr lang="en-US" sz="1300" dirty="0"/>
          </a:p>
        </p:txBody>
      </p:sp>
      <p:sp>
        <p:nvSpPr>
          <p:cNvPr id="20" name="Shape 16"/>
          <p:cNvSpPr/>
          <p:nvPr/>
        </p:nvSpPr>
        <p:spPr>
          <a:xfrm>
            <a:off x="813816" y="4892040"/>
            <a:ext cx="10570464" cy="621792"/>
          </a:xfrm>
          <a:prstGeom prst="roundRect">
            <a:avLst>
              <a:gd name="adj" fmla="val 14706"/>
            </a:avLst>
          </a:prstGeom>
          <a:solidFill>
            <a:srgbClr val="12304D"/>
          </a:solidFill>
          <a:ln/>
        </p:spPr>
      </p:sp>
      <p:sp>
        <p:nvSpPr>
          <p:cNvPr id="21" name="Text 17"/>
          <p:cNvSpPr txBox="1"/>
          <p:nvPr/>
        </p:nvSpPr>
        <p:spPr>
          <a:xfrm>
            <a:off x="1024128" y="5056632"/>
            <a:ext cx="10149840" cy="292608"/>
          </a:xfrm>
          <a:prstGeom prst="rect">
            <a:avLst/>
          </a:prstGeom>
          <a:noFill/>
          <a:ln/>
        </p:spPr>
        <p:txBody>
          <a:bodyPr wrap="square" lIns="0" tIns="0" rIns="0" bIns="0" rtlCol="0" anchor="t"/>
          <a:lstStyle/>
          <a:p>
            <a:pPr indent="0" marL="0">
              <a:lnSpc>
                <a:spcPts val="2100"/>
              </a:lnSpc>
              <a:buNone/>
            </a:pPr>
            <a:r>
              <a:rPr lang="en-US" sz="1500" dirty="0">
                <a:solidFill>
                  <a:srgbClr val="F5F4EF"/>
                </a:solidFill>
                <a:latin typeface="Arial" pitchFamily="34" charset="0"/>
                <a:ea typeface="맑은 고딕" pitchFamily="34" charset="-122"/>
                <a:cs typeface="Arial" pitchFamily="34" charset="-120"/>
              </a:rPr>
              <a:t>믿을 수 있는 범위 · </a:t>
            </a:r>
            <a:pPr indent="0" marL="0">
              <a:lnSpc>
                <a:spcPts val="2100"/>
              </a:lnSpc>
              <a:buNone/>
            </a:pPr>
            <a:r>
              <a:rPr lang="en-US" sz="1500" b="1" dirty="0">
                <a:solidFill>
                  <a:srgbClr val="F2A65A"/>
                </a:solidFill>
                <a:latin typeface="Arial" pitchFamily="34" charset="0"/>
                <a:ea typeface="맑은 고딕" pitchFamily="34" charset="-122"/>
                <a:cs typeface="Arial" pitchFamily="34" charset="-120"/>
              </a:rPr>
              <a:t>관측한 기온 23.5~31.5℃ 안에서만</a:t>
            </a:r>
            <a:pPr indent="0" marL="0">
              <a:lnSpc>
                <a:spcPts val="2100"/>
              </a:lnSpc>
              <a:buNone/>
            </a:pPr>
            <a:r>
              <a:rPr lang="en-US" sz="1500" dirty="0">
                <a:solidFill>
                  <a:srgbClr val="F5F4EF"/>
                </a:solidFill>
                <a:latin typeface="Arial" pitchFamily="34" charset="0"/>
                <a:ea typeface="맑은 고딕" pitchFamily="34" charset="-122"/>
                <a:cs typeface="Arial" pitchFamily="34" charset="-120"/>
              </a:rPr>
              <a:t> 예측합니다. 40℃나 0℃처럼 범위 밖은 식이 맞지 않습니다.</a:t>
            </a:r>
            <a:endParaRPr lang="en-US" sz="1500" dirty="0"/>
          </a:p>
        </p:txBody>
      </p:sp>
      <p:sp>
        <p:nvSpPr>
          <p:cNvPr id="22" name="Text 18"/>
          <p:cNvSpPr txBox="1"/>
          <p:nvPr/>
        </p:nvSpPr>
        <p:spPr>
          <a:xfrm>
            <a:off x="813816" y="6236208"/>
            <a:ext cx="10881360" cy="237744"/>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생성형 AI 실무 활용 · 1일차 · 강사 시연용 가상 데이터</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4E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한 걸음 더 · 다중회귀</a:t>
            </a:r>
            <a:endParaRPr lang="en-US" sz="1400" dirty="0"/>
          </a:p>
        </p:txBody>
      </p:sp>
      <p:sp>
        <p:nvSpPr>
          <p:cNvPr id="3" name="Title"/>
          <p:cNvSpPr/>
          <p:nvPr>
            <p:ph type="title"/>
          </p:nvPr>
        </p:nvSpPr>
        <p:spPr>
          <a:xfrm>
            <a:off x="813816" y="1133856"/>
            <a:ext cx="10881360" cy="493776"/>
          </a:xfrm>
          <a:prstGeom prst="rect">
            <a:avLst/>
          </a:prstGeom>
          <a:noFill/>
          <a:ln/>
        </p:spPr>
        <p:txBody>
          <a:bodyPr wrap="square" lIns="0" tIns="0" rIns="0" bIns="0" rtlCol="0" anchor="t"/>
          <a:lstStyle/>
          <a:p>
            <a:pPr indent="0" marL="0">
              <a:lnSpc>
                <a:spcPts val="4480"/>
              </a:lnSpc>
              <a:buNone/>
            </a:pPr>
            <a:r>
              <a:rPr lang="en-US" sz="3200" b="1" dirty="0">
                <a:solidFill>
                  <a:srgbClr val="12304D"/>
                </a:solidFill>
                <a:latin typeface="Arial" pitchFamily="34" charset="0"/>
                <a:ea typeface="맑은 고딕" pitchFamily="34" charset="-122"/>
                <a:cs typeface="Arial" pitchFamily="34" charset="-120"/>
              </a:rPr>
              <a:t>방문객 수에는 무엇이 가장 크게 영향을 줄까</a:t>
            </a:r>
            <a:endParaRPr lang="en-US" sz="3200" dirty="0"/>
          </a:p>
        </p:txBody>
      </p:sp>
      <p:sp>
        <p:nvSpPr>
          <p:cNvPr id="4" name="Text 2"/>
          <p:cNvSpPr txBox="1"/>
          <p:nvPr/>
        </p:nvSpPr>
        <p:spPr>
          <a:xfrm>
            <a:off x="813816" y="1828800"/>
            <a:ext cx="10515600" cy="274320"/>
          </a:xfrm>
          <a:prstGeom prst="rect">
            <a:avLst/>
          </a:prstGeom>
          <a:noFill/>
          <a:ln/>
        </p:spPr>
        <p:txBody>
          <a:bodyPr wrap="square" lIns="0" tIns="0" rIns="0" bIns="0" rtlCol="0" anchor="t"/>
          <a:lstStyle/>
          <a:p>
            <a:pPr indent="0" marL="0">
              <a:lnSpc>
                <a:spcPts val="1820"/>
              </a:lnSpc>
              <a:buNone/>
            </a:pPr>
            <a:r>
              <a:rPr lang="en-US" sz="1300" b="1" dirty="0">
                <a:solidFill>
                  <a:srgbClr val="12304D"/>
                </a:solidFill>
                <a:latin typeface="Arial" pitchFamily="34" charset="0"/>
                <a:ea typeface="맑은 고딕" pitchFamily="34" charset="-122"/>
                <a:cs typeface="Arial" pitchFamily="34" charset="-120"/>
              </a:rPr>
              <a:t>회귀 분석 설정</a:t>
            </a:r>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　Y축 F1:F31(방문객수) · X축 </a:t>
            </a:r>
            <a:pPr indent="0" marL="0">
              <a:lnSpc>
                <a:spcPts val="1820"/>
              </a:lnSpc>
              <a:buNone/>
            </a:pPr>
            <a:r>
              <a:rPr lang="en-US" sz="1300" b="1" dirty="0">
                <a:solidFill>
                  <a:srgbClr val="A64F16"/>
                </a:solidFill>
                <a:latin typeface="Arial" pitchFamily="34" charset="0"/>
                <a:ea typeface="맑은 고딕" pitchFamily="34" charset="-122"/>
                <a:cs typeface="Arial" pitchFamily="34" charset="-120"/>
              </a:rPr>
              <a:t>C1:E31</a:t>
            </a:r>
            <a:pPr indent="0" marL="0">
              <a:lnSpc>
                <a:spcPts val="1820"/>
              </a:lnSpc>
              <a:buNone/>
            </a:pPr>
            <a:r>
              <a:rPr lang="en-US" sz="1300" dirty="0">
                <a:solidFill>
                  <a:srgbClr val="3D4A57"/>
                </a:solidFill>
                <a:latin typeface="Arial" pitchFamily="34" charset="0"/>
                <a:ea typeface="맑은 고딕" pitchFamily="34" charset="-122"/>
                <a:cs typeface="Arial" pitchFamily="34" charset="-120"/>
              </a:rPr>
              <a:t> (주말·최고기온·강수량 — 붙어 있는 세 열)</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13816" y="2267712"/>
          <a:ext cx="6675120" cy="914400"/>
        </p:xfrm>
        <a:graphic>
          <a:graphicData uri="http://schemas.openxmlformats.org/drawingml/2006/table">
            <a:tbl>
              <a:tblPr/>
              <a:tblGrid>
                <a:gridCol w="1463040"/>
                <a:gridCol w="914400"/>
                <a:gridCol w="1005840"/>
                <a:gridCol w="3291840"/>
              </a:tblGrid>
              <a:tr h="420624">
                <a:tc>
                  <a:txBody>
                    <a:bodyPr/>
                    <a:lstStyle/>
                    <a:p>
                      <a:pPr algn="l" indent="0" marL="0">
                        <a:buNone/>
                      </a:pPr>
                      <a:r>
                        <a:rPr lang="en-US" sz="1300" b="1" dirty="0">
                          <a:solidFill>
                            <a:srgbClr val="F5F4EF"/>
                          </a:solidFill>
                          <a:latin typeface="Arial" pitchFamily="34" charset="0"/>
                          <a:ea typeface="맑은 고딕" pitchFamily="34" charset="-122"/>
                          <a:cs typeface="Arial" pitchFamily="34" charset="-120"/>
                        </a:rPr>
                        <a:t>변수</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r" indent="0" marL="0">
                        <a:buNone/>
                      </a:pPr>
                      <a:r>
                        <a:rPr lang="en-US" sz="1300" b="1" dirty="0">
                          <a:solidFill>
                            <a:srgbClr val="F5F4EF"/>
                          </a:solidFill>
                          <a:latin typeface="Arial" pitchFamily="34" charset="0"/>
                          <a:ea typeface="맑은 고딕" pitchFamily="34" charset="-122"/>
                          <a:cs typeface="Arial" pitchFamily="34" charset="-120"/>
                        </a:rPr>
                        <a:t>계수</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r" indent="0" marL="0">
                        <a:buNone/>
                      </a:pPr>
                      <a:r>
                        <a:rPr lang="en-US" sz="1300" b="1" dirty="0">
                          <a:solidFill>
                            <a:srgbClr val="F5F4EF"/>
                          </a:solidFill>
                          <a:latin typeface="Arial" pitchFamily="34" charset="0"/>
                          <a:ea typeface="맑은 고딕" pitchFamily="34" charset="-122"/>
                          <a:cs typeface="Arial" pitchFamily="34" charset="-120"/>
                        </a:rPr>
                        <a:t>P-값</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l" indent="0" marL="0">
                        <a:buNone/>
                      </a:pPr>
                      <a:r>
                        <a:rPr lang="en-US" sz="1300" b="1" dirty="0">
                          <a:solidFill>
                            <a:srgbClr val="F5F4EF"/>
                          </a:solidFill>
                          <a:latin typeface="Arial" pitchFamily="34" charset="0"/>
                          <a:ea typeface="맑은 고딕" pitchFamily="34" charset="-122"/>
                          <a:cs typeface="Arial" pitchFamily="34" charset="-120"/>
                        </a:rPr>
                        <a:t>해석</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r>
              <a:tr h="420624">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주말 (1/0)</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300" b="1" dirty="0">
                          <a:solidFill>
                            <a:srgbClr val="12304D"/>
                          </a:solidFill>
                          <a:latin typeface="Arial" pitchFamily="34" charset="0"/>
                          <a:ea typeface="맑은 고딕" pitchFamily="34" charset="-122"/>
                          <a:cs typeface="Arial" pitchFamily="34" charset="-120"/>
                        </a:rPr>
                        <a:t>87.1</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300" dirty="0">
                          <a:solidFill>
                            <a:srgbClr val="12304D"/>
                          </a:solidFill>
                          <a:latin typeface="Arial" pitchFamily="34" charset="0"/>
                          <a:ea typeface="맑은 고딕" pitchFamily="34" charset="-122"/>
                          <a:cs typeface="Arial" pitchFamily="34" charset="-120"/>
                        </a:rPr>
                        <a:t>&lt; 0.001</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주말이면 약 87명 더 방문</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420624">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강수량 (mm)</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300" b="1" dirty="0">
                          <a:solidFill>
                            <a:srgbClr val="12304D"/>
                          </a:solidFill>
                          <a:latin typeface="Arial" pitchFamily="34" charset="0"/>
                          <a:ea typeface="맑은 고딕" pitchFamily="34" charset="-122"/>
                          <a:cs typeface="Arial" pitchFamily="34" charset="-120"/>
                        </a:rPr>
                        <a:t>−2.84</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300" dirty="0">
                          <a:solidFill>
                            <a:srgbClr val="12304D"/>
                          </a:solidFill>
                          <a:latin typeface="Arial" pitchFamily="34" charset="0"/>
                          <a:ea typeface="맑은 고딕" pitchFamily="34" charset="-122"/>
                          <a:cs typeface="Arial" pitchFamily="34" charset="-120"/>
                        </a:rPr>
                        <a:t>&lt; 0.001</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비 10mm당 약 28명 감소</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r>
              <a:tr h="420624">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최고기온 (℃)</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300" dirty="0">
                          <a:solidFill>
                            <a:srgbClr val="12304D"/>
                          </a:solidFill>
                          <a:latin typeface="Arial" pitchFamily="34" charset="0"/>
                          <a:ea typeface="맑은 고딕" pitchFamily="34" charset="-122"/>
                          <a:cs typeface="Arial" pitchFamily="34" charset="-120"/>
                        </a:rPr>
                        <a:t>2.65</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r" indent="0" marL="0">
                        <a:buNone/>
                      </a:pPr>
                      <a:r>
                        <a:rPr lang="en-US" sz="1300" dirty="0">
                          <a:solidFill>
                            <a:srgbClr val="12304D"/>
                          </a:solidFill>
                          <a:latin typeface="Arial" pitchFamily="34" charset="0"/>
                          <a:ea typeface="맑은 고딕" pitchFamily="34" charset="-122"/>
                          <a:cs typeface="Arial" pitchFamily="34" charset="-120"/>
                        </a:rPr>
                        <a:t>0.047</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1℃당 약 3명 · 영향은 작음</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420624">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Y 절편</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r>
                        <a:rPr lang="en-US" sz="1300" dirty="0">
                          <a:solidFill>
                            <a:srgbClr val="12304D"/>
                          </a:solidFill>
                          <a:latin typeface="Arial" pitchFamily="34" charset="0"/>
                          <a:ea typeface="맑은 고딕" pitchFamily="34" charset="-122"/>
                          <a:cs typeface="Arial" pitchFamily="34" charset="-120"/>
                        </a:rPr>
                        <a:t>178.1</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r"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l" indent="0" marL="0">
                        <a:buNone/>
                      </a:pP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r>
            </a:tbl>
          </a:graphicData>
        </a:graphic>
      </p:graphicFrame>
      <p:sp>
        <p:nvSpPr>
          <p:cNvPr id="6" name="Text 3"/>
          <p:cNvSpPr txBox="1"/>
          <p:nvPr/>
        </p:nvSpPr>
        <p:spPr>
          <a:xfrm>
            <a:off x="813816" y="4462272"/>
            <a:ext cx="6675120" cy="256032"/>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결정계수 R² 0.93 · 관측수 30 · 소수 셋째 자리 반올림</a:t>
            </a:r>
            <a:endParaRPr lang="en-US" sz="1200" dirty="0"/>
          </a:p>
        </p:txBody>
      </p:sp>
      <p:sp>
        <p:nvSpPr>
          <p:cNvPr id="7" name="Shape 4"/>
          <p:cNvSpPr/>
          <p:nvPr/>
        </p:nvSpPr>
        <p:spPr>
          <a:xfrm>
            <a:off x="7726680" y="2267712"/>
            <a:ext cx="3657600" cy="2423160"/>
          </a:xfrm>
          <a:prstGeom prst="roundRect">
            <a:avLst>
              <a:gd name="adj" fmla="val 4528"/>
            </a:avLst>
          </a:prstGeom>
          <a:solidFill>
            <a:srgbClr val="FCFCFA"/>
          </a:solidFill>
          <a:ln w="9525">
            <a:solidFill>
              <a:srgbClr val="D9DDE1"/>
            </a:solidFill>
            <a:prstDash val="solid"/>
          </a:ln>
        </p:spPr>
      </p:sp>
      <p:sp>
        <p:nvSpPr>
          <p:cNvPr id="8" name="Text 5"/>
          <p:cNvSpPr txBox="1"/>
          <p:nvPr/>
        </p:nvSpPr>
        <p:spPr>
          <a:xfrm>
            <a:off x="7955280" y="2450592"/>
            <a:ext cx="3291840" cy="274320"/>
          </a:xfrm>
          <a:prstGeom prst="rect">
            <a:avLst/>
          </a:prstGeom>
          <a:noFill/>
          <a:ln/>
        </p:spPr>
        <p:txBody>
          <a:bodyPr wrap="square" lIns="0" tIns="0" rIns="0" bIns="0" rtlCol="0" anchor="t"/>
          <a:lstStyle/>
          <a:p>
            <a:pPr indent="0" marL="0">
              <a:lnSpc>
                <a:spcPts val="1960"/>
              </a:lnSpc>
              <a:buNone/>
            </a:pPr>
            <a:r>
              <a:rPr lang="en-US" sz="1400" b="1" dirty="0">
                <a:solidFill>
                  <a:srgbClr val="12304D"/>
                </a:solidFill>
                <a:latin typeface="Arial" pitchFamily="34" charset="0"/>
                <a:ea typeface="맑은 고딕" pitchFamily="34" charset="-122"/>
                <a:cs typeface="Arial" pitchFamily="34" charset="-120"/>
              </a:rPr>
              <a:t>방문객 수 설명력 (R²)</a:t>
            </a:r>
            <a:endParaRPr lang="en-US" sz="1400" dirty="0"/>
          </a:p>
        </p:txBody>
      </p:sp>
      <p:sp>
        <p:nvSpPr>
          <p:cNvPr id="9" name="Text 6"/>
          <p:cNvSpPr txBox="1"/>
          <p:nvPr/>
        </p:nvSpPr>
        <p:spPr>
          <a:xfrm>
            <a:off x="7955280" y="2834640"/>
            <a:ext cx="3291840" cy="685800"/>
          </a:xfrm>
          <a:prstGeom prst="rect">
            <a:avLst/>
          </a:prstGeom>
          <a:noFill/>
          <a:ln/>
        </p:spPr>
        <p:txBody>
          <a:bodyPr wrap="square" lIns="0" tIns="0" rIns="0" bIns="0" rtlCol="0" anchor="t"/>
          <a:lstStyle/>
          <a:p>
            <a:pPr indent="0" marL="0">
              <a:lnSpc>
                <a:spcPts val="4400"/>
              </a:lnSpc>
              <a:buNone/>
            </a:pPr>
            <a:r>
              <a:rPr lang="en-US" sz="3600" b="1" dirty="0">
                <a:solidFill>
                  <a:srgbClr val="5E6977"/>
                </a:solidFill>
                <a:latin typeface="Arial" pitchFamily="34" charset="0"/>
                <a:ea typeface="맑은 고딕" pitchFamily="34" charset="-122"/>
                <a:cs typeface="Arial" pitchFamily="34" charset="-120"/>
              </a:rPr>
              <a:t>0.03</a:t>
            </a:r>
            <a:pPr indent="0" marL="0">
              <a:lnSpc>
                <a:spcPts val="4400"/>
              </a:lnSpc>
              <a:buNone/>
            </a:pPr>
            <a:r>
              <a:rPr lang="en-US" sz="2000" dirty="0">
                <a:solidFill>
                  <a:srgbClr val="5E6977"/>
                </a:solidFill>
                <a:latin typeface="Arial" pitchFamily="34" charset="0"/>
                <a:ea typeface="맑은 고딕" pitchFamily="34" charset="-122"/>
                <a:cs typeface="Arial" pitchFamily="34" charset="-120"/>
              </a:rPr>
              <a:t>  →  </a:t>
            </a:r>
            <a:pPr indent="0" marL="0">
              <a:lnSpc>
                <a:spcPts val="4400"/>
              </a:lnSpc>
              <a:buNone/>
            </a:pPr>
            <a:r>
              <a:rPr lang="en-US" sz="3600" b="1" dirty="0">
                <a:solidFill>
                  <a:srgbClr val="A64F16"/>
                </a:solidFill>
                <a:latin typeface="Arial" pitchFamily="34" charset="0"/>
                <a:ea typeface="맑은 고딕" pitchFamily="34" charset="-122"/>
                <a:cs typeface="Arial" pitchFamily="34" charset="-120"/>
              </a:rPr>
              <a:t>0.93</a:t>
            </a:r>
            <a:endParaRPr lang="en-US" sz="3600" dirty="0"/>
          </a:p>
        </p:txBody>
      </p:sp>
      <p:sp>
        <p:nvSpPr>
          <p:cNvPr id="10" name="Text 7"/>
          <p:cNvSpPr txBox="1"/>
          <p:nvPr/>
        </p:nvSpPr>
        <p:spPr>
          <a:xfrm>
            <a:off x="7955280" y="3611880"/>
            <a:ext cx="3291840" cy="548640"/>
          </a:xfrm>
          <a:prstGeom prst="rect">
            <a:avLst/>
          </a:prstGeom>
          <a:noFill/>
          <a:ln/>
        </p:spPr>
        <p:txBody>
          <a:bodyPr wrap="square" lIns="0" tIns="0" rIns="0" bIns="0" rtlCol="0" anchor="t"/>
          <a:lstStyle/>
          <a:p>
            <a:pPr indent="0" marL="0">
              <a:lnSpc>
                <a:spcPts val="1680"/>
              </a:lnSpc>
              <a:buNone/>
            </a:pPr>
            <a:r>
              <a:rPr lang="en-US" sz="1200" dirty="0">
                <a:solidFill>
                  <a:srgbClr val="3D4A57"/>
                </a:solidFill>
                <a:latin typeface="Arial" pitchFamily="34" charset="0"/>
                <a:ea typeface="맑은 고딕" pitchFamily="34" charset="-122"/>
                <a:cs typeface="Arial" pitchFamily="34" charset="-120"/>
              </a:rPr>
              <a:t>기온 하나만 넣었을 때 → 주말·비·기온을 함께 넣었을 때</a:t>
            </a:r>
            <a:endParaRPr lang="en-US" sz="1200" dirty="0"/>
          </a:p>
        </p:txBody>
      </p:sp>
      <p:sp>
        <p:nvSpPr>
          <p:cNvPr id="11" name="Shape 8"/>
          <p:cNvSpPr/>
          <p:nvPr/>
        </p:nvSpPr>
        <p:spPr>
          <a:xfrm>
            <a:off x="813816" y="4892040"/>
            <a:ext cx="10570464" cy="621792"/>
          </a:xfrm>
          <a:prstGeom prst="roundRect">
            <a:avLst>
              <a:gd name="adj" fmla="val 14706"/>
            </a:avLst>
          </a:prstGeom>
          <a:solidFill>
            <a:srgbClr val="12304D"/>
          </a:solidFill>
          <a:ln/>
        </p:spPr>
      </p:sp>
      <p:sp>
        <p:nvSpPr>
          <p:cNvPr id="12" name="Text 9"/>
          <p:cNvSpPr txBox="1"/>
          <p:nvPr/>
        </p:nvSpPr>
        <p:spPr>
          <a:xfrm>
            <a:off x="1024128" y="5056632"/>
            <a:ext cx="10149840" cy="292608"/>
          </a:xfrm>
          <a:prstGeom prst="rect">
            <a:avLst/>
          </a:prstGeom>
          <a:noFill/>
          <a:ln/>
        </p:spPr>
        <p:txBody>
          <a:bodyPr wrap="square" lIns="0" tIns="0" rIns="0" bIns="0" rtlCol="0" anchor="t"/>
          <a:lstStyle/>
          <a:p>
            <a:pPr indent="0" marL="0">
              <a:lnSpc>
                <a:spcPts val="2100"/>
              </a:lnSpc>
              <a:buNone/>
            </a:pPr>
            <a:r>
              <a:rPr lang="en-US" sz="1500" dirty="0">
                <a:solidFill>
                  <a:srgbClr val="F5F4EF"/>
                </a:solidFill>
                <a:latin typeface="Arial" pitchFamily="34" charset="0"/>
                <a:ea typeface="맑은 고딕" pitchFamily="34" charset="-122"/>
                <a:cs typeface="Arial" pitchFamily="34" charset="-120"/>
              </a:rPr>
              <a:t>결론 · </a:t>
            </a:r>
            <a:pPr indent="0" marL="0">
              <a:lnSpc>
                <a:spcPts val="2100"/>
              </a:lnSpc>
              <a:buNone/>
            </a:pPr>
            <a:r>
              <a:rPr lang="en-US" sz="1500" b="1" dirty="0">
                <a:solidFill>
                  <a:srgbClr val="F2A65A"/>
                </a:solidFill>
                <a:latin typeface="Arial" pitchFamily="34" charset="0"/>
                <a:ea typeface="맑은 고딕" pitchFamily="34" charset="-122"/>
                <a:cs typeface="Arial" pitchFamily="34" charset="-120"/>
              </a:rPr>
              <a:t>손님 수는 주말과 비가 좌우하고, 기온은 손님이 ‘무엇을 사는지’를 바꿉니다.</a:t>
            </a:r>
            <a:endParaRPr lang="en-US" sz="1500" dirty="0"/>
          </a:p>
        </p:txBody>
      </p:sp>
      <p:sp>
        <p:nvSpPr>
          <p:cNvPr id="13" name="Text 10"/>
          <p:cNvSpPr txBox="1"/>
          <p:nvPr/>
        </p:nvSpPr>
        <p:spPr>
          <a:xfrm>
            <a:off x="813816" y="6236208"/>
            <a:ext cx="10881360" cy="237744"/>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생성형 AI 실무 활용 · 1일차 · 강사 시연용 가상 데이터</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4E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시각화 ① 산점도와 추세선</a:t>
            </a:r>
            <a:endParaRPr lang="en-US" sz="1400" dirty="0"/>
          </a:p>
        </p:txBody>
      </p:sp>
      <p:sp>
        <p:nvSpPr>
          <p:cNvPr id="3" name="Title"/>
          <p:cNvSpPr/>
          <p:nvPr>
            <p:ph type="title"/>
          </p:nvPr>
        </p:nvSpPr>
        <p:spPr>
          <a:xfrm>
            <a:off x="813816" y="1133856"/>
            <a:ext cx="10881360" cy="429768"/>
          </a:xfrm>
          <a:prstGeom prst="rect">
            <a:avLst/>
          </a:prstGeom>
          <a:noFill/>
          <a:ln/>
        </p:spPr>
        <p:txBody>
          <a:bodyPr wrap="square" lIns="0" tIns="0" rIns="0" bIns="0" rtlCol="0" anchor="t"/>
          <a:lstStyle/>
          <a:p>
            <a:pPr indent="0" marL="0">
              <a:lnSpc>
                <a:spcPts val="3920"/>
              </a:lnSpc>
              <a:buNone/>
            </a:pPr>
            <a:r>
              <a:rPr lang="en-US" sz="2800" b="1" dirty="0">
                <a:solidFill>
                  <a:srgbClr val="12304D"/>
                </a:solidFill>
                <a:latin typeface="Arial" pitchFamily="34" charset="0"/>
                <a:ea typeface="맑은 고딕" pitchFamily="34" charset="-122"/>
                <a:cs typeface="Arial" pitchFamily="34" charset="-120"/>
              </a:rPr>
              <a:t>관계는 산점도로, 추세선에 식과 R²를 표시합니다</a:t>
            </a:r>
            <a:endParaRPr lang="en-US" sz="2800" dirty="0"/>
          </a:p>
        </p:txBody>
      </p:sp>
      <p:sp>
        <p:nvSpPr>
          <p:cNvPr id="4" name="Shape 2"/>
          <p:cNvSpPr/>
          <p:nvPr/>
        </p:nvSpPr>
        <p:spPr>
          <a:xfrm>
            <a:off x="813816" y="1810512"/>
            <a:ext cx="6309360" cy="3749040"/>
          </a:xfrm>
          <a:prstGeom prst="roundRect">
            <a:avLst>
              <a:gd name="adj" fmla="val 2927"/>
            </a:avLst>
          </a:prstGeom>
          <a:solidFill>
            <a:srgbClr val="FFFFFF"/>
          </a:solidFill>
          <a:ln w="9525">
            <a:solidFill>
              <a:srgbClr val="D9DDE1"/>
            </a:solidFill>
            <a:prstDash val="solid"/>
          </a:ln>
        </p:spPr>
      </p:sp>
      <p:graphicFrame>
        <p:nvGraphicFramePr>
          <p:cNvPr id="5" name="IceScatter" descr=""/>
          <p:cNvGraphicFramePr/>
          <p:nvPr/>
        </p:nvGraphicFramePr>
        <p:xfrm>
          <a:off x="914400" y="1874520"/>
          <a:ext cx="6126480" cy="36118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360920" y="1810512"/>
            <a:ext cx="4023360" cy="548640"/>
          </a:xfrm>
          <a:prstGeom prst="roundRect">
            <a:avLst>
              <a:gd name="adj" fmla="val 16667"/>
            </a:avLst>
          </a:prstGeom>
          <a:solidFill>
            <a:srgbClr val="FCFCFA"/>
          </a:solidFill>
          <a:ln w="9525">
            <a:solidFill>
              <a:srgbClr val="D9DDE1"/>
            </a:solidFill>
            <a:prstDash val="solid"/>
          </a:ln>
        </p:spPr>
      </p:sp>
      <p:sp>
        <p:nvSpPr>
          <p:cNvPr id="7" name="Text 4"/>
          <p:cNvSpPr txBox="1"/>
          <p:nvPr/>
        </p:nvSpPr>
        <p:spPr>
          <a:xfrm>
            <a:off x="7543800" y="1956816"/>
            <a:ext cx="3749040" cy="274320"/>
          </a:xfrm>
          <a:prstGeom prst="rect">
            <a:avLst/>
          </a:prstGeom>
          <a:noFill/>
          <a:ln/>
        </p:spPr>
        <p:txBody>
          <a:bodyPr wrap="square" lIns="0" tIns="0" rIns="0" bIns="0" rtlCol="0" anchor="t"/>
          <a:lstStyle/>
          <a:p>
            <a:pPr indent="0" marL="0">
              <a:lnSpc>
                <a:spcPts val="1820"/>
              </a:lnSpc>
              <a:buNone/>
            </a:pPr>
            <a:r>
              <a:rPr lang="en-US" sz="1300" b="1" dirty="0">
                <a:solidFill>
                  <a:srgbClr val="1F6F78"/>
                </a:solidFill>
                <a:latin typeface="Arial" pitchFamily="34" charset="0"/>
                <a:ea typeface="맑은 고딕" pitchFamily="34" charset="-122"/>
                <a:cs typeface="Arial" pitchFamily="34" charset="-120"/>
              </a:rPr>
              <a:t>①  </a:t>
            </a:r>
            <a:pPr indent="0" marL="0">
              <a:lnSpc>
                <a:spcPts val="1820"/>
              </a:lnSpc>
              <a:buNone/>
            </a:pPr>
            <a:r>
              <a:rPr lang="en-US" sz="1300" dirty="0">
                <a:solidFill>
                  <a:srgbClr val="12304D"/>
                </a:solidFill>
                <a:latin typeface="Arial" pitchFamily="34" charset="0"/>
                <a:ea typeface="맑은 고딕" pitchFamily="34" charset="-122"/>
                <a:cs typeface="Arial" pitchFamily="34" charset="-120"/>
              </a:rPr>
              <a:t>D열과 G열 함께 선택 (Ctrl + 클릭)</a:t>
            </a:r>
            <a:endParaRPr lang="en-US" sz="1300" dirty="0"/>
          </a:p>
        </p:txBody>
      </p:sp>
      <p:sp>
        <p:nvSpPr>
          <p:cNvPr id="8" name="Shape 5"/>
          <p:cNvSpPr/>
          <p:nvPr/>
        </p:nvSpPr>
        <p:spPr>
          <a:xfrm>
            <a:off x="7360920" y="2487168"/>
            <a:ext cx="4023360" cy="548640"/>
          </a:xfrm>
          <a:prstGeom prst="roundRect">
            <a:avLst>
              <a:gd name="adj" fmla="val 16667"/>
            </a:avLst>
          </a:prstGeom>
          <a:solidFill>
            <a:srgbClr val="FCFCFA"/>
          </a:solidFill>
          <a:ln w="9525">
            <a:solidFill>
              <a:srgbClr val="D9DDE1"/>
            </a:solidFill>
            <a:prstDash val="solid"/>
          </a:ln>
        </p:spPr>
      </p:sp>
      <p:sp>
        <p:nvSpPr>
          <p:cNvPr id="9" name="Text 6"/>
          <p:cNvSpPr txBox="1"/>
          <p:nvPr/>
        </p:nvSpPr>
        <p:spPr>
          <a:xfrm>
            <a:off x="7543800" y="2633472"/>
            <a:ext cx="3749040" cy="274320"/>
          </a:xfrm>
          <a:prstGeom prst="rect">
            <a:avLst/>
          </a:prstGeom>
          <a:noFill/>
          <a:ln/>
        </p:spPr>
        <p:txBody>
          <a:bodyPr wrap="square" lIns="0" tIns="0" rIns="0" bIns="0" rtlCol="0" anchor="t"/>
          <a:lstStyle/>
          <a:p>
            <a:pPr indent="0" marL="0">
              <a:lnSpc>
                <a:spcPts val="1820"/>
              </a:lnSpc>
              <a:buNone/>
            </a:pPr>
            <a:r>
              <a:rPr lang="en-US" sz="1300" b="1" dirty="0">
                <a:solidFill>
                  <a:srgbClr val="1F6F78"/>
                </a:solidFill>
                <a:latin typeface="Arial" pitchFamily="34" charset="0"/>
                <a:ea typeface="맑은 고딕" pitchFamily="34" charset="-122"/>
                <a:cs typeface="Arial" pitchFamily="34" charset="-120"/>
              </a:rPr>
              <a:t>②  </a:t>
            </a:r>
            <a:pPr indent="0" marL="0">
              <a:lnSpc>
                <a:spcPts val="1820"/>
              </a:lnSpc>
              <a:buNone/>
            </a:pPr>
            <a:r>
              <a:rPr lang="en-US" sz="1300" dirty="0">
                <a:solidFill>
                  <a:srgbClr val="12304D"/>
                </a:solidFill>
                <a:latin typeface="Arial" pitchFamily="34" charset="0"/>
                <a:ea typeface="맑은 고딕" pitchFamily="34" charset="-122"/>
                <a:cs typeface="Arial" pitchFamily="34" charset="-120"/>
              </a:rPr>
              <a:t>삽입 &gt; 차트 &gt; 분산형</a:t>
            </a:r>
            <a:endParaRPr lang="en-US" sz="1300" dirty="0"/>
          </a:p>
        </p:txBody>
      </p:sp>
      <p:sp>
        <p:nvSpPr>
          <p:cNvPr id="10" name="Shape 7"/>
          <p:cNvSpPr/>
          <p:nvPr/>
        </p:nvSpPr>
        <p:spPr>
          <a:xfrm>
            <a:off x="7360920" y="3163824"/>
            <a:ext cx="4023360" cy="548640"/>
          </a:xfrm>
          <a:prstGeom prst="roundRect">
            <a:avLst>
              <a:gd name="adj" fmla="val 16667"/>
            </a:avLst>
          </a:prstGeom>
          <a:solidFill>
            <a:srgbClr val="FCFCFA"/>
          </a:solidFill>
          <a:ln w="9525">
            <a:solidFill>
              <a:srgbClr val="D9DDE1"/>
            </a:solidFill>
            <a:prstDash val="solid"/>
          </a:ln>
        </p:spPr>
      </p:sp>
      <p:sp>
        <p:nvSpPr>
          <p:cNvPr id="11" name="Text 8"/>
          <p:cNvSpPr txBox="1"/>
          <p:nvPr/>
        </p:nvSpPr>
        <p:spPr>
          <a:xfrm>
            <a:off x="7543800" y="3310128"/>
            <a:ext cx="3749040" cy="274320"/>
          </a:xfrm>
          <a:prstGeom prst="rect">
            <a:avLst/>
          </a:prstGeom>
          <a:noFill/>
          <a:ln/>
        </p:spPr>
        <p:txBody>
          <a:bodyPr wrap="square" lIns="0" tIns="0" rIns="0" bIns="0" rtlCol="0" anchor="t"/>
          <a:lstStyle/>
          <a:p>
            <a:pPr indent="0" marL="0">
              <a:lnSpc>
                <a:spcPts val="1820"/>
              </a:lnSpc>
              <a:buNone/>
            </a:pPr>
            <a:r>
              <a:rPr lang="en-US" sz="1300" b="1" dirty="0">
                <a:solidFill>
                  <a:srgbClr val="1F6F78"/>
                </a:solidFill>
                <a:latin typeface="Arial" pitchFamily="34" charset="0"/>
                <a:ea typeface="맑은 고딕" pitchFamily="34" charset="-122"/>
                <a:cs typeface="Arial" pitchFamily="34" charset="-120"/>
              </a:rPr>
              <a:t>③  </a:t>
            </a:r>
            <a:pPr indent="0" marL="0">
              <a:lnSpc>
                <a:spcPts val="1820"/>
              </a:lnSpc>
              <a:buNone/>
            </a:pPr>
            <a:r>
              <a:rPr lang="en-US" sz="1300" dirty="0">
                <a:solidFill>
                  <a:srgbClr val="12304D"/>
                </a:solidFill>
                <a:latin typeface="Arial" pitchFamily="34" charset="0"/>
                <a:ea typeface="맑은 고딕" pitchFamily="34" charset="-122"/>
                <a:cs typeface="Arial" pitchFamily="34" charset="-120"/>
              </a:rPr>
              <a:t>점 우클릭 &gt; 추세선 추가 &gt; 선형</a:t>
            </a:r>
            <a:endParaRPr lang="en-US" sz="1300" dirty="0"/>
          </a:p>
        </p:txBody>
      </p:sp>
      <p:sp>
        <p:nvSpPr>
          <p:cNvPr id="12" name="Shape 9"/>
          <p:cNvSpPr/>
          <p:nvPr/>
        </p:nvSpPr>
        <p:spPr>
          <a:xfrm>
            <a:off x="7360920" y="3840480"/>
            <a:ext cx="4023360" cy="548640"/>
          </a:xfrm>
          <a:prstGeom prst="roundRect">
            <a:avLst>
              <a:gd name="adj" fmla="val 16667"/>
            </a:avLst>
          </a:prstGeom>
          <a:solidFill>
            <a:srgbClr val="FCFCFA"/>
          </a:solidFill>
          <a:ln w="9525">
            <a:solidFill>
              <a:srgbClr val="D9DDE1"/>
            </a:solidFill>
            <a:prstDash val="solid"/>
          </a:ln>
        </p:spPr>
      </p:sp>
      <p:sp>
        <p:nvSpPr>
          <p:cNvPr id="13" name="Text 10"/>
          <p:cNvSpPr txBox="1"/>
          <p:nvPr/>
        </p:nvSpPr>
        <p:spPr>
          <a:xfrm>
            <a:off x="7543800" y="3986784"/>
            <a:ext cx="3749040" cy="274320"/>
          </a:xfrm>
          <a:prstGeom prst="rect">
            <a:avLst/>
          </a:prstGeom>
          <a:noFill/>
          <a:ln/>
        </p:spPr>
        <p:txBody>
          <a:bodyPr wrap="square" lIns="0" tIns="0" rIns="0" bIns="0" rtlCol="0" anchor="t"/>
          <a:lstStyle/>
          <a:p>
            <a:pPr indent="0" marL="0">
              <a:lnSpc>
                <a:spcPts val="1820"/>
              </a:lnSpc>
              <a:buNone/>
            </a:pPr>
            <a:r>
              <a:rPr lang="en-US" sz="1300" b="1" dirty="0">
                <a:solidFill>
                  <a:srgbClr val="1F6F78"/>
                </a:solidFill>
                <a:latin typeface="Arial" pitchFamily="34" charset="0"/>
                <a:ea typeface="맑은 고딕" pitchFamily="34" charset="-122"/>
                <a:cs typeface="Arial" pitchFamily="34" charset="-120"/>
              </a:rPr>
              <a:t>④  </a:t>
            </a:r>
            <a:pPr indent="0" marL="0">
              <a:lnSpc>
                <a:spcPts val="1820"/>
              </a:lnSpc>
              <a:buNone/>
            </a:pPr>
            <a:r>
              <a:rPr lang="en-US" sz="1300" dirty="0">
                <a:solidFill>
                  <a:srgbClr val="12304D"/>
                </a:solidFill>
                <a:latin typeface="Arial" pitchFamily="34" charset="0"/>
                <a:ea typeface="맑은 고딕" pitchFamily="34" charset="-122"/>
                <a:cs typeface="Arial" pitchFamily="34" charset="-120"/>
              </a:rPr>
              <a:t>✓ 수식을 차트에 표시 · ✓ R-제곱 값 표시</a:t>
            </a:r>
            <a:endParaRPr lang="en-US" sz="1300" dirty="0"/>
          </a:p>
        </p:txBody>
      </p:sp>
      <p:sp>
        <p:nvSpPr>
          <p:cNvPr id="14" name="Shape 11"/>
          <p:cNvSpPr/>
          <p:nvPr/>
        </p:nvSpPr>
        <p:spPr>
          <a:xfrm>
            <a:off x="7360920" y="4517136"/>
            <a:ext cx="4023360" cy="548640"/>
          </a:xfrm>
          <a:prstGeom prst="roundRect">
            <a:avLst>
              <a:gd name="adj" fmla="val 16667"/>
            </a:avLst>
          </a:prstGeom>
          <a:solidFill>
            <a:srgbClr val="12304D"/>
          </a:solidFill>
          <a:ln/>
        </p:spPr>
      </p:sp>
      <p:sp>
        <p:nvSpPr>
          <p:cNvPr id="15" name="Text 12"/>
          <p:cNvSpPr txBox="1"/>
          <p:nvPr/>
        </p:nvSpPr>
        <p:spPr>
          <a:xfrm>
            <a:off x="7543800" y="4663440"/>
            <a:ext cx="3749040" cy="274320"/>
          </a:xfrm>
          <a:prstGeom prst="rect">
            <a:avLst/>
          </a:prstGeom>
          <a:noFill/>
          <a:ln/>
        </p:spPr>
        <p:txBody>
          <a:bodyPr wrap="square" lIns="0" tIns="0" rIns="0" bIns="0" rtlCol="0" anchor="t"/>
          <a:lstStyle/>
          <a:p>
            <a:pPr indent="0" marL="0">
              <a:lnSpc>
                <a:spcPts val="1820"/>
              </a:lnSpc>
              <a:buNone/>
            </a:pPr>
            <a:r>
              <a:rPr lang="en-US" sz="1300" b="1" dirty="0">
                <a:solidFill>
                  <a:srgbClr val="F2A65A"/>
                </a:solidFill>
                <a:latin typeface="Arial" pitchFamily="34" charset="0"/>
                <a:ea typeface="맑은 고딕" pitchFamily="34" charset="-122"/>
                <a:cs typeface="Arial" pitchFamily="34" charset="-120"/>
              </a:rPr>
              <a:t>⑤  </a:t>
            </a:r>
            <a:pPr indent="0" marL="0">
              <a:lnSpc>
                <a:spcPts val="1820"/>
              </a:lnSpc>
              <a:buNone/>
            </a:pPr>
            <a:r>
              <a:rPr lang="en-US" sz="1300" dirty="0">
                <a:solidFill>
                  <a:srgbClr val="F5F4EF"/>
                </a:solidFill>
                <a:latin typeface="Arial" pitchFamily="34" charset="0"/>
                <a:ea typeface="맑은 고딕" pitchFamily="34" charset="-122"/>
                <a:cs typeface="Arial" pitchFamily="34" charset="-120"/>
              </a:rPr>
              <a:t>차트 제목과 축 제목(단위) 넣기</a:t>
            </a:r>
            <a:endParaRPr lang="en-US" sz="1300" dirty="0"/>
          </a:p>
        </p:txBody>
      </p:sp>
      <p:sp>
        <p:nvSpPr>
          <p:cNvPr id="16" name="Text 13"/>
          <p:cNvSpPr txBox="1"/>
          <p:nvPr/>
        </p:nvSpPr>
        <p:spPr>
          <a:xfrm>
            <a:off x="7360920" y="5230368"/>
            <a:ext cx="4023360" cy="365760"/>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추세선 식 y = 15.035x − 209.59, R² = 0.7781 → 회귀분석 결과와 같습니다</a:t>
            </a:r>
            <a:endParaRPr lang="en-US" sz="1200" dirty="0"/>
          </a:p>
        </p:txBody>
      </p:sp>
      <p:sp>
        <p:nvSpPr>
          <p:cNvPr id="17" name="Text 14"/>
          <p:cNvSpPr txBox="1"/>
          <p:nvPr/>
        </p:nvSpPr>
        <p:spPr>
          <a:xfrm>
            <a:off x="813816" y="6236208"/>
            <a:ext cx="10881360" cy="237744"/>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생성형 AI 실무 활용 · 1일차 · 강사 시연용 가상 데이터</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4E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시각화 ② 추이와 비교</a:t>
            </a:r>
            <a:endParaRPr lang="en-US" sz="1400" dirty="0"/>
          </a:p>
        </p:txBody>
      </p:sp>
      <p:sp>
        <p:nvSpPr>
          <p:cNvPr id="3" name="Title"/>
          <p:cNvSpPr/>
          <p:nvPr>
            <p:ph type="title"/>
          </p:nvPr>
        </p:nvSpPr>
        <p:spPr>
          <a:xfrm>
            <a:off x="813816" y="1133856"/>
            <a:ext cx="10881360" cy="493776"/>
          </a:xfrm>
          <a:prstGeom prst="rect">
            <a:avLst/>
          </a:prstGeom>
          <a:noFill/>
          <a:ln/>
        </p:spPr>
        <p:txBody>
          <a:bodyPr wrap="square" lIns="0" tIns="0" rIns="0" bIns="0" rtlCol="0" anchor="t"/>
          <a:lstStyle/>
          <a:p>
            <a:pPr indent="0" marL="0">
              <a:lnSpc>
                <a:spcPts val="4480"/>
              </a:lnSpc>
              <a:buNone/>
            </a:pPr>
            <a:r>
              <a:rPr lang="en-US" sz="3200" b="1" dirty="0">
                <a:solidFill>
                  <a:srgbClr val="12304D"/>
                </a:solidFill>
                <a:latin typeface="Arial" pitchFamily="34" charset="0"/>
                <a:ea typeface="맑은 고딕" pitchFamily="34" charset="-122"/>
                <a:cs typeface="Arial" pitchFamily="34" charset="-120"/>
              </a:rPr>
              <a:t>보고 목적에 맞는 차트를 고릅니다</a:t>
            </a:r>
            <a:endParaRPr lang="en-US" sz="3200" dirty="0"/>
          </a:p>
        </p:txBody>
      </p:sp>
      <p:sp>
        <p:nvSpPr>
          <p:cNvPr id="4" name="Shape 2"/>
          <p:cNvSpPr/>
          <p:nvPr/>
        </p:nvSpPr>
        <p:spPr>
          <a:xfrm>
            <a:off x="813816" y="1883664"/>
            <a:ext cx="6400800" cy="3657600"/>
          </a:xfrm>
          <a:prstGeom prst="roundRect">
            <a:avLst>
              <a:gd name="adj" fmla="val 3000"/>
            </a:avLst>
          </a:prstGeom>
          <a:solidFill>
            <a:srgbClr val="FFFFFF"/>
          </a:solidFill>
          <a:ln w="9525">
            <a:solidFill>
              <a:srgbClr val="D9DDE1"/>
            </a:solidFill>
            <a:prstDash val="solid"/>
          </a:ln>
        </p:spPr>
      </p:sp>
      <p:graphicFrame>
        <p:nvGraphicFramePr>
          <p:cNvPr id="5" name="DailyCombo" descr=""/>
          <p:cNvGraphicFramePr/>
          <p:nvPr/>
        </p:nvGraphicFramePr>
        <p:xfrm>
          <a:off x="914400" y="1938528"/>
          <a:ext cx="6217920" cy="3547872"/>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406640" y="1883664"/>
            <a:ext cx="1929384" cy="1170432"/>
          </a:xfrm>
          <a:prstGeom prst="roundRect">
            <a:avLst>
              <a:gd name="adj" fmla="val 9375"/>
            </a:avLst>
          </a:prstGeom>
          <a:solidFill>
            <a:srgbClr val="FCFCFA"/>
          </a:solidFill>
          <a:ln w="9525">
            <a:solidFill>
              <a:srgbClr val="D9DDE1"/>
            </a:solidFill>
            <a:prstDash val="solid"/>
          </a:ln>
        </p:spPr>
      </p:sp>
      <p:sp>
        <p:nvSpPr>
          <p:cNvPr id="7" name="Text 4"/>
          <p:cNvSpPr txBox="1"/>
          <p:nvPr/>
        </p:nvSpPr>
        <p:spPr>
          <a:xfrm>
            <a:off x="7571232" y="2011680"/>
            <a:ext cx="1645920" cy="256032"/>
          </a:xfrm>
          <a:prstGeom prst="rect">
            <a:avLst/>
          </a:prstGeom>
          <a:noFill/>
          <a:ln/>
        </p:spPr>
        <p:txBody>
          <a:bodyPr wrap="square" lIns="0" tIns="0" rIns="0" bIns="0" rtlCol="0" anchor="t"/>
          <a:lstStyle/>
          <a:p>
            <a:pPr indent="0" marL="0">
              <a:lnSpc>
                <a:spcPts val="1820"/>
              </a:lnSpc>
              <a:buNone/>
            </a:pPr>
            <a:r>
              <a:rPr lang="en-US" sz="1300" b="1" dirty="0">
                <a:solidFill>
                  <a:srgbClr val="A64F16"/>
                </a:solidFill>
                <a:latin typeface="Arial" pitchFamily="34" charset="0"/>
                <a:ea typeface="맑은 고딕" pitchFamily="34" charset="-122"/>
                <a:cs typeface="Arial" pitchFamily="34" charset="-120"/>
              </a:rPr>
              <a:t>추이</a:t>
            </a:r>
            <a:endParaRPr lang="en-US" sz="1300" dirty="0"/>
          </a:p>
        </p:txBody>
      </p:sp>
      <p:sp>
        <p:nvSpPr>
          <p:cNvPr id="8" name="Text 5"/>
          <p:cNvSpPr txBox="1"/>
          <p:nvPr/>
        </p:nvSpPr>
        <p:spPr>
          <a:xfrm>
            <a:off x="7571232" y="2295144"/>
            <a:ext cx="1691640" cy="274320"/>
          </a:xfrm>
          <a:prstGeom prst="rect">
            <a:avLst/>
          </a:prstGeom>
          <a:noFill/>
          <a:ln/>
        </p:spPr>
        <p:txBody>
          <a:bodyPr wrap="square" lIns="0" tIns="0" rIns="0" bIns="0" rtlCol="0" anchor="t"/>
          <a:lstStyle/>
          <a:p>
            <a:pPr indent="0" marL="0">
              <a:lnSpc>
                <a:spcPts val="1960"/>
              </a:lnSpc>
              <a:buNone/>
            </a:pPr>
            <a:r>
              <a:rPr lang="en-US" sz="1400" b="1" dirty="0">
                <a:solidFill>
                  <a:srgbClr val="12304D"/>
                </a:solidFill>
                <a:latin typeface="Arial" pitchFamily="34" charset="0"/>
                <a:ea typeface="맑은 고딕" pitchFamily="34" charset="-122"/>
                <a:cs typeface="Arial" pitchFamily="34" charset="-120"/>
              </a:rPr>
              <a:t>꺾은선</a:t>
            </a:r>
            <a:endParaRPr lang="en-US" sz="1400" dirty="0"/>
          </a:p>
        </p:txBody>
      </p:sp>
      <p:sp>
        <p:nvSpPr>
          <p:cNvPr id="9" name="Text 6"/>
          <p:cNvSpPr txBox="1"/>
          <p:nvPr/>
        </p:nvSpPr>
        <p:spPr>
          <a:xfrm>
            <a:off x="7571232" y="2615184"/>
            <a:ext cx="1691640" cy="365760"/>
          </a:xfrm>
          <a:prstGeom prst="rect">
            <a:avLst/>
          </a:prstGeom>
          <a:noFill/>
          <a:ln/>
        </p:spPr>
        <p:txBody>
          <a:bodyPr wrap="square" lIns="0" tIns="0" rIns="0" bIns="0" rtlCol="0" anchor="t"/>
          <a:lstStyle/>
          <a:p>
            <a:pPr indent="0" marL="0">
              <a:lnSpc>
                <a:spcPts val="1680"/>
              </a:lnSpc>
              <a:buNone/>
            </a:pPr>
            <a:r>
              <a:rPr lang="en-US" sz="1200" dirty="0">
                <a:solidFill>
                  <a:srgbClr val="3D4A57"/>
                </a:solidFill>
                <a:latin typeface="Arial" pitchFamily="34" charset="0"/>
                <a:ea typeface="맑은 고딕" pitchFamily="34" charset="-122"/>
                <a:cs typeface="Arial" pitchFamily="34" charset="-120"/>
              </a:rPr>
              <a:t>날짜별 변화</a:t>
            </a:r>
            <a:endParaRPr lang="en-US" sz="1200" dirty="0"/>
          </a:p>
        </p:txBody>
      </p:sp>
      <p:sp>
        <p:nvSpPr>
          <p:cNvPr id="10" name="Shape 7"/>
          <p:cNvSpPr/>
          <p:nvPr/>
        </p:nvSpPr>
        <p:spPr>
          <a:xfrm>
            <a:off x="9454896" y="1883664"/>
            <a:ext cx="1929384" cy="1170432"/>
          </a:xfrm>
          <a:prstGeom prst="roundRect">
            <a:avLst>
              <a:gd name="adj" fmla="val 9375"/>
            </a:avLst>
          </a:prstGeom>
          <a:solidFill>
            <a:srgbClr val="FCFCFA"/>
          </a:solidFill>
          <a:ln w="9525">
            <a:solidFill>
              <a:srgbClr val="D9DDE1"/>
            </a:solidFill>
            <a:prstDash val="solid"/>
          </a:ln>
        </p:spPr>
      </p:sp>
      <p:sp>
        <p:nvSpPr>
          <p:cNvPr id="11" name="Text 8"/>
          <p:cNvSpPr txBox="1"/>
          <p:nvPr/>
        </p:nvSpPr>
        <p:spPr>
          <a:xfrm>
            <a:off x="9619488" y="2011680"/>
            <a:ext cx="1645920" cy="256032"/>
          </a:xfrm>
          <a:prstGeom prst="rect">
            <a:avLst/>
          </a:prstGeom>
          <a:noFill/>
          <a:ln/>
        </p:spPr>
        <p:txBody>
          <a:bodyPr wrap="square" lIns="0" tIns="0" rIns="0" bIns="0" rtlCol="0" anchor="t"/>
          <a:lstStyle/>
          <a:p>
            <a:pPr indent="0" marL="0">
              <a:lnSpc>
                <a:spcPts val="1820"/>
              </a:lnSpc>
              <a:buNone/>
            </a:pPr>
            <a:r>
              <a:rPr lang="en-US" sz="1300" b="1" dirty="0">
                <a:solidFill>
                  <a:srgbClr val="A64F16"/>
                </a:solidFill>
                <a:latin typeface="Arial" pitchFamily="34" charset="0"/>
                <a:ea typeface="맑은 고딕" pitchFamily="34" charset="-122"/>
                <a:cs typeface="Arial" pitchFamily="34" charset="-120"/>
              </a:rPr>
              <a:t>관계</a:t>
            </a:r>
            <a:endParaRPr lang="en-US" sz="1300" dirty="0"/>
          </a:p>
        </p:txBody>
      </p:sp>
      <p:sp>
        <p:nvSpPr>
          <p:cNvPr id="12" name="Text 9"/>
          <p:cNvSpPr txBox="1"/>
          <p:nvPr/>
        </p:nvSpPr>
        <p:spPr>
          <a:xfrm>
            <a:off x="9619488" y="2295144"/>
            <a:ext cx="1691640" cy="274320"/>
          </a:xfrm>
          <a:prstGeom prst="rect">
            <a:avLst/>
          </a:prstGeom>
          <a:noFill/>
          <a:ln/>
        </p:spPr>
        <p:txBody>
          <a:bodyPr wrap="square" lIns="0" tIns="0" rIns="0" bIns="0" rtlCol="0" anchor="t"/>
          <a:lstStyle/>
          <a:p>
            <a:pPr indent="0" marL="0">
              <a:lnSpc>
                <a:spcPts val="1960"/>
              </a:lnSpc>
              <a:buNone/>
            </a:pPr>
            <a:r>
              <a:rPr lang="en-US" sz="1400" b="1" dirty="0">
                <a:solidFill>
                  <a:srgbClr val="12304D"/>
                </a:solidFill>
                <a:latin typeface="Arial" pitchFamily="34" charset="0"/>
                <a:ea typeface="맑은 고딕" pitchFamily="34" charset="-122"/>
                <a:cs typeface="Arial" pitchFamily="34" charset="-120"/>
              </a:rPr>
              <a:t>분산형 + 추세선</a:t>
            </a:r>
            <a:endParaRPr lang="en-US" sz="1400" dirty="0"/>
          </a:p>
        </p:txBody>
      </p:sp>
      <p:sp>
        <p:nvSpPr>
          <p:cNvPr id="13" name="Text 10"/>
          <p:cNvSpPr txBox="1"/>
          <p:nvPr/>
        </p:nvSpPr>
        <p:spPr>
          <a:xfrm>
            <a:off x="9619488" y="2615184"/>
            <a:ext cx="1691640" cy="365760"/>
          </a:xfrm>
          <a:prstGeom prst="rect">
            <a:avLst/>
          </a:prstGeom>
          <a:noFill/>
          <a:ln/>
        </p:spPr>
        <p:txBody>
          <a:bodyPr wrap="square" lIns="0" tIns="0" rIns="0" bIns="0" rtlCol="0" anchor="t"/>
          <a:lstStyle/>
          <a:p>
            <a:pPr indent="0" marL="0">
              <a:lnSpc>
                <a:spcPts val="1680"/>
              </a:lnSpc>
              <a:buNone/>
            </a:pPr>
            <a:r>
              <a:rPr lang="en-US" sz="1200" dirty="0">
                <a:solidFill>
                  <a:srgbClr val="3D4A57"/>
                </a:solidFill>
                <a:latin typeface="Arial" pitchFamily="34" charset="0"/>
                <a:ea typeface="맑은 고딕" pitchFamily="34" charset="-122"/>
                <a:cs typeface="Arial" pitchFamily="34" charset="-120"/>
              </a:rPr>
              <a:t>두 변수의 연관</a:t>
            </a:r>
            <a:endParaRPr lang="en-US" sz="1200" dirty="0"/>
          </a:p>
        </p:txBody>
      </p:sp>
      <p:sp>
        <p:nvSpPr>
          <p:cNvPr id="14" name="Shape 11"/>
          <p:cNvSpPr/>
          <p:nvPr/>
        </p:nvSpPr>
        <p:spPr>
          <a:xfrm>
            <a:off x="7406640" y="3182112"/>
            <a:ext cx="1929384" cy="1170432"/>
          </a:xfrm>
          <a:prstGeom prst="roundRect">
            <a:avLst>
              <a:gd name="adj" fmla="val 9375"/>
            </a:avLst>
          </a:prstGeom>
          <a:solidFill>
            <a:srgbClr val="FCFCFA"/>
          </a:solidFill>
          <a:ln w="9525">
            <a:solidFill>
              <a:srgbClr val="D9DDE1"/>
            </a:solidFill>
            <a:prstDash val="solid"/>
          </a:ln>
        </p:spPr>
      </p:sp>
      <p:sp>
        <p:nvSpPr>
          <p:cNvPr id="15" name="Text 12"/>
          <p:cNvSpPr txBox="1"/>
          <p:nvPr/>
        </p:nvSpPr>
        <p:spPr>
          <a:xfrm>
            <a:off x="7571232" y="3310128"/>
            <a:ext cx="1645920" cy="256032"/>
          </a:xfrm>
          <a:prstGeom prst="rect">
            <a:avLst/>
          </a:prstGeom>
          <a:noFill/>
          <a:ln/>
        </p:spPr>
        <p:txBody>
          <a:bodyPr wrap="square" lIns="0" tIns="0" rIns="0" bIns="0" rtlCol="0" anchor="t"/>
          <a:lstStyle/>
          <a:p>
            <a:pPr indent="0" marL="0">
              <a:lnSpc>
                <a:spcPts val="1820"/>
              </a:lnSpc>
              <a:buNone/>
            </a:pPr>
            <a:r>
              <a:rPr lang="en-US" sz="1300" b="1" dirty="0">
                <a:solidFill>
                  <a:srgbClr val="A64F16"/>
                </a:solidFill>
                <a:latin typeface="Arial" pitchFamily="34" charset="0"/>
                <a:ea typeface="맑은 고딕" pitchFamily="34" charset="-122"/>
                <a:cs typeface="Arial" pitchFamily="34" charset="-120"/>
              </a:rPr>
              <a:t>비교</a:t>
            </a:r>
            <a:endParaRPr lang="en-US" sz="1300" dirty="0"/>
          </a:p>
        </p:txBody>
      </p:sp>
      <p:sp>
        <p:nvSpPr>
          <p:cNvPr id="16" name="Text 13"/>
          <p:cNvSpPr txBox="1"/>
          <p:nvPr/>
        </p:nvSpPr>
        <p:spPr>
          <a:xfrm>
            <a:off x="7571232" y="3593592"/>
            <a:ext cx="1691640" cy="274320"/>
          </a:xfrm>
          <a:prstGeom prst="rect">
            <a:avLst/>
          </a:prstGeom>
          <a:noFill/>
          <a:ln/>
        </p:spPr>
        <p:txBody>
          <a:bodyPr wrap="square" lIns="0" tIns="0" rIns="0" bIns="0" rtlCol="0" anchor="t"/>
          <a:lstStyle/>
          <a:p>
            <a:pPr indent="0" marL="0">
              <a:lnSpc>
                <a:spcPts val="1960"/>
              </a:lnSpc>
              <a:buNone/>
            </a:pPr>
            <a:r>
              <a:rPr lang="en-US" sz="1400" b="1" dirty="0">
                <a:solidFill>
                  <a:srgbClr val="12304D"/>
                </a:solidFill>
                <a:latin typeface="Arial" pitchFamily="34" charset="0"/>
                <a:ea typeface="맑은 고딕" pitchFamily="34" charset="-122"/>
                <a:cs typeface="Arial" pitchFamily="34" charset="-120"/>
              </a:rPr>
              <a:t>막대</a:t>
            </a:r>
            <a:endParaRPr lang="en-US" sz="1400" dirty="0"/>
          </a:p>
        </p:txBody>
      </p:sp>
      <p:sp>
        <p:nvSpPr>
          <p:cNvPr id="17" name="Text 14"/>
          <p:cNvSpPr txBox="1"/>
          <p:nvPr/>
        </p:nvSpPr>
        <p:spPr>
          <a:xfrm>
            <a:off x="7571232" y="3913632"/>
            <a:ext cx="1691640" cy="365760"/>
          </a:xfrm>
          <a:prstGeom prst="rect">
            <a:avLst/>
          </a:prstGeom>
          <a:noFill/>
          <a:ln/>
        </p:spPr>
        <p:txBody>
          <a:bodyPr wrap="square" lIns="0" tIns="0" rIns="0" bIns="0" rtlCol="0" anchor="t"/>
          <a:lstStyle/>
          <a:p>
            <a:pPr indent="0" marL="0">
              <a:lnSpc>
                <a:spcPts val="1680"/>
              </a:lnSpc>
              <a:buNone/>
            </a:pPr>
            <a:r>
              <a:rPr lang="en-US" sz="1200" dirty="0">
                <a:solidFill>
                  <a:srgbClr val="3D4A57"/>
                </a:solidFill>
                <a:latin typeface="Arial" pitchFamily="34" charset="0"/>
                <a:ea typeface="맑은 고딕" pitchFamily="34" charset="-122"/>
                <a:cs typeface="Arial" pitchFamily="34" charset="-120"/>
              </a:rPr>
              <a:t>평일 vs 주말 방문객</a:t>
            </a:r>
            <a:endParaRPr lang="en-US" sz="1200" dirty="0"/>
          </a:p>
        </p:txBody>
      </p:sp>
      <p:sp>
        <p:nvSpPr>
          <p:cNvPr id="18" name="Shape 15"/>
          <p:cNvSpPr/>
          <p:nvPr/>
        </p:nvSpPr>
        <p:spPr>
          <a:xfrm>
            <a:off x="9454896" y="3182112"/>
            <a:ext cx="1929384" cy="1170432"/>
          </a:xfrm>
          <a:prstGeom prst="roundRect">
            <a:avLst>
              <a:gd name="adj" fmla="val 9375"/>
            </a:avLst>
          </a:prstGeom>
          <a:solidFill>
            <a:srgbClr val="FCFCFA"/>
          </a:solidFill>
          <a:ln w="9525">
            <a:solidFill>
              <a:srgbClr val="D9DDE1"/>
            </a:solidFill>
            <a:prstDash val="solid"/>
          </a:ln>
        </p:spPr>
      </p:sp>
      <p:sp>
        <p:nvSpPr>
          <p:cNvPr id="19" name="Text 16"/>
          <p:cNvSpPr txBox="1"/>
          <p:nvPr/>
        </p:nvSpPr>
        <p:spPr>
          <a:xfrm>
            <a:off x="9619488" y="3310128"/>
            <a:ext cx="1645920" cy="256032"/>
          </a:xfrm>
          <a:prstGeom prst="rect">
            <a:avLst/>
          </a:prstGeom>
          <a:noFill/>
          <a:ln/>
        </p:spPr>
        <p:txBody>
          <a:bodyPr wrap="square" lIns="0" tIns="0" rIns="0" bIns="0" rtlCol="0" anchor="t"/>
          <a:lstStyle/>
          <a:p>
            <a:pPr indent="0" marL="0">
              <a:lnSpc>
                <a:spcPts val="1820"/>
              </a:lnSpc>
              <a:buNone/>
            </a:pPr>
            <a:r>
              <a:rPr lang="en-US" sz="1300" b="1" dirty="0">
                <a:solidFill>
                  <a:srgbClr val="A64F16"/>
                </a:solidFill>
                <a:latin typeface="Arial" pitchFamily="34" charset="0"/>
                <a:ea typeface="맑은 고딕" pitchFamily="34" charset="-122"/>
                <a:cs typeface="Arial" pitchFamily="34" charset="-120"/>
              </a:rPr>
              <a:t>여러 변수</a:t>
            </a:r>
            <a:endParaRPr lang="en-US" sz="1300" dirty="0"/>
          </a:p>
        </p:txBody>
      </p:sp>
      <p:sp>
        <p:nvSpPr>
          <p:cNvPr id="20" name="Text 17"/>
          <p:cNvSpPr txBox="1"/>
          <p:nvPr/>
        </p:nvSpPr>
        <p:spPr>
          <a:xfrm>
            <a:off x="9619488" y="3593592"/>
            <a:ext cx="1691640" cy="274320"/>
          </a:xfrm>
          <a:prstGeom prst="rect">
            <a:avLst/>
          </a:prstGeom>
          <a:noFill/>
          <a:ln/>
        </p:spPr>
        <p:txBody>
          <a:bodyPr wrap="square" lIns="0" tIns="0" rIns="0" bIns="0" rtlCol="0" anchor="t"/>
          <a:lstStyle/>
          <a:p>
            <a:pPr indent="0" marL="0">
              <a:lnSpc>
                <a:spcPts val="1960"/>
              </a:lnSpc>
              <a:buNone/>
            </a:pPr>
            <a:r>
              <a:rPr lang="en-US" sz="1400" b="1" dirty="0">
                <a:solidFill>
                  <a:srgbClr val="12304D"/>
                </a:solidFill>
                <a:latin typeface="Arial" pitchFamily="34" charset="0"/>
                <a:ea typeface="맑은 고딕" pitchFamily="34" charset="-122"/>
                <a:cs typeface="Arial" pitchFamily="34" charset="-120"/>
              </a:rPr>
              <a:t>상관표 + 색조</a:t>
            </a:r>
            <a:endParaRPr lang="en-US" sz="1400" dirty="0"/>
          </a:p>
        </p:txBody>
      </p:sp>
      <p:sp>
        <p:nvSpPr>
          <p:cNvPr id="21" name="Text 18"/>
          <p:cNvSpPr txBox="1"/>
          <p:nvPr/>
        </p:nvSpPr>
        <p:spPr>
          <a:xfrm>
            <a:off x="9619488" y="3913632"/>
            <a:ext cx="1691640" cy="365760"/>
          </a:xfrm>
          <a:prstGeom prst="rect">
            <a:avLst/>
          </a:prstGeom>
          <a:noFill/>
          <a:ln/>
        </p:spPr>
        <p:txBody>
          <a:bodyPr wrap="square" lIns="0" tIns="0" rIns="0" bIns="0" rtlCol="0" anchor="t"/>
          <a:lstStyle/>
          <a:p>
            <a:pPr indent="0" marL="0">
              <a:lnSpc>
                <a:spcPts val="1680"/>
              </a:lnSpc>
              <a:buNone/>
            </a:pPr>
            <a:r>
              <a:rPr lang="en-US" sz="1200" dirty="0">
                <a:solidFill>
                  <a:srgbClr val="3D4A57"/>
                </a:solidFill>
                <a:latin typeface="Arial" pitchFamily="34" charset="0"/>
                <a:ea typeface="맑은 고딕" pitchFamily="34" charset="-122"/>
                <a:cs typeface="Arial" pitchFamily="34" charset="-120"/>
              </a:rPr>
              <a:t>전체 관계 한눈에</a:t>
            </a:r>
            <a:endParaRPr lang="en-US" sz="1200" dirty="0"/>
          </a:p>
        </p:txBody>
      </p:sp>
      <p:sp>
        <p:nvSpPr>
          <p:cNvPr id="22" name="Shape 19"/>
          <p:cNvSpPr/>
          <p:nvPr/>
        </p:nvSpPr>
        <p:spPr>
          <a:xfrm>
            <a:off x="7406640" y="4544568"/>
            <a:ext cx="3977640" cy="996696"/>
          </a:xfrm>
          <a:prstGeom prst="roundRect">
            <a:avLst>
              <a:gd name="adj" fmla="val 9174"/>
            </a:avLst>
          </a:prstGeom>
          <a:solidFill>
            <a:srgbClr val="12304D"/>
          </a:solidFill>
          <a:ln/>
        </p:spPr>
      </p:sp>
      <p:sp>
        <p:nvSpPr>
          <p:cNvPr id="23" name="Text 20"/>
          <p:cNvSpPr txBox="1"/>
          <p:nvPr/>
        </p:nvSpPr>
        <p:spPr>
          <a:xfrm>
            <a:off x="7589520" y="4645152"/>
            <a:ext cx="3657600" cy="256032"/>
          </a:xfrm>
          <a:prstGeom prst="rect">
            <a:avLst/>
          </a:prstGeom>
          <a:noFill/>
          <a:ln/>
        </p:spPr>
        <p:txBody>
          <a:bodyPr wrap="square" lIns="0" tIns="0" rIns="0" bIns="0" rtlCol="0" anchor="t"/>
          <a:lstStyle/>
          <a:p>
            <a:pPr indent="0" marL="0">
              <a:lnSpc>
                <a:spcPts val="1820"/>
              </a:lnSpc>
              <a:buNone/>
            </a:pPr>
            <a:r>
              <a:rPr lang="en-US" sz="1300" b="1" dirty="0">
                <a:solidFill>
                  <a:srgbClr val="F2A65A"/>
                </a:solidFill>
                <a:latin typeface="Arial" pitchFamily="34" charset="0"/>
                <a:ea typeface="맑은 고딕" pitchFamily="34" charset="-122"/>
                <a:cs typeface="Arial" pitchFamily="34" charset="-120"/>
              </a:rPr>
              <a:t>콤보 차트 만들기</a:t>
            </a:r>
            <a:endParaRPr lang="en-US" sz="1300" dirty="0"/>
          </a:p>
        </p:txBody>
      </p:sp>
      <p:sp>
        <p:nvSpPr>
          <p:cNvPr id="24" name="Text 21"/>
          <p:cNvSpPr txBox="1"/>
          <p:nvPr/>
        </p:nvSpPr>
        <p:spPr>
          <a:xfrm>
            <a:off x="7589520" y="4937760"/>
            <a:ext cx="3657600" cy="548640"/>
          </a:xfrm>
          <a:prstGeom prst="rect">
            <a:avLst/>
          </a:prstGeom>
          <a:noFill/>
          <a:ln/>
        </p:spPr>
        <p:txBody>
          <a:bodyPr wrap="square" lIns="0" tIns="0" rIns="0" bIns="0" rtlCol="0" anchor="t"/>
          <a:lstStyle/>
          <a:p>
            <a:pPr indent="0" marL="0">
              <a:lnSpc>
                <a:spcPts val="1680"/>
              </a:lnSpc>
              <a:buNone/>
            </a:pPr>
            <a:r>
              <a:rPr lang="en-US" sz="1200" dirty="0">
                <a:solidFill>
                  <a:srgbClr val="F5F4EF"/>
                </a:solidFill>
                <a:latin typeface="Arial" pitchFamily="34" charset="0"/>
                <a:ea typeface="맑은 고딕" pitchFamily="34" charset="-122"/>
                <a:cs typeface="Arial" pitchFamily="34" charset="-120"/>
              </a:rPr>
              <a:t>차트 우클릭 &gt; 차트 종류 변경 &gt; 콤보 &gt; 최고기온의 ‘보조 축’에 ✓</a:t>
            </a:r>
            <a:endParaRPr lang="en-US" sz="1200" dirty="0"/>
          </a:p>
        </p:txBody>
      </p:sp>
      <p:sp>
        <p:nvSpPr>
          <p:cNvPr id="25" name="Text 22"/>
          <p:cNvSpPr txBox="1"/>
          <p:nvPr/>
        </p:nvSpPr>
        <p:spPr>
          <a:xfrm>
            <a:off x="813816" y="6236208"/>
            <a:ext cx="10881360" cy="237744"/>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생성형 AI 실무 활용 · 1일차 · 강사 시연용 가상 데이터</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E8EEF2"/>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종합 예제 · 보고서 ① 프롬프트</a:t>
            </a:r>
            <a:endParaRPr lang="en-US" sz="1400" dirty="0"/>
          </a:p>
        </p:txBody>
      </p:sp>
      <p:sp>
        <p:nvSpPr>
          <p:cNvPr id="3" name="Title"/>
          <p:cNvSpPr/>
          <p:nvPr>
            <p:ph type="title"/>
          </p:nvPr>
        </p:nvSpPr>
        <p:spPr>
          <a:xfrm>
            <a:off x="813816" y="1133856"/>
            <a:ext cx="10881360" cy="429768"/>
          </a:xfrm>
          <a:prstGeom prst="rect">
            <a:avLst/>
          </a:prstGeom>
          <a:noFill/>
          <a:ln/>
        </p:spPr>
        <p:txBody>
          <a:bodyPr wrap="square" lIns="0" tIns="0" rIns="0" bIns="0" rtlCol="0" anchor="t"/>
          <a:lstStyle/>
          <a:p>
            <a:pPr indent="0" marL="0">
              <a:lnSpc>
                <a:spcPts val="3920"/>
              </a:lnSpc>
              <a:buNone/>
            </a:pPr>
            <a:r>
              <a:rPr lang="en-US" sz="2800" b="1" dirty="0">
                <a:solidFill>
                  <a:srgbClr val="12304D"/>
                </a:solidFill>
                <a:latin typeface="Arial" pitchFamily="34" charset="0"/>
                <a:ea typeface="맑은 고딕" pitchFamily="34" charset="-122"/>
                <a:cs typeface="Arial" pitchFamily="34" charset="-120"/>
              </a:rPr>
              <a:t>엑셀 결과 수치를 넣어 보고서 초안을 요청합니다</a:t>
            </a:r>
            <a:endParaRPr lang="en-US" sz="2800" dirty="0"/>
          </a:p>
        </p:txBody>
      </p:sp>
      <p:sp>
        <p:nvSpPr>
          <p:cNvPr id="4" name="Shape 2"/>
          <p:cNvSpPr/>
          <p:nvPr/>
        </p:nvSpPr>
        <p:spPr>
          <a:xfrm>
            <a:off x="813816" y="1773936"/>
            <a:ext cx="10570464" cy="1874520"/>
          </a:xfrm>
          <a:prstGeom prst="roundRect">
            <a:avLst>
              <a:gd name="adj" fmla="val 5854"/>
            </a:avLst>
          </a:prstGeom>
          <a:solidFill>
            <a:srgbClr val="12304D"/>
          </a:solidFill>
          <a:ln/>
        </p:spPr>
      </p:sp>
      <p:sp>
        <p:nvSpPr>
          <p:cNvPr id="5" name="Text 3"/>
          <p:cNvSpPr txBox="1"/>
          <p:nvPr/>
        </p:nvSpPr>
        <p:spPr>
          <a:xfrm>
            <a:off x="1069848" y="1947672"/>
            <a:ext cx="10058400" cy="256032"/>
          </a:xfrm>
          <a:prstGeom prst="rect">
            <a:avLst/>
          </a:prstGeom>
          <a:noFill/>
          <a:ln/>
        </p:spPr>
        <p:txBody>
          <a:bodyPr wrap="square" lIns="0" tIns="0" rIns="0" bIns="0" rtlCol="0" anchor="t"/>
          <a:lstStyle/>
          <a:p>
            <a:pPr indent="0" marL="0">
              <a:lnSpc>
                <a:spcPts val="1820"/>
              </a:lnSpc>
              <a:buNone/>
            </a:pPr>
            <a:r>
              <a:rPr lang="en-US" sz="1300" b="1" dirty="0">
                <a:solidFill>
                  <a:srgbClr val="F2A65A"/>
                </a:solidFill>
                <a:latin typeface="Arial" pitchFamily="34" charset="0"/>
                <a:ea typeface="맑은 고딕" pitchFamily="34" charset="-122"/>
                <a:cs typeface="Arial" pitchFamily="34" charset="-120"/>
              </a:rPr>
              <a:t>요청 1 · 보고서</a:t>
            </a:r>
            <a:endParaRPr lang="en-US" sz="1300" dirty="0"/>
          </a:p>
        </p:txBody>
      </p:sp>
      <p:sp>
        <p:nvSpPr>
          <p:cNvPr id="6" name="Text 4"/>
          <p:cNvSpPr txBox="1"/>
          <p:nvPr/>
        </p:nvSpPr>
        <p:spPr>
          <a:xfrm>
            <a:off x="1069848" y="2249424"/>
            <a:ext cx="10104120" cy="1417320"/>
          </a:xfrm>
          <a:prstGeom prst="rect">
            <a:avLst/>
          </a:prstGeom>
          <a:noFill/>
          <a:ln/>
        </p:spPr>
        <p:txBody>
          <a:bodyPr wrap="square" lIns="0" tIns="0" rIns="0" bIns="0" rtlCol="0" anchor="t"/>
          <a:lstStyle/>
          <a:p>
            <a:pPr indent="0" marL="0">
              <a:lnSpc>
                <a:spcPts val="1680"/>
              </a:lnSpc>
              <a:buNone/>
            </a:pPr>
            <a:r>
              <a:rPr lang="en-US" sz="1200" dirty="0">
                <a:solidFill>
                  <a:srgbClr val="F5F4EF"/>
                </a:solidFill>
                <a:latin typeface="Arial" pitchFamily="34" charset="0"/>
                <a:ea typeface="맑은 고딕" pitchFamily="34" charset="-122"/>
                <a:cs typeface="Arial" pitchFamily="34" charset="-120"/>
              </a:rPr>
              <a:t>너는 베이커리 카페 본사 운영지원팀 직원이야. 해운대점 9월 일별 데이터(30일)를 엑셀로 분석한 결과로 팀장님께 드릴 1쪽 분석 보고서를 써 줘. 상관계수: 최고기온–아이스음료 0.88, 강수량–방문객수 −0.64, 최고기온–방문객수 0.18. 단순회귀: 아이스음료 = 15.04×최고기온 − 209.6, R² 0.78, 28℃ 예측 211잔. 다중회귀(방문객수): 주말 +87.1명, 강수량 1mm당 −2.84명, 최고기온 1℃당 +2.65명, R² 0.93. 형식은 제목, 요약 3줄, 핵심 지표 표, 시사점 3가지, 분석의 한계 1줄. 주어진 숫자 외의 수치는 만들지 말고, 상관관계를 원인처럼 쓰지 마.</a:t>
            </a:r>
            <a:endParaRPr lang="en-US" sz="1200" dirty="0"/>
          </a:p>
        </p:txBody>
      </p:sp>
      <p:sp>
        <p:nvSpPr>
          <p:cNvPr id="7" name="Shape 5"/>
          <p:cNvSpPr/>
          <p:nvPr/>
        </p:nvSpPr>
        <p:spPr>
          <a:xfrm>
            <a:off x="813816" y="3986784"/>
            <a:ext cx="5202936" cy="1133856"/>
          </a:xfrm>
          <a:prstGeom prst="roundRect">
            <a:avLst>
              <a:gd name="adj" fmla="val 9677"/>
            </a:avLst>
          </a:prstGeom>
          <a:solidFill>
            <a:srgbClr val="12304D"/>
          </a:solidFill>
          <a:ln/>
        </p:spPr>
      </p:sp>
      <p:sp>
        <p:nvSpPr>
          <p:cNvPr id="8" name="Text 6"/>
          <p:cNvSpPr txBox="1"/>
          <p:nvPr/>
        </p:nvSpPr>
        <p:spPr>
          <a:xfrm>
            <a:off x="1042416" y="4160520"/>
            <a:ext cx="4846320" cy="256032"/>
          </a:xfrm>
          <a:prstGeom prst="rect">
            <a:avLst/>
          </a:prstGeom>
          <a:noFill/>
          <a:ln/>
        </p:spPr>
        <p:txBody>
          <a:bodyPr wrap="square" lIns="0" tIns="0" rIns="0" bIns="0" rtlCol="0" anchor="t"/>
          <a:lstStyle/>
          <a:p>
            <a:pPr indent="0" marL="0">
              <a:lnSpc>
                <a:spcPts val="1820"/>
              </a:lnSpc>
              <a:buNone/>
            </a:pPr>
            <a:r>
              <a:rPr lang="en-US" sz="1300" b="1" dirty="0">
                <a:solidFill>
                  <a:srgbClr val="F2A65A"/>
                </a:solidFill>
                <a:latin typeface="Arial" pitchFamily="34" charset="0"/>
                <a:ea typeface="맑은 고딕" pitchFamily="34" charset="-122"/>
                <a:cs typeface="Arial" pitchFamily="34" charset="-120"/>
              </a:rPr>
              <a:t>요청 2 · 근거 표시</a:t>
            </a:r>
            <a:endParaRPr lang="en-US" sz="1300" dirty="0"/>
          </a:p>
        </p:txBody>
      </p:sp>
      <p:sp>
        <p:nvSpPr>
          <p:cNvPr id="9" name="Text 7"/>
          <p:cNvSpPr txBox="1"/>
          <p:nvPr/>
        </p:nvSpPr>
        <p:spPr>
          <a:xfrm>
            <a:off x="1042416" y="4462272"/>
            <a:ext cx="4846320" cy="548640"/>
          </a:xfrm>
          <a:prstGeom prst="rect">
            <a:avLst/>
          </a:prstGeom>
          <a:noFill/>
          <a:ln/>
        </p:spPr>
        <p:txBody>
          <a:bodyPr wrap="square" lIns="0" tIns="0" rIns="0" bIns="0" rtlCol="0" anchor="t"/>
          <a:lstStyle/>
          <a:p>
            <a:pPr indent="0" marL="0">
              <a:lnSpc>
                <a:spcPts val="1680"/>
              </a:lnSpc>
              <a:buNone/>
            </a:pPr>
            <a:r>
              <a:rPr lang="en-US" sz="1200" dirty="0">
                <a:solidFill>
                  <a:srgbClr val="F5F4EF"/>
                </a:solidFill>
                <a:latin typeface="Arial" pitchFamily="34" charset="0"/>
                <a:ea typeface="맑은 고딕" pitchFamily="34" charset="-122"/>
                <a:cs typeface="Arial" pitchFamily="34" charset="-120"/>
              </a:rPr>
              <a:t>각 문장 끝에 근거가 된 수치를 괄호로 표시해 줘. 확실하지 않은 문장은 [확인 필요]라고 붙여 줘.</a:t>
            </a:r>
            <a:endParaRPr lang="en-US" sz="1200" dirty="0"/>
          </a:p>
        </p:txBody>
      </p:sp>
      <p:sp>
        <p:nvSpPr>
          <p:cNvPr id="10" name="Shape 8"/>
          <p:cNvSpPr/>
          <p:nvPr/>
        </p:nvSpPr>
        <p:spPr>
          <a:xfrm>
            <a:off x="6172200" y="3986784"/>
            <a:ext cx="5202936" cy="1133856"/>
          </a:xfrm>
          <a:prstGeom prst="roundRect">
            <a:avLst>
              <a:gd name="adj" fmla="val 9677"/>
            </a:avLst>
          </a:prstGeom>
          <a:solidFill>
            <a:srgbClr val="12304D"/>
          </a:solidFill>
          <a:ln/>
        </p:spPr>
      </p:sp>
      <p:sp>
        <p:nvSpPr>
          <p:cNvPr id="11" name="Text 9"/>
          <p:cNvSpPr txBox="1"/>
          <p:nvPr/>
        </p:nvSpPr>
        <p:spPr>
          <a:xfrm>
            <a:off x="6400800" y="4160520"/>
            <a:ext cx="4846320" cy="256032"/>
          </a:xfrm>
          <a:prstGeom prst="rect">
            <a:avLst/>
          </a:prstGeom>
          <a:noFill/>
          <a:ln/>
        </p:spPr>
        <p:txBody>
          <a:bodyPr wrap="square" lIns="0" tIns="0" rIns="0" bIns="0" rtlCol="0" anchor="t"/>
          <a:lstStyle/>
          <a:p>
            <a:pPr indent="0" marL="0">
              <a:lnSpc>
                <a:spcPts val="1820"/>
              </a:lnSpc>
              <a:buNone/>
            </a:pPr>
            <a:r>
              <a:rPr lang="en-US" sz="1300" b="1" dirty="0">
                <a:solidFill>
                  <a:srgbClr val="F2A65A"/>
                </a:solidFill>
                <a:latin typeface="Arial" pitchFamily="34" charset="0"/>
                <a:ea typeface="맑은 고딕" pitchFamily="34" charset="-122"/>
                <a:cs typeface="Arial" pitchFamily="34" charset="-120"/>
              </a:rPr>
              <a:t>요청 3 · 실행 제안</a:t>
            </a:r>
            <a:endParaRPr lang="en-US" sz="1300" dirty="0"/>
          </a:p>
        </p:txBody>
      </p:sp>
      <p:sp>
        <p:nvSpPr>
          <p:cNvPr id="12" name="Text 10"/>
          <p:cNvSpPr txBox="1"/>
          <p:nvPr/>
        </p:nvSpPr>
        <p:spPr>
          <a:xfrm>
            <a:off x="6400800" y="4462272"/>
            <a:ext cx="4846320" cy="548640"/>
          </a:xfrm>
          <a:prstGeom prst="rect">
            <a:avLst/>
          </a:prstGeom>
          <a:noFill/>
          <a:ln/>
        </p:spPr>
        <p:txBody>
          <a:bodyPr wrap="square" lIns="0" tIns="0" rIns="0" bIns="0" rtlCol="0" anchor="t"/>
          <a:lstStyle/>
          <a:p>
            <a:pPr indent="0" marL="0">
              <a:lnSpc>
                <a:spcPts val="1680"/>
              </a:lnSpc>
              <a:buNone/>
            </a:pPr>
            <a:r>
              <a:rPr lang="en-US" sz="1200" dirty="0">
                <a:solidFill>
                  <a:srgbClr val="F5F4EF"/>
                </a:solidFill>
                <a:latin typeface="Arial" pitchFamily="34" charset="0"/>
                <a:ea typeface="맑은 고딕" pitchFamily="34" charset="-122"/>
                <a:cs typeface="Arial" pitchFamily="34" charset="-120"/>
              </a:rPr>
              <a:t>시사점을 매장 운영(재료 준비, 직원 배치, 프로모션)에 바로 쓸 수 있는 행동 3가지로 바꿔 줘.</a:t>
            </a:r>
            <a:endParaRPr lang="en-US" sz="1200" dirty="0"/>
          </a:p>
        </p:txBody>
      </p:sp>
      <p:sp>
        <p:nvSpPr>
          <p:cNvPr id="13" name="Text 11"/>
          <p:cNvSpPr txBox="1"/>
          <p:nvPr/>
        </p:nvSpPr>
        <p:spPr>
          <a:xfrm>
            <a:off x="813816" y="5358384"/>
            <a:ext cx="10881360" cy="256032"/>
          </a:xfrm>
          <a:prstGeom prst="rect">
            <a:avLst/>
          </a:prstGeom>
          <a:noFill/>
          <a:ln/>
        </p:spPr>
        <p:txBody>
          <a:bodyPr wrap="square" lIns="0" tIns="0" rIns="0" bIns="0" rtlCol="0" anchor="t"/>
          <a:lstStyle/>
          <a:p>
            <a:pPr indent="0" marL="0">
              <a:lnSpc>
                <a:spcPts val="1820"/>
              </a:lnSpc>
              <a:buNone/>
            </a:pPr>
            <a:r>
              <a:rPr lang="en-US" sz="1300" b="1" dirty="0">
                <a:solidFill>
                  <a:srgbClr val="12304D"/>
                </a:solidFill>
                <a:latin typeface="Arial" pitchFamily="34" charset="0"/>
                <a:ea typeface="맑은 고딕" pitchFamily="34" charset="-122"/>
                <a:cs typeface="Arial" pitchFamily="34" charset="-120"/>
              </a:rPr>
              <a:t>포인트 · 계산은 엑셀이, 문장은 AI가. 원본 30행 대신 분석 결과 숫자만 넣습니다 (7교시 보안).</a:t>
            </a:r>
            <a:endParaRPr lang="en-US" sz="1300" dirty="0"/>
          </a:p>
        </p:txBody>
      </p:sp>
      <p:sp>
        <p:nvSpPr>
          <p:cNvPr id="14" name="Text 12"/>
          <p:cNvSpPr txBox="1"/>
          <p:nvPr/>
        </p:nvSpPr>
        <p:spPr>
          <a:xfrm>
            <a:off x="813816" y="6236208"/>
            <a:ext cx="10881360" cy="237744"/>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생성형 AI 실무 활용 · 1일차</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4E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종합 예제 · 보고서 ② 검증</a:t>
            </a:r>
            <a:endParaRPr lang="en-US" sz="1400" dirty="0"/>
          </a:p>
        </p:txBody>
      </p:sp>
      <p:sp>
        <p:nvSpPr>
          <p:cNvPr id="3" name="Title"/>
          <p:cNvSpPr/>
          <p:nvPr>
            <p:ph type="title"/>
          </p:nvPr>
        </p:nvSpPr>
        <p:spPr>
          <a:xfrm>
            <a:off x="813816" y="1133856"/>
            <a:ext cx="10881360" cy="493776"/>
          </a:xfrm>
          <a:prstGeom prst="rect">
            <a:avLst/>
          </a:prstGeom>
          <a:noFill/>
          <a:ln/>
        </p:spPr>
        <p:txBody>
          <a:bodyPr wrap="square" lIns="0" tIns="0" rIns="0" bIns="0" rtlCol="0" anchor="t"/>
          <a:lstStyle/>
          <a:p>
            <a:pPr indent="0" marL="0">
              <a:lnSpc>
                <a:spcPts val="4480"/>
              </a:lnSpc>
              <a:buNone/>
            </a:pPr>
            <a:r>
              <a:rPr lang="en-US" sz="3200" b="1" dirty="0">
                <a:solidFill>
                  <a:srgbClr val="12304D"/>
                </a:solidFill>
                <a:latin typeface="Arial" pitchFamily="34" charset="0"/>
                <a:ea typeface="맑은 고딕" pitchFamily="34" charset="-122"/>
                <a:cs typeface="Arial" pitchFamily="34" charset="-120"/>
              </a:rPr>
              <a:t>AI가 쓴 해석, 이렇게 고쳤습니다</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13816" y="1883664"/>
          <a:ext cx="10570464" cy="914400"/>
        </p:xfrm>
        <a:graphic>
          <a:graphicData uri="http://schemas.openxmlformats.org/drawingml/2006/table">
            <a:tbl>
              <a:tblPr/>
              <a:tblGrid>
                <a:gridCol w="4572000"/>
                <a:gridCol w="1051560"/>
                <a:gridCol w="4946904"/>
              </a:tblGrid>
              <a:tr h="384048">
                <a:tc>
                  <a:txBody>
                    <a:bodyPr/>
                    <a:lstStyle/>
                    <a:p>
                      <a:pPr algn="l" indent="0" marL="0">
                        <a:buNone/>
                      </a:pPr>
                      <a:r>
                        <a:rPr lang="en-US" sz="1300" b="1" dirty="0">
                          <a:solidFill>
                            <a:srgbClr val="F5F4EF"/>
                          </a:solidFill>
                          <a:latin typeface="Arial" pitchFamily="34" charset="0"/>
                          <a:ea typeface="맑은 고딕" pitchFamily="34" charset="-122"/>
                          <a:cs typeface="Arial" pitchFamily="34" charset="-120"/>
                        </a:rPr>
                        <a:t>AI가 쓴 문장</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l" indent="0" marL="0">
                        <a:buNone/>
                      </a:pPr>
                      <a:r>
                        <a:rPr lang="en-US" sz="1300" b="1" dirty="0">
                          <a:solidFill>
                            <a:srgbClr val="F5F4EF"/>
                          </a:solidFill>
                          <a:latin typeface="Arial" pitchFamily="34" charset="0"/>
                          <a:ea typeface="맑은 고딕" pitchFamily="34" charset="-122"/>
                          <a:cs typeface="Arial" pitchFamily="34" charset="-120"/>
                        </a:rPr>
                        <a:t>판정</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l" indent="0" marL="0">
                        <a:buNone/>
                      </a:pPr>
                      <a:r>
                        <a:rPr lang="en-US" sz="1300" b="1" dirty="0">
                          <a:solidFill>
                            <a:srgbClr val="F5F4EF"/>
                          </a:solidFill>
                          <a:latin typeface="Arial" pitchFamily="34" charset="0"/>
                          <a:ea typeface="맑은 고딕" pitchFamily="34" charset="-122"/>
                          <a:cs typeface="Arial" pitchFamily="34" charset="-120"/>
                        </a:rPr>
                        <a:t>이유 → 고친 문장</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r>
              <a:tr h="457200">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기온과 아이스음료 판매는 강한 양의 상관관계(r=0.88)를 보인다.</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ctr" indent="0" marL="0">
                        <a:buNone/>
                      </a:pPr>
                      <a:r>
                        <a:rPr lang="en-US" sz="1300" b="1" dirty="0">
                          <a:solidFill>
                            <a:srgbClr val="1F6F78"/>
                          </a:solidFill>
                          <a:latin typeface="Arial" pitchFamily="34" charset="0"/>
                          <a:ea typeface="맑은 고딕" pitchFamily="34" charset="-122"/>
                          <a:cs typeface="Arial" pitchFamily="34" charset="-120"/>
                        </a:rPr>
                        <a:t>✓ 유지</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엑셀 CORREL 결과와 일치</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457200">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기온 상승이 아이스음료 판매 증가의 원인임이 확인되었다.</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ctr" indent="0" marL="0">
                        <a:buNone/>
                      </a:pPr>
                      <a:r>
                        <a:rPr lang="en-US" sz="1300" b="1" dirty="0">
                          <a:solidFill>
                            <a:srgbClr val="A64F16"/>
                          </a:solidFill>
                          <a:latin typeface="Arial" pitchFamily="34" charset="0"/>
                          <a:ea typeface="맑은 고딕" pitchFamily="34" charset="-122"/>
                          <a:cs typeface="Arial" pitchFamily="34" charset="-120"/>
                        </a:rPr>
                        <a:t>✗ 수정</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상관 ≠ 인과 → “기온이 높은 날 판매가 많은 경향이 있다”</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r>
              <a:tr h="457200">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R² 0.78이므로 예측 정확도는 78%이다.</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ctr" indent="0" marL="0">
                        <a:buNone/>
                      </a:pPr>
                      <a:r>
                        <a:rPr lang="en-US" sz="1300" b="1" dirty="0">
                          <a:solidFill>
                            <a:srgbClr val="A64F16"/>
                          </a:solidFill>
                          <a:latin typeface="Arial" pitchFamily="34" charset="0"/>
                          <a:ea typeface="맑은 고딕" pitchFamily="34" charset="-122"/>
                          <a:cs typeface="Arial" pitchFamily="34" charset="-120"/>
                        </a:rPr>
                        <a:t>✗ 수정</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R²는 정확도가 아님 → “판매량 변동의 78%를 기온으로 설명”</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457200">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폭염(40℃)에는 약 392잔이 팔릴 것으로 예상된다.</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ctr" indent="0" marL="0">
                        <a:buNone/>
                      </a:pPr>
                      <a:r>
                        <a:rPr lang="en-US" sz="1300" b="1" dirty="0">
                          <a:solidFill>
                            <a:srgbClr val="A64F16"/>
                          </a:solidFill>
                          <a:latin typeface="Arial" pitchFamily="34" charset="0"/>
                          <a:ea typeface="맑은 고딕" pitchFamily="34" charset="-122"/>
                          <a:cs typeface="Arial" pitchFamily="34" charset="-120"/>
                        </a:rPr>
                        <a:t>✗ 삭제</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관측 범위(23.5~31.5℃) 밖의 예측</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r>
              <a:tr h="457200">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10월에는 매출이 10% 증가할 전망이다.</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ctr" indent="0" marL="0">
                        <a:buNone/>
                      </a:pPr>
                      <a:r>
                        <a:rPr lang="en-US" sz="1300" b="1" dirty="0">
                          <a:solidFill>
                            <a:srgbClr val="A64F16"/>
                          </a:solidFill>
                          <a:latin typeface="Arial" pitchFamily="34" charset="0"/>
                          <a:ea typeface="맑은 고딕" pitchFamily="34" charset="-122"/>
                          <a:cs typeface="Arial" pitchFamily="34" charset="-120"/>
                        </a:rPr>
                        <a:t>✗ 삭제</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300" dirty="0">
                          <a:solidFill>
                            <a:srgbClr val="12304D"/>
                          </a:solidFill>
                          <a:latin typeface="Arial" pitchFamily="34" charset="0"/>
                          <a:ea typeface="맑은 고딕" pitchFamily="34" charset="-122"/>
                          <a:cs typeface="Arial" pitchFamily="34" charset="-120"/>
                        </a:rPr>
                        <a:t>데이터에 없는 수치 (환각)</a:t>
                      </a:r>
                      <a:endParaRPr lang="en-US" sz="13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bl>
          </a:graphicData>
        </a:graphic>
      </p:graphicFrame>
      <p:sp>
        <p:nvSpPr>
          <p:cNvPr id="5" name="Shape 2"/>
          <p:cNvSpPr/>
          <p:nvPr/>
        </p:nvSpPr>
        <p:spPr>
          <a:xfrm>
            <a:off x="813816" y="4892040"/>
            <a:ext cx="10570464" cy="621792"/>
          </a:xfrm>
          <a:prstGeom prst="roundRect">
            <a:avLst>
              <a:gd name="adj" fmla="val 14706"/>
            </a:avLst>
          </a:prstGeom>
          <a:solidFill>
            <a:srgbClr val="12304D"/>
          </a:solidFill>
          <a:ln/>
        </p:spPr>
      </p:sp>
      <p:sp>
        <p:nvSpPr>
          <p:cNvPr id="6" name="Text 3"/>
          <p:cNvSpPr txBox="1"/>
          <p:nvPr/>
        </p:nvSpPr>
        <p:spPr>
          <a:xfrm>
            <a:off x="1024128" y="5056632"/>
            <a:ext cx="10149840" cy="292608"/>
          </a:xfrm>
          <a:prstGeom prst="rect">
            <a:avLst/>
          </a:prstGeom>
          <a:noFill/>
          <a:ln/>
        </p:spPr>
        <p:txBody>
          <a:bodyPr wrap="square" lIns="0" tIns="0" rIns="0" bIns="0" rtlCol="0" anchor="t"/>
          <a:lstStyle/>
          <a:p>
            <a:pPr indent="0" marL="0">
              <a:lnSpc>
                <a:spcPts val="2100"/>
              </a:lnSpc>
              <a:buNone/>
            </a:pPr>
            <a:r>
              <a:rPr lang="en-US" sz="1500" dirty="0">
                <a:solidFill>
                  <a:srgbClr val="F5F4EF"/>
                </a:solidFill>
                <a:latin typeface="Arial" pitchFamily="34" charset="0"/>
                <a:ea typeface="맑은 고딕" pitchFamily="34" charset="-122"/>
                <a:cs typeface="Arial" pitchFamily="34" charset="-120"/>
              </a:rPr>
              <a:t>검증 세 가지 · </a:t>
            </a:r>
            <a:pPr indent="0" marL="0">
              <a:lnSpc>
                <a:spcPts val="2100"/>
              </a:lnSpc>
              <a:buNone/>
            </a:pPr>
            <a:r>
              <a:rPr lang="en-US" sz="1500" b="1" dirty="0">
                <a:solidFill>
                  <a:srgbClr val="F2A65A"/>
                </a:solidFill>
                <a:latin typeface="Arial" pitchFamily="34" charset="0"/>
                <a:ea typeface="맑은 고딕" pitchFamily="34" charset="-122"/>
                <a:cs typeface="Arial" pitchFamily="34" charset="-120"/>
              </a:rPr>
              <a:t>숫자는 엑셀과 대조 · 범위 밖 예측 금지 · ‘원인’ 대신 ‘경향·관계’</a:t>
            </a:r>
            <a:endParaRPr lang="en-US" sz="1500" dirty="0"/>
          </a:p>
        </p:txBody>
      </p:sp>
      <p:sp>
        <p:nvSpPr>
          <p:cNvPr id="7" name="Text 4"/>
          <p:cNvSpPr txBox="1"/>
          <p:nvPr/>
        </p:nvSpPr>
        <p:spPr>
          <a:xfrm>
            <a:off x="813816" y="6236208"/>
            <a:ext cx="10881360" cy="237744"/>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생성형 AI 실무 활용 · 1일차</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E8EEF2"/>
        </a:solidFill>
      </p:bgPr>
    </p:bg>
    <p:spTree>
      <p:nvGrpSpPr>
        <p:cNvPr id="1" name=""/>
        <p:cNvGrpSpPr/>
        <p:nvPr/>
      </p:nvGrpSpPr>
      <p:grpSpPr>
        <a:xfrm>
          <a:off x="0" y="0"/>
          <a:ext cx="0" cy="0"/>
          <a:chOff x="0" y="0"/>
          <a:chExt cx="0" cy="0"/>
        </a:xfrm>
      </p:grpSpPr>
      <p:sp>
        <p:nvSpPr>
          <p:cNvPr id="2" name="Text 0"/>
          <p:cNvSpPr txBox="1"/>
          <p:nvPr/>
        </p:nvSpPr>
        <p:spPr>
          <a:xfrm>
            <a:off x="813816" y="713232"/>
            <a:ext cx="10881360" cy="274320"/>
          </a:xfrm>
          <a:prstGeom prst="rect">
            <a:avLst/>
          </a:prstGeom>
          <a:noFill/>
          <a:ln/>
        </p:spPr>
        <p:txBody>
          <a:bodyPr wrap="square" lIns="0" tIns="0" rIns="0" bIns="0" rtlCol="0" anchor="t"/>
          <a:lstStyle/>
          <a:p>
            <a:pPr indent="0" marL="0">
              <a:lnSpc>
                <a:spcPts val="1960"/>
              </a:lnSpc>
              <a:buNone/>
            </a:pPr>
            <a:r>
              <a:rPr lang="en-US" sz="1400" b="1" dirty="0">
                <a:solidFill>
                  <a:srgbClr val="A64F16"/>
                </a:solidFill>
                <a:latin typeface="Arial" pitchFamily="34" charset="0"/>
                <a:ea typeface="맑은 고딕" pitchFamily="34" charset="-122"/>
                <a:cs typeface="Arial" pitchFamily="34" charset="-120"/>
              </a:rPr>
              <a:t>종합 예제 · 보고서 ③ 완성본</a:t>
            </a:r>
            <a:endParaRPr lang="en-US" sz="1400" dirty="0"/>
          </a:p>
        </p:txBody>
      </p:sp>
      <p:sp>
        <p:nvSpPr>
          <p:cNvPr id="3" name="Shape 1"/>
          <p:cNvSpPr/>
          <p:nvPr/>
        </p:nvSpPr>
        <p:spPr>
          <a:xfrm>
            <a:off x="813816" y="1143000"/>
            <a:ext cx="10561320" cy="4937760"/>
          </a:xfrm>
          <a:prstGeom prst="roundRect">
            <a:avLst>
              <a:gd name="adj" fmla="val 1852"/>
            </a:avLst>
          </a:prstGeom>
          <a:solidFill>
            <a:srgbClr val="FCFCFA"/>
          </a:solidFill>
          <a:ln w="9525">
            <a:solidFill>
              <a:srgbClr val="BFD0DE"/>
            </a:solidFill>
            <a:prstDash val="solid"/>
          </a:ln>
        </p:spPr>
      </p:sp>
      <p:sp>
        <p:nvSpPr>
          <p:cNvPr id="4" name="Title"/>
          <p:cNvSpPr/>
          <p:nvPr>
            <p:ph type="title"/>
          </p:nvPr>
        </p:nvSpPr>
        <p:spPr>
          <a:xfrm>
            <a:off x="1069848" y="1325880"/>
            <a:ext cx="6400800" cy="301752"/>
          </a:xfrm>
          <a:prstGeom prst="rect">
            <a:avLst/>
          </a:prstGeom>
          <a:noFill/>
          <a:ln/>
        </p:spPr>
        <p:txBody>
          <a:bodyPr wrap="square" lIns="0" tIns="0" rIns="0" bIns="0" rtlCol="0" anchor="t"/>
          <a:lstStyle/>
          <a:p>
            <a:pPr indent="0" marL="0">
              <a:lnSpc>
                <a:spcPts val="2520"/>
              </a:lnSpc>
              <a:buNone/>
            </a:pPr>
            <a:r>
              <a:rPr lang="en-US" sz="1800" b="1" dirty="0">
                <a:solidFill>
                  <a:srgbClr val="12304D"/>
                </a:solidFill>
                <a:latin typeface="Arial" pitchFamily="34" charset="0"/>
                <a:ea typeface="맑은 고딕" pitchFamily="34" charset="-122"/>
                <a:cs typeface="Arial" pitchFamily="34" charset="-120"/>
              </a:rPr>
              <a:t>해운대점 9월 판매 데이터 분석 보고</a:t>
            </a:r>
            <a:endParaRPr lang="en-US" sz="1800" dirty="0"/>
          </a:p>
        </p:txBody>
      </p:sp>
      <p:sp>
        <p:nvSpPr>
          <p:cNvPr id="5" name="Text 3"/>
          <p:cNvSpPr txBox="1"/>
          <p:nvPr/>
        </p:nvSpPr>
        <p:spPr>
          <a:xfrm>
            <a:off x="9079992" y="1389888"/>
            <a:ext cx="2039112" cy="237744"/>
          </a:xfrm>
          <a:prstGeom prst="rect">
            <a:avLst/>
          </a:prstGeom>
          <a:noFill/>
          <a:ln/>
        </p:spPr>
        <p:txBody>
          <a:bodyPr wrap="square" lIns="0" tIns="0" rIns="0" bIns="0" rtlCol="0" anchor="t"/>
          <a:lstStyle/>
          <a:p>
            <a:pPr algn="r" indent="0" marL="0">
              <a:lnSpc>
                <a:spcPts val="1680"/>
              </a:lnSpc>
              <a:buNone/>
            </a:pPr>
            <a:r>
              <a:rPr lang="en-US" sz="1200" dirty="0">
                <a:solidFill>
                  <a:srgbClr val="5E6977"/>
                </a:solidFill>
                <a:latin typeface="Arial" pitchFamily="34" charset="0"/>
                <a:ea typeface="맑은 고딕" pitchFamily="34" charset="-122"/>
                <a:cs typeface="Arial" pitchFamily="34" charset="-120"/>
              </a:rPr>
              <a:t>운영지원팀 · 2026.10.19.</a:t>
            </a:r>
            <a:endParaRPr lang="en-US" sz="1200" dirty="0"/>
          </a:p>
        </p:txBody>
      </p:sp>
      <p:sp>
        <p:nvSpPr>
          <p:cNvPr id="6" name="Text 4"/>
          <p:cNvSpPr txBox="1"/>
          <p:nvPr/>
        </p:nvSpPr>
        <p:spPr>
          <a:xfrm>
            <a:off x="1069848" y="1719072"/>
            <a:ext cx="10058400" cy="548640"/>
          </a:xfrm>
          <a:prstGeom prst="rect">
            <a:avLst/>
          </a:prstGeom>
          <a:noFill/>
          <a:ln/>
        </p:spPr>
        <p:txBody>
          <a:bodyPr wrap="square" lIns="0" tIns="0" rIns="0" bIns="0" rtlCol="0" anchor="t"/>
          <a:lstStyle/>
          <a:p>
            <a:pPr indent="0" marL="0">
              <a:lnSpc>
                <a:spcPts val="1680"/>
              </a:lnSpc>
              <a:buNone/>
            </a:pPr>
            <a:r>
              <a:rPr lang="en-US" sz="1200" b="1" dirty="0">
                <a:solidFill>
                  <a:srgbClr val="12304D"/>
                </a:solidFill>
                <a:latin typeface="Arial" pitchFamily="34" charset="0"/>
                <a:ea typeface="맑은 고딕" pitchFamily="34" charset="-122"/>
                <a:cs typeface="Arial" pitchFamily="34" charset="-120"/>
              </a:rPr>
              <a:t>요약</a:t>
            </a:r>
            <a:pPr indent="0" marL="0">
              <a:lnSpc>
                <a:spcPts val="1680"/>
              </a:lnSpc>
              <a:buNone/>
            </a:pPr>
            <a:r>
              <a:rPr lang="en-US" sz="1200" dirty="0">
                <a:solidFill>
                  <a:srgbClr val="3D4A57"/>
                </a:solidFill>
                <a:latin typeface="Arial" pitchFamily="34" charset="0"/>
                <a:ea typeface="맑은 고딕" pitchFamily="34" charset="-122"/>
                <a:cs typeface="Arial" pitchFamily="34" charset="-120"/>
              </a:rPr>
              <a:t>　① 아이스음료 판매는 최고기온과 강한 양의 상관(r=0.88)이 있고, 1℃ 오를 때 약 15잔 늘어나는 경향　② 방문객 수는 주말(+87명)과 강수량(1mm당 −2.8명)의 영향이 크고 기온 영향은 작음　③ 방문객 수와 매출은 거의 같이 움직임(r=0.98)</a:t>
            </a:r>
            <a:endParaRPr lang="en-US" sz="1200" dirty="0"/>
          </a:p>
        </p:txBody>
      </p:sp>
      <p:graphicFrame>
        <p:nvGraphicFramePr>
          <p:cNvPr id="7" name="IceScatter" descr=""/>
          <p:cNvGraphicFramePr/>
          <p:nvPr/>
        </p:nvGraphicFramePr>
        <p:xfrm>
          <a:off x="1024128" y="2359152"/>
          <a:ext cx="4892040" cy="2240280"/>
        </p:xfrm>
        <a:graphic xmlns:a="http://schemas.openxmlformats.org/drawingml/2006/main">
          <a:graphicData uri="http://schemas.openxmlformats.org/drawingml/2006/chart">
            <c:chart xmlns:c="http://schemas.openxmlformats.org/drawingml/2006/chart" r:id="rId1"/>
          </a:graphicData>
        </a:graphic>
      </p:graphicFrame>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144768" y="2377440"/>
          <a:ext cx="4983480" cy="914400"/>
        </p:xfrm>
        <a:graphic>
          <a:graphicData uri="http://schemas.openxmlformats.org/drawingml/2006/table">
            <a:tbl>
              <a:tblPr/>
              <a:tblGrid>
                <a:gridCol w="2148840"/>
                <a:gridCol w="1325880"/>
                <a:gridCol w="1508760"/>
              </a:tblGrid>
              <a:tr h="347472">
                <a:tc>
                  <a:txBody>
                    <a:bodyPr/>
                    <a:lstStyle/>
                    <a:p>
                      <a:pPr algn="l" indent="0" marL="0">
                        <a:buNone/>
                      </a:pPr>
                      <a:r>
                        <a:rPr lang="en-US" sz="1100" b="1" dirty="0">
                          <a:solidFill>
                            <a:srgbClr val="F5F4EF"/>
                          </a:solidFill>
                          <a:latin typeface="Arial" pitchFamily="34" charset="0"/>
                          <a:ea typeface="맑은 고딕" pitchFamily="34" charset="-122"/>
                          <a:cs typeface="Arial" pitchFamily="34" charset="-120"/>
                        </a:rPr>
                        <a:t>핵심 지표</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l" indent="0" marL="0">
                        <a:buNone/>
                      </a:pPr>
                      <a:r>
                        <a:rPr lang="en-US" sz="1100" b="1" dirty="0">
                          <a:solidFill>
                            <a:srgbClr val="F5F4EF"/>
                          </a:solidFill>
                          <a:latin typeface="Arial" pitchFamily="34" charset="0"/>
                          <a:ea typeface="맑은 고딕" pitchFamily="34" charset="-122"/>
                          <a:cs typeface="Arial" pitchFamily="34" charset="-120"/>
                        </a:rPr>
                        <a:t>값</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c>
                  <a:txBody>
                    <a:bodyPr/>
                    <a:lstStyle/>
                    <a:p>
                      <a:pPr algn="l" indent="0" marL="0">
                        <a:buNone/>
                      </a:pPr>
                      <a:r>
                        <a:rPr lang="en-US" sz="1100" b="1" dirty="0">
                          <a:solidFill>
                            <a:srgbClr val="F5F4EF"/>
                          </a:solidFill>
                          <a:latin typeface="Arial" pitchFamily="34" charset="0"/>
                          <a:ea typeface="맑은 고딕" pitchFamily="34" charset="-122"/>
                          <a:cs typeface="Arial" pitchFamily="34" charset="-120"/>
                        </a:rPr>
                        <a:t>엑셀 근거</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12304D"/>
                    </a:solidFill>
                  </a:tcPr>
                </a:tc>
              </a:tr>
              <a:tr h="347472">
                <a:tc>
                  <a:txBody>
                    <a:bodyPr/>
                    <a:lstStyle/>
                    <a:p>
                      <a:pPr algn="l" indent="0" marL="0">
                        <a:buNone/>
                      </a:pPr>
                      <a:r>
                        <a:rPr lang="en-US" sz="1100" dirty="0">
                          <a:solidFill>
                            <a:srgbClr val="12304D"/>
                          </a:solidFill>
                          <a:latin typeface="Arial" pitchFamily="34" charset="0"/>
                          <a:ea typeface="맑은 고딕" pitchFamily="34" charset="-122"/>
                          <a:cs typeface="Arial" pitchFamily="34" charset="-120"/>
                        </a:rPr>
                        <a:t>상관계수 r (기온·아이스음료)</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100" dirty="0">
                          <a:solidFill>
                            <a:srgbClr val="12304D"/>
                          </a:solidFill>
                          <a:latin typeface="Arial" pitchFamily="34" charset="0"/>
                          <a:ea typeface="맑은 고딕" pitchFamily="34" charset="-122"/>
                          <a:cs typeface="Arial" pitchFamily="34" charset="-120"/>
                        </a:rPr>
                        <a:t>0.88</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100" dirty="0">
                          <a:solidFill>
                            <a:srgbClr val="12304D"/>
                          </a:solidFill>
                          <a:latin typeface="Arial" pitchFamily="34" charset="0"/>
                          <a:ea typeface="맑은 고딕" pitchFamily="34" charset="-122"/>
                          <a:cs typeface="Arial" pitchFamily="34" charset="-120"/>
                        </a:rPr>
                        <a:t>CORREL</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347472">
                <a:tc>
                  <a:txBody>
                    <a:bodyPr/>
                    <a:lstStyle/>
                    <a:p>
                      <a:pPr algn="l" indent="0" marL="0">
                        <a:buNone/>
                      </a:pPr>
                      <a:r>
                        <a:rPr lang="en-US" sz="1100" dirty="0">
                          <a:solidFill>
                            <a:srgbClr val="12304D"/>
                          </a:solidFill>
                          <a:latin typeface="Arial" pitchFamily="34" charset="0"/>
                          <a:ea typeface="맑은 고딕" pitchFamily="34" charset="-122"/>
                          <a:cs typeface="Arial" pitchFamily="34" charset="-120"/>
                        </a:rPr>
                        <a:t>회귀식</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l" indent="0" marL="0">
                        <a:buNone/>
                      </a:pPr>
                      <a:r>
                        <a:rPr lang="en-US" sz="1100" dirty="0">
                          <a:solidFill>
                            <a:srgbClr val="12304D"/>
                          </a:solidFill>
                          <a:latin typeface="Arial" pitchFamily="34" charset="0"/>
                          <a:ea typeface="맑은 고딕" pitchFamily="34" charset="-122"/>
                          <a:cs typeface="Arial" pitchFamily="34" charset="-120"/>
                        </a:rPr>
                        <a:t>15.04x − 209.6</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l" indent="0" marL="0">
                        <a:buNone/>
                      </a:pPr>
                      <a:r>
                        <a:rPr lang="en-US" sz="1100" dirty="0">
                          <a:solidFill>
                            <a:srgbClr val="12304D"/>
                          </a:solidFill>
                          <a:latin typeface="Arial" pitchFamily="34" charset="0"/>
                          <a:ea typeface="맑은 고딕" pitchFamily="34" charset="-122"/>
                          <a:cs typeface="Arial" pitchFamily="34" charset="-120"/>
                        </a:rPr>
                        <a:t>SLOPE·INTERCEPT</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r>
              <a:tr h="347472">
                <a:tc>
                  <a:txBody>
                    <a:bodyPr/>
                    <a:lstStyle/>
                    <a:p>
                      <a:pPr algn="l" indent="0" marL="0">
                        <a:buNone/>
                      </a:pPr>
                      <a:r>
                        <a:rPr lang="en-US" sz="1100" dirty="0">
                          <a:solidFill>
                            <a:srgbClr val="12304D"/>
                          </a:solidFill>
                          <a:latin typeface="Arial" pitchFamily="34" charset="0"/>
                          <a:ea typeface="맑은 고딕" pitchFamily="34" charset="-122"/>
                          <a:cs typeface="Arial" pitchFamily="34" charset="-120"/>
                        </a:rPr>
                        <a:t>결정계수 R²</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100" dirty="0">
                          <a:solidFill>
                            <a:srgbClr val="12304D"/>
                          </a:solidFill>
                          <a:latin typeface="Arial" pitchFamily="34" charset="0"/>
                          <a:ea typeface="맑은 고딕" pitchFamily="34" charset="-122"/>
                          <a:cs typeface="Arial" pitchFamily="34" charset="-120"/>
                        </a:rPr>
                        <a:t>0.78</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100" dirty="0">
                          <a:solidFill>
                            <a:srgbClr val="12304D"/>
                          </a:solidFill>
                          <a:latin typeface="Arial" pitchFamily="34" charset="0"/>
                          <a:ea typeface="맑은 고딕" pitchFamily="34" charset="-122"/>
                          <a:cs typeface="Arial" pitchFamily="34" charset="-120"/>
                        </a:rPr>
                        <a:t>RSQ</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r h="347472">
                <a:tc>
                  <a:txBody>
                    <a:bodyPr/>
                    <a:lstStyle/>
                    <a:p>
                      <a:pPr algn="l" indent="0" marL="0">
                        <a:buNone/>
                      </a:pPr>
                      <a:r>
                        <a:rPr lang="en-US" sz="1100" dirty="0">
                          <a:solidFill>
                            <a:srgbClr val="12304D"/>
                          </a:solidFill>
                          <a:latin typeface="Arial" pitchFamily="34" charset="0"/>
                          <a:ea typeface="맑은 고딕" pitchFamily="34" charset="-122"/>
                          <a:cs typeface="Arial" pitchFamily="34" charset="-120"/>
                        </a:rPr>
                        <a:t>28℃ 예측</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l" indent="0" marL="0">
                        <a:buNone/>
                      </a:pPr>
                      <a:r>
                        <a:rPr lang="en-US" sz="1100" dirty="0">
                          <a:solidFill>
                            <a:srgbClr val="12304D"/>
                          </a:solidFill>
                          <a:latin typeface="Arial" pitchFamily="34" charset="0"/>
                          <a:ea typeface="맑은 고딕" pitchFamily="34" charset="-122"/>
                          <a:cs typeface="Arial" pitchFamily="34" charset="-120"/>
                        </a:rPr>
                        <a:t>211잔</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c>
                  <a:txBody>
                    <a:bodyPr/>
                    <a:lstStyle/>
                    <a:p>
                      <a:pPr algn="l" indent="0" marL="0">
                        <a:buNone/>
                      </a:pPr>
                      <a:r>
                        <a:rPr lang="en-US" sz="1100" dirty="0">
                          <a:solidFill>
                            <a:srgbClr val="12304D"/>
                          </a:solidFill>
                          <a:latin typeface="Arial" pitchFamily="34" charset="0"/>
                          <a:ea typeface="맑은 고딕" pitchFamily="34" charset="-122"/>
                          <a:cs typeface="Arial" pitchFamily="34" charset="-120"/>
                        </a:rPr>
                        <a:t>FORECAST.LINEAR</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ECEEEA"/>
                    </a:solidFill>
                  </a:tcPr>
                </a:tc>
              </a:tr>
              <a:tr h="347472">
                <a:tc>
                  <a:txBody>
                    <a:bodyPr/>
                    <a:lstStyle/>
                    <a:p>
                      <a:pPr algn="l" indent="0" marL="0">
                        <a:buNone/>
                      </a:pPr>
                      <a:r>
                        <a:rPr lang="en-US" sz="1100" dirty="0">
                          <a:solidFill>
                            <a:srgbClr val="12304D"/>
                          </a:solidFill>
                          <a:latin typeface="Arial" pitchFamily="34" charset="0"/>
                          <a:ea typeface="맑은 고딕" pitchFamily="34" charset="-122"/>
                          <a:cs typeface="Arial" pitchFamily="34" charset="-120"/>
                        </a:rPr>
                        <a:t>방문객 다중회귀 R²</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100" dirty="0">
                          <a:solidFill>
                            <a:srgbClr val="12304D"/>
                          </a:solidFill>
                          <a:latin typeface="Arial" pitchFamily="34" charset="0"/>
                          <a:ea typeface="맑은 고딕" pitchFamily="34" charset="-122"/>
                          <a:cs typeface="Arial" pitchFamily="34" charset="-120"/>
                        </a:rPr>
                        <a:t>0.93</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c>
                  <a:txBody>
                    <a:bodyPr/>
                    <a:lstStyle/>
                    <a:p>
                      <a:pPr algn="l" indent="0" marL="0">
                        <a:buNone/>
                      </a:pPr>
                      <a:r>
                        <a:rPr lang="en-US" sz="1100" dirty="0">
                          <a:solidFill>
                            <a:srgbClr val="12304D"/>
                          </a:solidFill>
                          <a:latin typeface="Arial" pitchFamily="34" charset="0"/>
                          <a:ea typeface="맑은 고딕" pitchFamily="34" charset="-122"/>
                          <a:cs typeface="Arial" pitchFamily="34" charset="-120"/>
                        </a:rPr>
                        <a:t>회귀 분석</a:t>
                      </a:r>
                      <a:endParaRPr lang="en-US" sz="1100" dirty="0">
                        <a:latin typeface="Arial" charset="0"/>
                        <a:ea typeface="맑은 고딕" charset="0"/>
                        <a:cs typeface="Arial" charset="0"/>
                      </a:endParaRPr>
                    </a:p>
                  </a:txBody>
                  <a:tcPr marL="64008" marR="64008" marT="36576" marB="36576" anchor="ctr">
                    <a:lnL w="12700" cap="flat" cmpd="sng" algn="ctr">
                      <a:solidFill>
                        <a:srgbClr val="C9C9C7"/>
                      </a:solidFill>
                      <a:prstDash val="solid"/>
                      <a:round/>
                      <a:headEnd type="none" w="med" len="med"/>
                      <a:tailEnd type="none" w="med" len="med"/>
                    </a:lnL>
                    <a:lnR w="12700" cap="flat" cmpd="sng" algn="ctr">
                      <a:solidFill>
                        <a:srgbClr val="C9C9C7"/>
                      </a:solidFill>
                      <a:prstDash val="solid"/>
                      <a:round/>
                      <a:headEnd type="none" w="med" len="med"/>
                      <a:tailEnd type="none" w="med" len="med"/>
                    </a:lnR>
                    <a:lnT w="12700" cap="flat" cmpd="sng" algn="ctr">
                      <a:solidFill>
                        <a:srgbClr val="C9C9C7"/>
                      </a:solidFill>
                      <a:prstDash val="solid"/>
                      <a:round/>
                      <a:headEnd type="none" w="med" len="med"/>
                      <a:tailEnd type="none" w="med" len="med"/>
                    </a:lnT>
                    <a:lnB w="12700" cap="flat" cmpd="sng" algn="ctr">
                      <a:solidFill>
                        <a:srgbClr val="C9C9C7"/>
                      </a:solidFill>
                      <a:prstDash val="solid"/>
                      <a:round/>
                      <a:headEnd type="none" w="med" len="med"/>
                      <a:tailEnd type="none" w="med" len="med"/>
                    </a:lnB>
                    <a:solidFill>
                      <a:srgbClr val="FCFCFA"/>
                    </a:solidFill>
                  </a:tcPr>
                </a:tc>
              </a:tr>
            </a:tbl>
          </a:graphicData>
        </a:graphic>
      </p:graphicFrame>
      <p:sp>
        <p:nvSpPr>
          <p:cNvPr id="9" name="Text 5"/>
          <p:cNvSpPr txBox="1"/>
          <p:nvPr/>
        </p:nvSpPr>
        <p:spPr>
          <a:xfrm>
            <a:off x="1069848" y="4727448"/>
            <a:ext cx="10058400" cy="548640"/>
          </a:xfrm>
          <a:prstGeom prst="rect">
            <a:avLst/>
          </a:prstGeom>
          <a:noFill/>
          <a:ln/>
        </p:spPr>
        <p:txBody>
          <a:bodyPr wrap="square" lIns="0" tIns="0" rIns="0" bIns="0" rtlCol="0" anchor="t"/>
          <a:lstStyle/>
          <a:p>
            <a:pPr indent="0" marL="0">
              <a:lnSpc>
                <a:spcPts val="1680"/>
              </a:lnSpc>
              <a:buNone/>
            </a:pPr>
            <a:r>
              <a:rPr lang="en-US" sz="1200" b="1" dirty="0">
                <a:solidFill>
                  <a:srgbClr val="12304D"/>
                </a:solidFill>
                <a:latin typeface="Arial" pitchFamily="34" charset="0"/>
                <a:ea typeface="맑은 고딕" pitchFamily="34" charset="-122"/>
                <a:cs typeface="Arial" pitchFamily="34" charset="-120"/>
              </a:rPr>
              <a:t>시사점</a:t>
            </a:r>
            <a:pPr indent="0" marL="0">
              <a:lnSpc>
                <a:spcPts val="1680"/>
              </a:lnSpc>
              <a:buNone/>
            </a:pPr>
            <a:r>
              <a:rPr lang="en-US" sz="1200" dirty="0">
                <a:solidFill>
                  <a:srgbClr val="3D4A57"/>
                </a:solidFill>
                <a:latin typeface="Arial" pitchFamily="34" charset="0"/>
                <a:ea typeface="맑은 고딕" pitchFamily="34" charset="-122"/>
                <a:cs typeface="Arial" pitchFamily="34" charset="-120"/>
              </a:rPr>
              <a:t>　① 다음 날 최고기온 예보로 아이스음료 재료 준비량 조정(28℃ ≈ 211잔)　② 주말은 평일보다 방문객이 평균 62명 많아(239→301명) 인력 보강 검토　③ 비 예보일은 방문객 감소에 대비해 포장·배달 프로모션 검토</a:t>
            </a:r>
            <a:endParaRPr lang="en-US" sz="1200" dirty="0"/>
          </a:p>
        </p:txBody>
      </p:sp>
      <p:sp>
        <p:nvSpPr>
          <p:cNvPr id="10" name="Text 6"/>
          <p:cNvSpPr txBox="1"/>
          <p:nvPr/>
        </p:nvSpPr>
        <p:spPr>
          <a:xfrm>
            <a:off x="1069848" y="5394960"/>
            <a:ext cx="10058400" cy="457200"/>
          </a:xfrm>
          <a:prstGeom prst="rect">
            <a:avLst/>
          </a:prstGeom>
          <a:noFill/>
          <a:ln/>
        </p:spPr>
        <p:txBody>
          <a:bodyPr wrap="square" lIns="0" tIns="0" rIns="0" bIns="0" rtlCol="0" anchor="t"/>
          <a:lstStyle/>
          <a:p>
            <a:pPr indent="0" marL="0">
              <a:lnSpc>
                <a:spcPts val="1680"/>
              </a:lnSpc>
              <a:buNone/>
            </a:pPr>
            <a:r>
              <a:rPr lang="en-US" sz="1200" b="1" dirty="0">
                <a:solidFill>
                  <a:srgbClr val="12304D"/>
                </a:solidFill>
                <a:latin typeface="Arial" pitchFamily="34" charset="0"/>
                <a:ea typeface="맑은 고딕" pitchFamily="34" charset="-122"/>
                <a:cs typeface="Arial" pitchFamily="34" charset="-120"/>
              </a:rPr>
              <a:t>한계</a:t>
            </a:r>
            <a:pPr indent="0" marL="0">
              <a:lnSpc>
                <a:spcPts val="1680"/>
              </a:lnSpc>
              <a:buNone/>
            </a:pPr>
            <a:r>
              <a:rPr lang="en-US" sz="1200" dirty="0">
                <a:solidFill>
                  <a:srgbClr val="3D4A57"/>
                </a:solidFill>
                <a:latin typeface="Arial" pitchFamily="34" charset="0"/>
                <a:ea typeface="맑은 고딕" pitchFamily="34" charset="-122"/>
                <a:cs typeface="Arial" pitchFamily="34" charset="-120"/>
              </a:rPr>
              <a:t>　9월 30일 자료(최고기온 23.5~31.5℃)로 분석해 다른 계절·지점에 그대로 적용할 수 없으며, 상관관계는 원인을 뜻하지 않음</a:t>
            </a:r>
            <a:endParaRPr lang="en-US" sz="1200" dirty="0"/>
          </a:p>
        </p:txBody>
      </p:sp>
      <p:sp>
        <p:nvSpPr>
          <p:cNvPr id="11" name="Text 7"/>
          <p:cNvSpPr txBox="1"/>
          <p:nvPr/>
        </p:nvSpPr>
        <p:spPr>
          <a:xfrm>
            <a:off x="813816" y="6236208"/>
            <a:ext cx="10881360" cy="237744"/>
          </a:xfrm>
          <a:prstGeom prst="rect">
            <a:avLst/>
          </a:prstGeom>
          <a:noFill/>
          <a:ln/>
        </p:spPr>
        <p:txBody>
          <a:bodyPr wrap="square" lIns="0" tIns="0" rIns="0" bIns="0" rtlCol="0" anchor="t"/>
          <a:lstStyle/>
          <a:p>
            <a:pPr indent="0" marL="0">
              <a:lnSpc>
                <a:spcPts val="1680"/>
              </a:lnSpc>
              <a:buNone/>
            </a:pPr>
            <a:r>
              <a:rPr lang="en-US" sz="1200" dirty="0">
                <a:solidFill>
                  <a:srgbClr val="5E6977"/>
                </a:solidFill>
                <a:latin typeface="Arial" pitchFamily="34" charset="0"/>
                <a:ea typeface="맑은 고딕" pitchFamily="34" charset="-122"/>
                <a:cs typeface="Arial" pitchFamily="34" charset="-120"/>
              </a:rPr>
              <a:t>생성형 AI 실무 활용 · 1일차 · 강사 시연용 가상 데이터</a:t>
            </a:r>
            <a:endParaRPr lang="en-US" sz="1200" dirty="0"/>
          </a:p>
        </p:txBody>
      </p:sp>
    </p:spTree>
  </p:cSld>
  <p:clrMapOvr>
    <a:masterClrMapping/>
  </p:clrMapOvr>
</p:sld>
</file>

<file path=ppt/theme/theme1.xml><?xml version="1.0" encoding="utf-8"?>
<a:theme xmlns:a="http://schemas.openxmlformats.org/drawingml/2006/main" name="1일차 생성형 AI 실무 활용">
  <a:themeElements>
    <a:clrScheme name="1일차 생성형 AI 실무 활용">
      <a:dk1>
        <a:srgbClr val="12304D"/>
      </a:dk1>
      <a:lt1>
        <a:srgbClr val="F5F4EF"/>
      </a:lt1>
      <a:dk2>
        <a:srgbClr val="4B6176"/>
      </a:dk2>
      <a:lt2>
        <a:srgbClr val="DEE0DF"/>
      </a:lt2>
      <a:accent1>
        <a:srgbClr val="1F6F78"/>
      </a:accent1>
      <a:accent2>
        <a:srgbClr val="A64F16"/>
      </a:accent2>
      <a:accent3>
        <a:srgbClr val="F2A65A"/>
      </a:accent3>
      <a:accent4>
        <a:srgbClr val="1E4468"/>
      </a:accent4>
      <a:accent5>
        <a:srgbClr val="3A7CA5"/>
      </a:accent5>
      <a:accent6>
        <a:srgbClr val="3D4A57"/>
      </a:accent6>
      <a:hlink>
        <a:srgbClr val="0563C1"/>
      </a:hlink>
      <a:folHlink>
        <a:srgbClr val="954F72"/>
      </a:folHlink>
    </a:clrScheme>
    <a:fontScheme name="1일차 생성형 AI 실무 활용">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1일차 생성형 AI 실무 활용</dc:title>
  <dc:subject/>
  <dc:creator/>
  <cp:lastModifiedBy/>
  <cp:revision>1</cp:revision>
  <dcterms:created xsi:type="dcterms:W3CDTF">2026-10-18T06:28:56Z</dcterms:created>
  <dcterms:modified xsi:type="dcterms:W3CDTF">2026-10-18T06:28:56Z</dcterms:modified>
</cp:coreProperties>
</file>